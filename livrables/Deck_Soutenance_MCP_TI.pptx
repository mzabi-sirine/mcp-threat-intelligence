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0:45</a:t>
            </a:r>
          </a:p>
          <a:p>
            <a:pPr>
              <a:spcBef>
                <a:spcPts val="500"/>
              </a:spcBef>
              <a:spcAft>
                <a:spcPts val="200"/>
              </a:spcAft>
            </a:pPr>
            <a:r>
              <a:rPr sz="1000" b="1">
                <a:solidFill>
                  <a:srgbClr val="0B1F3A"/>
                </a:solidFill>
                <a:latin typeface="Arial"/>
              </a:rPr>
              <a:t>• Bonjour : nous sommes Sirine Mzabi et Khaled Ellif, étudiants en SSIR à TEK-UP.
• Notre projet tient dans une question : comment donner à un agent conversationnel l'accès au renseignement sur les menaces sans lui livrer un secret ?
• Nous présentons la conception — validation 1 — puis la réalisation, le durcissement et les tests — validation 2.
• Le fil rouge est un serveur MCP — se prononce « èm-sé-pé » — local, en lecture seule, qui étiquette chaque réponse et journalise chaque décision.
• Tous les chiffres viennent d'une campagne exécutée le 27 octobre 2026, sur des données synthétiques et dans ce laboratoire.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Le titre annonce le fil rouge et les deux validations.</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P0 — thèse du projet ; méthodologie alignée sur les deux validations.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0–5 s : main ouverte vers le titre, puis silence.</a:t>
            </a:r>
          </a:p>
          <a:p>
            <a:pPr>
              <a:lnSpc>
                <a:spcPct val="100000"/>
              </a:lnSpc>
              <a:spcAft>
                <a:spcPts val="100"/>
              </a:spcAft>
            </a:pPr>
            <a:r>
              <a:rPr sz="950" b="0" i="0">
                <a:solidFill>
                  <a:srgbClr val="1F2A3A"/>
                </a:solidFill>
                <a:latin typeface="Arial"/>
              </a:rPr>
              <a:t>• 5–15 s : désigner les deux noms, sans lire la ligne.</a:t>
            </a:r>
          </a:p>
          <a:p>
            <a:pPr>
              <a:lnSpc>
                <a:spcPct val="100000"/>
              </a:lnSpc>
              <a:spcAft>
                <a:spcPts val="100"/>
              </a:spcAft>
            </a:pPr>
            <a:r>
              <a:rPr sz="950" b="0" i="0">
                <a:solidFill>
                  <a:srgbClr val="1F2A3A"/>
                </a:solidFill>
                <a:latin typeface="Arial"/>
              </a:rPr>
              <a:t>• 15–30 s : pointer « validation 1 » puis « validation 2 » sur la droite.</a:t>
            </a:r>
          </a:p>
          <a:p>
            <a:pPr>
              <a:lnSpc>
                <a:spcPct val="100000"/>
              </a:lnSpc>
              <a:spcAft>
                <a:spcPts val="100"/>
              </a:spcAft>
            </a:pPr>
            <a:r>
              <a:rPr sz="950" b="0" i="0">
                <a:solidFill>
                  <a:srgbClr val="1F2A3A"/>
                </a:solidFill>
                <a:latin typeface="Arial"/>
              </a:rPr>
              <a:t>• 30–45 s : montrer le protocole MCP et le mot « journalise ».</a:t>
            </a:r>
          </a:p>
          <a:p>
            <a:pPr>
              <a:lnSpc>
                <a:spcPct val="100000"/>
              </a:lnSpc>
              <a:spcAft>
                <a:spcPts val="100"/>
              </a:spcAft>
            </a:pPr>
            <a:r>
              <a:rPr sz="950" b="0" i="0">
                <a:solidFill>
                  <a:srgbClr val="1F2A3A"/>
                </a:solidFill>
                <a:latin typeface="Arial"/>
              </a:rPr>
              <a:t>• 45–50 s : cliquer vers la slide 2.</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le protocole MCP ?</a:t>
            </a:r>
          </a:p>
          <a:p>
            <a:pPr>
              <a:lnSpc>
                <a:spcPct val="100000"/>
              </a:lnSpc>
              <a:spcAft>
                <a:spcPts val="100"/>
              </a:spcAft>
            </a:pPr>
            <a:r>
              <a:rPr sz="950" b="0" i="0">
                <a:solidFill>
                  <a:srgbClr val="1F2A3A"/>
                </a:solidFill>
                <a:latin typeface="Arial"/>
              </a:rPr>
              <a:t>Réponse 30 s : Parce qu'il standardise la découverte et l'appel d'outils par un agent, sans imposer un serveur web : nous restons en stdio local, donc nous réduisons la surface réseau. Le prix est un transport limité au poste, que nous assumons et documentons.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Pourquoi deux matières dans un seul projet ?</a:t>
            </a:r>
          </a:p>
          <a:p>
            <a:pPr>
              <a:lnSpc>
                <a:spcPct val="100000"/>
              </a:lnSpc>
              <a:spcAft>
                <a:spcPts val="100"/>
              </a:spcAft>
            </a:pPr>
            <a:r>
              <a:rPr sz="950" b="0" i="0">
                <a:solidFill>
                  <a:srgbClr val="1F2A3A"/>
                </a:solidFill>
                <a:latin typeface="Arial"/>
              </a:rPr>
              <a:t>Réponse 30 s : La première matière fournit la décision — menace, exigences, architecture ; la seconde fournit la preuve — réalisation, durcissement, tests. Le même fil conducteur relie les deux, et chaque test cite une exigence de la partie 1.</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Qu'est-ce qui est réellement produit par l'équipe ?</a:t>
            </a:r>
          </a:p>
          <a:p>
            <a:pPr>
              <a:lnSpc>
                <a:spcPct val="100000"/>
              </a:lnSpc>
              <a:spcAft>
                <a:spcPts val="100"/>
              </a:spcAft>
            </a:pPr>
            <a:r>
              <a:rPr sz="950" b="0" i="0">
                <a:solidFill>
                  <a:srgbClr val="1F2A3A"/>
                </a:solidFill>
                <a:latin typeface="Arial"/>
              </a:rPr>
              <a:t>Réponse 30 s : Le serveur, les schémas, la politique, le journal, les tests et les figures sont produits dans le workspace ; les données sont synthétiques. Les références externes sont citées, et le logo officiel n'a pas été reproduit.</a:t>
            </a:r>
          </a:p>
          <a:p>
            <a:pPr>
              <a:lnSpc>
                <a:spcPct val="100000"/>
              </a:lnSpc>
              <a:spcAft>
                <a:spcPts val="100"/>
              </a:spcAft>
            </a:pPr>
            <a:r>
              <a:rPr sz="950" b="0" i="0">
                <a:solidFill>
                  <a:srgbClr val="1F2A3A"/>
                </a:solidFill>
                <a:latin typeface="Arial"/>
              </a:rPr>
              <a:t>Confiance : moyenne.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Si le temps manque : garder les slides 2, 8, 12, 14, 15 et 16 ; le reste est dans le rapport.</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MCP : « èm-sé-pé » · SSIR : « esse-esse-i-èr » · LLM : « èl-èl-èm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1:00</a:t>
            </a:r>
          </a:p>
          <a:p>
            <a:pPr>
              <a:spcBef>
                <a:spcPts val="500"/>
              </a:spcBef>
              <a:spcAft>
                <a:spcPts val="200"/>
              </a:spcAft>
            </a:pPr>
            <a:r>
              <a:rPr sz="1000" b="1">
                <a:solidFill>
                  <a:srgbClr val="0B1F3A"/>
                </a:solidFill>
                <a:latin typeface="Arial"/>
              </a:rPr>
              <a:t>• Tout part d'une scène très concrète : un analyste demande à un agent de résumer le bulletin ADV-2026-004.
• Ce bulletin est Secret : il contient un canari — une chaîne leurre — et l'identité d'une source partenaire.
• Sans contrôle, l'agent reçoit tout : le canari, la source, et parfois une instruction cachée dans le bulletin.
• En 2025, IBM estime le coût moyen d'une violation de données à 4,44 millions de dollars ; une source perdue, elle, ne se rachète pas.
• Notre problème n'est donc pas de collecter plus de renseignement, mais de n'en livrer que le strict nécessaire, au bon niveau, avec une trace.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La scène relie un cas concret à un coût et à un actif.</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P0 — problème réel et chiffré ; parties prenantes.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lire la citation à voix posée, sans commenter.</a:t>
            </a:r>
          </a:p>
          <a:p>
            <a:pPr>
              <a:lnSpc>
                <a:spcPct val="100000"/>
              </a:lnSpc>
              <a:spcAft>
                <a:spcPts val="100"/>
              </a:spcAft>
            </a:pPr>
            <a:r>
              <a:rPr sz="950" b="0" i="0">
                <a:solidFill>
                  <a:srgbClr val="1F2A3A"/>
                </a:solidFill>
                <a:latin typeface="Arial"/>
              </a:rPr>
              <a:t>• 10–25 s : montrer les trois cartes Agent, Bulletin, Réponse.</a:t>
            </a:r>
          </a:p>
          <a:p>
            <a:pPr>
              <a:lnSpc>
                <a:spcPct val="100000"/>
              </a:lnSpc>
              <a:spcAft>
                <a:spcPts val="100"/>
              </a:spcAft>
            </a:pPr>
            <a:r>
              <a:rPr sz="950" b="0" i="0">
                <a:solidFill>
                  <a:srgbClr val="1F2A3A"/>
                </a:solidFill>
                <a:latin typeface="Arial"/>
              </a:rPr>
              <a:t>• 25–38 s : pointer le chiffre 4,44 M$ et marquer un temps.</a:t>
            </a:r>
          </a:p>
          <a:p>
            <a:pPr>
              <a:lnSpc>
                <a:spcPct val="100000"/>
              </a:lnSpc>
              <a:spcAft>
                <a:spcPts val="100"/>
              </a:spcAft>
            </a:pPr>
            <a:r>
              <a:rPr sz="950" b="0" i="0">
                <a:solidFill>
                  <a:srgbClr val="1F2A3A"/>
                </a:solidFill>
                <a:latin typeface="Arial"/>
              </a:rPr>
              <a:t>• 38–50 s : ouvrir la main vers « strict nécessaire ».</a:t>
            </a:r>
          </a:p>
          <a:p>
            <a:pPr>
              <a:lnSpc>
                <a:spcPct val="100000"/>
              </a:lnSpc>
              <a:spcAft>
                <a:spcPts val="100"/>
              </a:spcAft>
            </a:pPr>
            <a:r>
              <a:rPr sz="950" b="0" i="0">
                <a:solidFill>
                  <a:srgbClr val="1F2A3A"/>
                </a:solidFill>
                <a:latin typeface="Arial"/>
              </a:rPr>
              <a:t>• 50–55 s : transition « pour cela, nous avons borné cinq objectifs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Le chiffre IBM est-il transposable à TEK-UP ?</a:t>
            </a:r>
          </a:p>
          <a:p>
            <a:pPr>
              <a:lnSpc>
                <a:spcPct val="100000"/>
              </a:lnSpc>
              <a:spcAft>
                <a:spcPts val="100"/>
              </a:spcAft>
            </a:pPr>
            <a:r>
              <a:rPr sz="950" b="0" i="0">
                <a:solidFill>
                  <a:srgbClr val="1F2A3A"/>
                </a:solidFill>
                <a:latin typeface="Arial"/>
              </a:rPr>
              <a:t>Réponse 30 s : Non, c'est un ordre de grandeur international, pas une mesure de notre laboratoire. Nous l'utilisons pour cadrer le coût d'une violation ; notre mesure propre est le différentiel 8 vers 0, reproductible localement.</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Q2 — Pourquoi un canari ?</a:t>
            </a:r>
          </a:p>
          <a:p>
            <a:pPr>
              <a:lnSpc>
                <a:spcPct val="100000"/>
              </a:lnSpc>
              <a:spcAft>
                <a:spcPts val="100"/>
              </a:spcAft>
            </a:pPr>
            <a:r>
              <a:rPr sz="950" b="0" i="0">
                <a:solidFill>
                  <a:srgbClr val="1F2A3A"/>
                </a:solidFill>
                <a:latin typeface="Arial"/>
              </a:rPr>
              <a:t>Réponse 30 s : Le canari est une chaîne unique placée dans un document Secret : si elle apparaît dans une réponse non autorisée, elle prouve la fuite sans ambiguïté. Il ne remplace pas le contrôle d'accès, il le rend observable.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ne pas simplement filtrer la réponse ?</a:t>
            </a:r>
          </a:p>
          <a:p>
            <a:pPr>
              <a:lnSpc>
                <a:spcPct val="100000"/>
              </a:lnSpc>
              <a:spcAft>
                <a:spcPts val="100"/>
              </a:spcAft>
            </a:pPr>
            <a:r>
              <a:rPr sz="950" b="0" i="0">
                <a:solidFill>
                  <a:srgbClr val="1F2A3A"/>
                </a:solidFill>
                <a:latin typeface="Arial"/>
              </a:rPr>
              <a:t>Réponse 30 s : Un filtre seul ne décide pas qui a le droit de lire et ne laisse pas de trace exploitable. Nous voulons une décision avant la réponse, une étiquette dans la réponse et une entrée d'audit après.</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Le vrai risque n'est pas le bruit, c'est la fuite silencieuse : une réponse riche qui a l'air utile.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ADV : « a-dé-vé » · IBM : « i-bé-èm » · canari : mot français, pas « canary » à l'oral.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0:55</a:t>
            </a:r>
          </a:p>
          <a:p>
            <a:pPr>
              <a:spcBef>
                <a:spcPts val="500"/>
              </a:spcBef>
              <a:spcAft>
                <a:spcPts val="200"/>
              </a:spcAft>
            </a:pPr>
            <a:r>
              <a:rPr sz="1000" b="1">
                <a:solidFill>
                  <a:srgbClr val="0B1F3A"/>
                </a:solidFill>
                <a:latin typeface="Arial"/>
              </a:rPr>
              <a:t>• Nous avons borné le projet par cinq objectifs mesurables, pas par une liste de fonctionnalités.
• O1 : aucune réponse classifiée sans droits ; O2 : chaque décision traçable ; O3 : toute injection connue neutralisée ; O4 : p95 sous 50 ms ; O5 : révocation immédiate et service non privilégié.
• Le périmètre inclut stdio, six outils, la politique ABAC, l'étiquetage, l'audit et le durcissement local.
• Il exclut HTTP, OAuth 2.1, un EDR réel, un ancrage externe du journal et toute donnée réelle.
• Cette borne est volontaire : elle rend chaque promesse testable et chaque absence explicite.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Cinq cibles et cinq résultats, avec un périmètre inclus et exclu.</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P0 — objectifs, périmètre, contraintes.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0–8 s : balayer les cinq cartes du doigt, de gauche à droite.</a:t>
            </a:r>
          </a:p>
          <a:p>
            <a:pPr>
              <a:lnSpc>
                <a:spcPct val="100000"/>
              </a:lnSpc>
              <a:spcAft>
                <a:spcPts val="100"/>
              </a:spcAft>
            </a:pPr>
            <a:r>
              <a:rPr sz="950" b="0" i="0">
                <a:solidFill>
                  <a:srgbClr val="1F2A3A"/>
                </a:solidFill>
                <a:latin typeface="Arial"/>
              </a:rPr>
              <a:t>• 8–28 s : énoncer O1 à O5 en pointant chaque chiffre.</a:t>
            </a:r>
          </a:p>
          <a:p>
            <a:pPr>
              <a:lnSpc>
                <a:spcPct val="100000"/>
              </a:lnSpc>
              <a:spcAft>
                <a:spcPts val="100"/>
              </a:spcAft>
            </a:pPr>
            <a:r>
              <a:rPr sz="950" b="0" i="0">
                <a:solidFill>
                  <a:srgbClr val="1F2A3A"/>
                </a:solidFill>
                <a:latin typeface="Arial"/>
              </a:rPr>
              <a:t>• 28–40 s : montrer la bande « inclus », puis la bande « exclu ».</a:t>
            </a:r>
          </a:p>
          <a:p>
            <a:pPr>
              <a:lnSpc>
                <a:spcPct val="100000"/>
              </a:lnSpc>
              <a:spcAft>
                <a:spcPts val="100"/>
              </a:spcAft>
            </a:pPr>
            <a:r>
              <a:rPr sz="950" b="0" i="0">
                <a:solidFill>
                  <a:srgbClr val="1F2A3A"/>
                </a:solidFill>
                <a:latin typeface="Arial"/>
              </a:rPr>
              <a:t>• 40–52 s : revenir au chiffre 12,42 ms.</a:t>
            </a:r>
          </a:p>
          <a:p>
            <a:pPr>
              <a:lnSpc>
                <a:spcPct val="100000"/>
              </a:lnSpc>
              <a:spcAft>
                <a:spcPts val="100"/>
              </a:spcAft>
            </a:pPr>
            <a:r>
              <a:rPr sz="950" b="0" i="0">
                <a:solidFill>
                  <a:srgbClr val="1F2A3A"/>
                </a:solidFill>
                <a:latin typeface="Arial"/>
              </a:rPr>
              <a:t>• 52–55 s : transition vers les actifs.</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exclure HTTP ?</a:t>
            </a:r>
          </a:p>
          <a:p>
            <a:pPr>
              <a:lnSpc>
                <a:spcPct val="100000"/>
              </a:lnSpc>
              <a:spcAft>
                <a:spcPts val="100"/>
              </a:spcAft>
            </a:pPr>
            <a:r>
              <a:rPr sz="950" b="0" i="0">
                <a:solidFill>
                  <a:srgbClr val="1F2A3A"/>
                </a:solidFill>
                <a:latin typeface="Arial"/>
              </a:rPr>
              <a:t>Réponse 30 s : Le serveur n'ouvre aucun port : c'est une décision de moindre surface, cohérente avec le laboratoire. HTTP et mTLS sont décrits comme travail futur, pas comme acquis.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Les objectifs sont-ils tous atteints ?</a:t>
            </a:r>
          </a:p>
          <a:p>
            <a:pPr>
              <a:lnSpc>
                <a:spcPct val="100000"/>
              </a:lnSpc>
              <a:spcAft>
                <a:spcPts val="100"/>
              </a:spcAft>
            </a:pPr>
            <a:r>
              <a:rPr sz="950" b="0" i="0">
                <a:solidFill>
                  <a:srgbClr val="1F2A3A"/>
                </a:solidFill>
                <a:latin typeface="Arial"/>
              </a:rPr>
              <a:t>Réponse 30 s : Oui sur le périmètre testé : 16 sur 16 abus, 115 sur 115 appels, 3 sur 3 injections, 12,42 ms, 10 ms et uid 65534. La nuance est que ces mesures valent pour le jeu synthétique et 60 requêtes, pas pour une production.</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Q3 — Pourquoi pas d'EDR réel ?</a:t>
            </a:r>
          </a:p>
          <a:p>
            <a:pPr>
              <a:lnSpc>
                <a:spcPct val="100000"/>
              </a:lnSpc>
              <a:spcAft>
                <a:spcPts val="100"/>
              </a:spcAft>
            </a:pPr>
            <a:r>
              <a:rPr sz="950" b="0" i="0">
                <a:solidFill>
                  <a:srgbClr val="1F2A3A"/>
                </a:solidFill>
                <a:latin typeface="Arial"/>
              </a:rPr>
              <a:t>Réponse 30 s : Nous n'avons pas d'agent EDR dans le laboratoire : la posture est déclarative, et nous la marquons comme telle. Elle n'est pas présentée comme une preuve.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Cinq cibles, cinq mesures : c'est notre contrat de validation.</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ABAC : « a-bac » · p95 : « quatre-vingt-quinzième centile » · EDR : « eu-dé-èr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1:00</a:t>
            </a:r>
          </a:p>
          <a:p>
            <a:pPr>
              <a:spcBef>
                <a:spcPts val="500"/>
              </a:spcBef>
              <a:spcAft>
                <a:spcPts val="200"/>
              </a:spcAft>
            </a:pPr>
            <a:r>
              <a:rPr sz="1000" b="1">
                <a:solidFill>
                  <a:srgbClr val="0B1F3A"/>
                </a:solidFill>
                <a:latin typeface="Arial"/>
              </a:rPr>
              <a:t>• Nous protégeons quatre familles d'actifs : les bulletins classifiés, les indicateurs, la carte des actifs et les secrets d'exploitation — clé, base, journal.
• Chaque actif porte un niveau de 0 à 3, un TLP et, quand nécessaire, un compartiment de besoin d'en connaître.
• Les acteurs légitimes vont de l'analyste au lead CTI ; l'agent conversationnel est légitime mais manipulable.
• Les acteurs hostiles peuvent voler un jeton, empoisonner un flux partenaire ou profiter d'un poste non conforme.
• La surface est étroite — stdio, six outils, ressources, contenu importé, fichiers — et chaque élément a un point de contrôle.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Les actifs, acteurs et surfaces sont explicites et classés.</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P1 — acteurs, surface d'attaque, actifs classifiés.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désigner la colonne Actifs, puis les niveaux 0 à 3.</a:t>
            </a:r>
          </a:p>
          <a:p>
            <a:pPr>
              <a:lnSpc>
                <a:spcPct val="100000"/>
              </a:lnSpc>
              <a:spcAft>
                <a:spcPts val="100"/>
              </a:spcAft>
            </a:pPr>
            <a:r>
              <a:rPr sz="950" b="0" i="0">
                <a:solidFill>
                  <a:srgbClr val="1F2A3A"/>
                </a:solidFill>
                <a:latin typeface="Arial"/>
              </a:rPr>
              <a:t>• 10–25 s : montrer l'agent dans la colonne Acteurs.</a:t>
            </a:r>
          </a:p>
          <a:p>
            <a:pPr>
              <a:lnSpc>
                <a:spcPct val="100000"/>
              </a:lnSpc>
              <a:spcAft>
                <a:spcPts val="100"/>
              </a:spcAft>
            </a:pPr>
            <a:r>
              <a:rPr sz="950" b="0" i="0">
                <a:solidFill>
                  <a:srgbClr val="1F2A3A"/>
                </a:solidFill>
                <a:latin typeface="Arial"/>
              </a:rPr>
              <a:t>• 25–40 s : pointer le flux partenaire et le poste non conforme.</a:t>
            </a:r>
          </a:p>
          <a:p>
            <a:pPr>
              <a:lnSpc>
                <a:spcPct val="100000"/>
              </a:lnSpc>
              <a:spcAft>
                <a:spcPts val="100"/>
              </a:spcAft>
            </a:pPr>
            <a:r>
              <a:rPr sz="950" b="0" i="0">
                <a:solidFill>
                  <a:srgbClr val="1F2A3A"/>
                </a:solidFill>
                <a:latin typeface="Arial"/>
              </a:rPr>
              <a:t>• 40–52 s : balayer la colonne Surface de haut en bas.</a:t>
            </a:r>
          </a:p>
          <a:p>
            <a:pPr>
              <a:lnSpc>
                <a:spcPct val="100000"/>
              </a:lnSpc>
              <a:spcAft>
                <a:spcPts val="100"/>
              </a:spcAft>
            </a:pPr>
            <a:r>
              <a:rPr sz="950" b="0" i="0">
                <a:solidFill>
                  <a:srgbClr val="1F2A3A"/>
                </a:solidFill>
                <a:latin typeface="Arial"/>
              </a:rPr>
              <a:t>• 52–55 s : appuyer sur « l'agent est manipulable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l'agent est-il un acteur à part ?</a:t>
            </a:r>
          </a:p>
          <a:p>
            <a:pPr>
              <a:lnSpc>
                <a:spcPct val="100000"/>
              </a:lnSpc>
              <a:spcAft>
                <a:spcPts val="100"/>
              </a:spcAft>
            </a:pPr>
            <a:r>
              <a:rPr sz="950" b="0" i="0">
                <a:solidFill>
                  <a:srgbClr val="1F2A3A"/>
                </a:solidFill>
                <a:latin typeface="Arial"/>
              </a:rPr>
              <a:t>Réponse 30 s : Il est légitime mais il exécute ce qu'on lui demande, y compris une instruction cachée dans un bulletin. C'est la délégation confuse : le serveur ne doit jamais traiter le contenu comme une instruction.</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Quel actif est le plus critique ?</a:t>
            </a:r>
          </a:p>
          <a:p>
            <a:pPr>
              <a:lnSpc>
                <a:spcPct val="100000"/>
              </a:lnSpc>
              <a:spcAft>
                <a:spcPts val="100"/>
              </a:spcAft>
            </a:pPr>
            <a:r>
              <a:rPr sz="950" b="0" i="0">
                <a:solidFill>
                  <a:srgbClr val="1F2A3A"/>
                </a:solidFill>
                <a:latin typeface="Arial"/>
              </a:rPr>
              <a:t>Réponse 30 s : La clé de signature : sa compromission permet de forger des capacités, donc de contourner l'authentification. La base est sensible, mais la clé est le point de bascule.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Un partenaire est-il de confiance ?</a:t>
            </a:r>
          </a:p>
          <a:p>
            <a:pPr>
              <a:lnSpc>
                <a:spcPct val="100000"/>
              </a:lnSpc>
              <a:spcAft>
                <a:spcPts val="100"/>
              </a:spcAft>
            </a:pPr>
            <a:r>
              <a:rPr sz="950" b="0" i="0">
                <a:solidFill>
                  <a:srgbClr val="1F2A3A"/>
                </a:solidFill>
                <a:latin typeface="Arial"/>
              </a:rPr>
              <a:t>Réponse 30 s : Non : il est légitime pour fournir, pas pour commander. Son contenu est validé, neutralisé et étiqueté comme non exécutable.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L'actif le plus critique n'est pas la base, c'est la clé de signature.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IOC : « i-o-cé » (indicateur de compromission) · TLP : « té-èl-pé » · CVE : « cé-vé-eu » si le jury en parle.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0:55</a:t>
            </a:r>
          </a:p>
          <a:p>
            <a:pPr>
              <a:spcBef>
                <a:spcPts val="500"/>
              </a:spcBef>
              <a:spcAft>
                <a:spcPts val="200"/>
              </a:spcAft>
            </a:pPr>
            <a:r>
              <a:rPr sz="1000" b="1">
                <a:solidFill>
                  <a:srgbClr val="0B1F3A"/>
                </a:solidFill>
                <a:latin typeface="Arial"/>
              </a:rPr>
              <a:t>• Nous avons coté dix risques sur une échelle de 1 à 5 en probabilité et en impact.
• Deux risques culminent à 20 : la fuite d'un bulletin Secret par une réponse trop riche, et l'injection de consignes dans un flux partenaire.
• Viennent ensuite l'accès hors besoin d'en connaître et le poste non conforme, à 16.
• Un score de 15 n'est pas un risque faible : la compromission de la clé ou l'altération des traces restent à impact maximal.
• Cette matrice n'est pas une décoration : chaque risque alimente une exigence, puis un contrôle, puis un test.</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Classement probabilité × impact et priorisation.</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P1 — 8 à 12 risques cotés.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les axes probabilité et impact.</a:t>
            </a:r>
          </a:p>
          <a:p>
            <a:pPr>
              <a:lnSpc>
                <a:spcPct val="100000"/>
              </a:lnSpc>
              <a:spcAft>
                <a:spcPts val="100"/>
              </a:spcAft>
            </a:pPr>
            <a:r>
              <a:rPr sz="950" b="0" i="0">
                <a:solidFill>
                  <a:srgbClr val="1F2A3A"/>
                </a:solidFill>
                <a:latin typeface="Arial"/>
              </a:rPr>
              <a:t>• 10–22 s : pointer les deux cercles R01 et R02.</a:t>
            </a:r>
          </a:p>
          <a:p>
            <a:pPr>
              <a:lnSpc>
                <a:spcPct val="100000"/>
              </a:lnSpc>
              <a:spcAft>
                <a:spcPts val="100"/>
              </a:spcAft>
            </a:pPr>
            <a:r>
              <a:rPr sz="950" b="0" i="0">
                <a:solidFill>
                  <a:srgbClr val="1F2A3A"/>
                </a:solidFill>
                <a:latin typeface="Arial"/>
              </a:rPr>
              <a:t>• 22–35 s : descendre sur R04 et R07 à 16.</a:t>
            </a:r>
          </a:p>
          <a:p>
            <a:pPr>
              <a:lnSpc>
                <a:spcPct val="100000"/>
              </a:lnSpc>
              <a:spcAft>
                <a:spcPts val="100"/>
              </a:spcAft>
            </a:pPr>
            <a:r>
              <a:rPr sz="950" b="0" i="0">
                <a:solidFill>
                  <a:srgbClr val="1F2A3A"/>
                </a:solidFill>
                <a:latin typeface="Arial"/>
              </a:rPr>
              <a:t>• 35–48 s : montrer les scores 15 et dire qu'ils ne sont pas faibles.</a:t>
            </a:r>
          </a:p>
          <a:p>
            <a:pPr>
              <a:lnSpc>
                <a:spcPct val="100000"/>
              </a:lnSpc>
              <a:spcAft>
                <a:spcPts val="100"/>
              </a:spcAft>
            </a:pPr>
            <a:r>
              <a:rPr sz="950" b="0" i="0">
                <a:solidFill>
                  <a:srgbClr val="1F2A3A"/>
                </a:solidFill>
                <a:latin typeface="Arial"/>
              </a:rPr>
              <a:t>• 48–55 s : transition vers la traçabilité.</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Comment avez-vous coté ?</a:t>
            </a:r>
          </a:p>
          <a:p>
            <a:pPr>
              <a:lnSpc>
                <a:spcPct val="100000"/>
              </a:lnSpc>
              <a:spcAft>
                <a:spcPts val="100"/>
              </a:spcAft>
            </a:pPr>
            <a:r>
              <a:rPr sz="950" b="0" i="0">
                <a:solidFill>
                  <a:srgbClr val="1F2A3A"/>
                </a:solidFill>
                <a:latin typeface="Arial"/>
              </a:rPr>
              <a:t>Réponse 30 s : Par jugement argumenté sur le périmètre, pas par statistique : nous n'avons pas d'historique d'incidents. Les scores sont des hypothèses explicites, et l'analyse de sensibilité montre que le classement résiste aux poids.</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Q2 — R01 et R02 ont-ils les mêmes contrôles ?</a:t>
            </a:r>
          </a:p>
          <a:p>
            <a:pPr>
              <a:lnSpc>
                <a:spcPct val="100000"/>
              </a:lnSpc>
              <a:spcAft>
                <a:spcPts val="100"/>
              </a:spcAft>
            </a:pPr>
            <a:r>
              <a:rPr sz="950" b="0" i="0">
                <a:solidFill>
                  <a:srgbClr val="1F2A3A"/>
                </a:solidFill>
                <a:latin typeface="Arial"/>
              </a:rPr>
              <a:t>Réponse 30 s : Non : R01 se traite par la décision d'accès et l'étiquette de sortie ; R02 par l'assainissement et l'enveloppe non exécutable. Le score est proche, les contrôles sont indépendants.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seulement dix risques ?</a:t>
            </a:r>
          </a:p>
          <a:p>
            <a:pPr>
              <a:lnSpc>
                <a:spcPct val="100000"/>
              </a:lnSpc>
              <a:spcAft>
                <a:spcPts val="100"/>
              </a:spcAft>
            </a:pPr>
            <a:r>
              <a:rPr sz="950" b="0" i="0">
                <a:solidFill>
                  <a:srgbClr val="1F2A3A"/>
                </a:solidFill>
                <a:latin typeface="Arial"/>
              </a:rPr>
              <a:t>Réponse 30 s : Le cahier des charges en demande 8 à 12 ; dix couvrent les actifs et les surfaces sans diluer la matrice. Les risques exclus sont dans les limites.</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Deux risques à 20, quatre contrôles indépendants : la matrice sert à décider, pas à décorer.</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R01 se dit « èr zéro un » · probabilité × impact : « fois », pas « x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1:00</a:t>
            </a:r>
          </a:p>
          <a:p>
            <a:pPr>
              <a:spcBef>
                <a:spcPts val="500"/>
              </a:spcBef>
              <a:spcAft>
                <a:spcPts val="200"/>
              </a:spcAft>
            </a:pPr>
            <a:r>
              <a:rPr sz="1000" b="1">
                <a:solidFill>
                  <a:srgbClr val="0B1F3A"/>
                </a:solidFill>
                <a:latin typeface="Arial"/>
              </a:rPr>
              <a:t>• Nous avons dérivé 13 exigences fonctionnelles et 12 exigences non fonctionnelles des risques, pas de l'intuition.
• Chaque exigence cite les risques qu'elle réduit, et chaque test cite l'exigence qu'il valide.
• Par exemple, R01 descend vers EF-03 et EF-04, puis vers les points de contrôle CP2 et CP5, et vers les tests A06, A07 et A15.
• R06 — l'altération des traces — descend vers EF-08 et ENF-08, puis vers le journal chaîné CP7, testé par A14.
• La matrice est lisible dans les deux sens : un contrôle sans exigence est décoratif ; une exigence sans test est une intention.</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Matrice risque vers exigence vers contrôle vers test.</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P1 — exigences rattachées aux risques, matrice de traçabilité.</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les compteurs 13, 12 et 10.</a:t>
            </a:r>
          </a:p>
          <a:p>
            <a:pPr>
              <a:lnSpc>
                <a:spcPct val="100000"/>
              </a:lnSpc>
              <a:spcAft>
                <a:spcPts val="100"/>
              </a:spcAft>
            </a:pPr>
            <a:r>
              <a:rPr sz="950" b="0" i="0">
                <a:solidFill>
                  <a:srgbClr val="1F2A3A"/>
                </a:solidFill>
                <a:latin typeface="Arial"/>
              </a:rPr>
              <a:t>• 10–30 s : suivre la ligne R01 du doigt jusqu'à A06-A07-A15.</a:t>
            </a:r>
          </a:p>
          <a:p>
            <a:pPr>
              <a:lnSpc>
                <a:spcPct val="100000"/>
              </a:lnSpc>
              <a:spcAft>
                <a:spcPts val="100"/>
              </a:spcAft>
            </a:pPr>
            <a:r>
              <a:rPr sz="950" b="0" i="0">
                <a:solidFill>
                  <a:srgbClr val="1F2A3A"/>
                </a:solidFill>
                <a:latin typeface="Arial"/>
              </a:rPr>
              <a:t>• 30–45 s : suivre la ligne R06 jusqu'à A14.</a:t>
            </a:r>
          </a:p>
          <a:p>
            <a:pPr>
              <a:lnSpc>
                <a:spcPct val="100000"/>
              </a:lnSpc>
              <a:spcAft>
                <a:spcPts val="100"/>
              </a:spcAft>
            </a:pPr>
            <a:r>
              <a:rPr sz="950" b="0" i="0">
                <a:solidFill>
                  <a:srgbClr val="1F2A3A"/>
                </a:solidFill>
                <a:latin typeface="Arial"/>
              </a:rPr>
              <a:t>• 45–55 s : appuyer sur « décoratif » et « intention ».</a:t>
            </a:r>
          </a:p>
          <a:p>
            <a:pPr>
              <a:lnSpc>
                <a:spcPct val="100000"/>
              </a:lnSpc>
              <a:spcAft>
                <a:spcPts val="100"/>
              </a:spcAft>
            </a:pPr>
            <a:r>
              <a:rPr sz="950" b="0" i="0">
                <a:solidFill>
                  <a:srgbClr val="1F2A3A"/>
                </a:solidFill>
                <a:latin typeface="Arial"/>
              </a:rPr>
              <a:t>• 55–60 s : transition vers le comparatif.</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13 et 12 ?</a:t>
            </a:r>
          </a:p>
          <a:p>
            <a:pPr>
              <a:lnSpc>
                <a:spcPct val="100000"/>
              </a:lnSpc>
              <a:spcAft>
                <a:spcPts val="100"/>
              </a:spcAft>
            </a:pPr>
            <a:r>
              <a:rPr sz="950" b="0" i="0">
                <a:solidFill>
                  <a:srgbClr val="1F2A3A"/>
                </a:solidFill>
                <a:latin typeface="Arial"/>
              </a:rPr>
              <a:t>Réponse 30 s : Nous avons arrêté quand chaque risque avait au moins une exigence et un test, et quand chaque outil avait un contrat. Ce n'est pas un nombre magique, c'est une couverture.</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Q2 — Toutes les exigences sont-elles testées ?</a:t>
            </a:r>
          </a:p>
          <a:p>
            <a:pPr>
              <a:lnSpc>
                <a:spcPct val="100000"/>
              </a:lnSpc>
              <a:spcAft>
                <a:spcPts val="100"/>
              </a:spcAft>
            </a:pPr>
            <a:r>
              <a:rPr sz="950" b="0" i="0">
                <a:solidFill>
                  <a:srgbClr val="1F2A3A"/>
                </a:solidFill>
                <a:latin typeface="Arial"/>
              </a:rPr>
              <a:t>Réponse 30 s : Oui sur le périmètre : les colonnes preuve et statut du rapport le montrent ; les éléments non testés sont marqués proposés ou configurés.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Qu'est-ce qu'une exigence non fonctionnelle ici ?</a:t>
            </a:r>
          </a:p>
          <a:p>
            <a:pPr>
              <a:lnSpc>
                <a:spcPct val="100000"/>
              </a:lnSpc>
              <a:spcAft>
                <a:spcPts val="100"/>
              </a:spcAft>
            </a:pPr>
            <a:r>
              <a:rPr sz="950" b="0" i="0">
                <a:solidFill>
                  <a:srgbClr val="1F2A3A"/>
                </a:solidFill>
                <a:latin typeface="Arial"/>
              </a:rPr>
              <a:t>Réponse 30 s : Par exemple ENF-08 : toute altération du journal est détectable. Elle ne décrit pas une fonction, mais une propriété de la preuve.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Une exigence sans test est une intention ; un contrôle sans exigence est un décor.</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EF : « eu-èf » · ENF : « eu-èn-èf » · CP : « cé-pé » · A06 : « a zéro six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1:00</a:t>
            </a:r>
          </a:p>
          <a:p>
            <a:pPr>
              <a:spcBef>
                <a:spcPts val="500"/>
              </a:spcBef>
              <a:spcAft>
                <a:spcPts val="200"/>
              </a:spcAft>
            </a:pPr>
            <a:r>
              <a:rPr sz="1000" b="1">
                <a:solidFill>
                  <a:srgbClr val="0B1F3A"/>
                </a:solidFill>
                <a:latin typeface="Arial"/>
              </a:rPr>
              <a:t>• Avant de coder, nous avons comparé quatre candidats avec des critères pondérés justifiés d'abord.
• Sécurité du secret 30 %, conformité MCP 20 %, adéquation 20 %, maîtrise 15 %, coût 15 %.
• Le script local, le plus répandu dans les projets étudiants, obtient 2,15 : il est immédiat, mais il ne protège rien.
• La plateforme commerciale obtient 2,68, la passerelle MCP générique 3,03, et notre serveur dédié 4,18.
• Nous écartons le plus populaire parce qu'il n'a ni jeton, ni étiquette, ni journal ; nous assumons un serveur dédié, plus exigeant mais démontrable.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Comparatif chiffré et choix assumé, y compris contre le plus populaire.</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P2 — critères pondérés, quatre candidats, scores, décision.</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les poids au-dessus du graphique.</a:t>
            </a:r>
          </a:p>
          <a:p>
            <a:pPr>
              <a:lnSpc>
                <a:spcPct val="100000"/>
              </a:lnSpc>
              <a:spcAft>
                <a:spcPts val="100"/>
              </a:spcAft>
            </a:pPr>
            <a:r>
              <a:rPr sz="950" b="0" i="0">
                <a:solidFill>
                  <a:srgbClr val="1F2A3A"/>
                </a:solidFill>
                <a:latin typeface="Arial"/>
              </a:rPr>
              <a:t>• 10–25 s : suivre les barres C1 puis C4.</a:t>
            </a:r>
          </a:p>
          <a:p>
            <a:pPr>
              <a:lnSpc>
                <a:spcPct val="100000"/>
              </a:lnSpc>
              <a:spcAft>
                <a:spcPts val="100"/>
              </a:spcAft>
            </a:pPr>
            <a:r>
              <a:rPr sz="950" b="0" i="0">
                <a:solidFill>
                  <a:srgbClr val="1F2A3A"/>
                </a:solidFill>
                <a:latin typeface="Arial"/>
              </a:rPr>
              <a:t>• 25–40 s : pointer 2,15 puis 4,18.</a:t>
            </a:r>
          </a:p>
          <a:p>
            <a:pPr>
              <a:lnSpc>
                <a:spcPct val="100000"/>
              </a:lnSpc>
              <a:spcAft>
                <a:spcPts val="100"/>
              </a:spcAft>
            </a:pPr>
            <a:r>
              <a:rPr sz="950" b="0" i="0">
                <a:solidFill>
                  <a:srgbClr val="1F2A3A"/>
                </a:solidFill>
                <a:latin typeface="Arial"/>
              </a:rPr>
              <a:t>• 40–52 s : revenir à C1 et expliquer son exclusion.</a:t>
            </a:r>
          </a:p>
          <a:p>
            <a:pPr>
              <a:lnSpc>
                <a:spcPct val="100000"/>
              </a:lnSpc>
              <a:spcAft>
                <a:spcPts val="100"/>
              </a:spcAft>
            </a:pPr>
            <a:r>
              <a:rPr sz="950" b="0" i="0">
                <a:solidFill>
                  <a:srgbClr val="1F2A3A"/>
                </a:solidFill>
                <a:latin typeface="Arial"/>
              </a:rPr>
              <a:t>• 52–60 s : transition vers l'architecture.</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ne pas prendre la plateforme commerciale ?</a:t>
            </a:r>
          </a:p>
          <a:p>
            <a:pPr>
              <a:lnSpc>
                <a:spcPct val="100000"/>
              </a:lnSpc>
              <a:spcAft>
                <a:spcPts val="100"/>
              </a:spcAft>
            </a:pPr>
            <a:r>
              <a:rPr sz="950" b="0" i="0">
                <a:solidFill>
                  <a:srgbClr val="1F2A3A"/>
                </a:solidFill>
                <a:latin typeface="Arial"/>
              </a:rPr>
              <a:t>Réponse 30 s : Elle gagne en richesse fonctionnelle, mais elle expose les données et nous rend dépendants d'un fournisseur ; ses étiquettes et son coût sont moins maîtrisés. Nous préférons un serveur dédié, local, que nous pouvons auditer.</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Q2 — Le score est-il objectif ?</a:t>
            </a:r>
          </a:p>
          <a:p>
            <a:pPr>
              <a:lnSpc>
                <a:spcPct val="100000"/>
              </a:lnSpc>
              <a:spcAft>
                <a:spcPts val="100"/>
              </a:spcAft>
            </a:pPr>
            <a:r>
              <a:rPr sz="950" b="0" i="0">
                <a:solidFill>
                  <a:srgbClr val="1F2A3A"/>
                </a:solidFill>
                <a:latin typeface="Arial"/>
              </a:rPr>
              <a:t>Réponse 30 s : Non, il est argumenté : les notes sont des jugements sur une échelle de 1 à 5, les poids sont annoncés avant. L'analyse de sensibilité montre que C4 reste premier avec deux jeux de poids différents.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le script local est-il populaire ?</a:t>
            </a:r>
          </a:p>
          <a:p>
            <a:pPr>
              <a:lnSpc>
                <a:spcPct val="100000"/>
              </a:lnSpc>
              <a:spcAft>
                <a:spcPts val="100"/>
              </a:spcAft>
            </a:pPr>
            <a:r>
              <a:rPr sz="950" b="0" i="0">
                <a:solidFill>
                  <a:srgbClr val="1F2A3A"/>
                </a:solidFill>
                <a:latin typeface="Arial"/>
              </a:rPr>
              <a:t>Réponse 30 s : Parce qu'il est immédiat et sans dépendance, ce qui est utile pour une démonstration. Mais il ne traite ni l'habilitation, ni les compartiments, ni l'audit : il illustre le problème, pas la solution.</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Le plus populaire n'est pas le plus protecteur : nous préférons 4,18 démontrable à 2,15 immédiat.</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MCP : « èm-sé-pé » · C1 à C4 : « cé un » à « cé quatre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1:10</a:t>
            </a:r>
          </a:p>
          <a:p>
            <a:pPr>
              <a:spcBef>
                <a:spcPts val="500"/>
              </a:spcBef>
              <a:spcAft>
                <a:spcPts val="200"/>
              </a:spcAft>
            </a:pPr>
            <a:r>
              <a:rPr sz="1000" b="1">
                <a:solidFill>
                  <a:srgbClr val="0B1F3A"/>
                </a:solidFill>
                <a:latin typeface="Arial"/>
              </a:rPr>
              <a:t>• L'architecture tient en trois zones de confiance et un flux non fiable.
• Les zones 0 à 2 sont les trois zones de confiance — poste, serveur, données ; la zone 3 est le flux partenaire, non fiable.
• Le client ne parle jamais directement aux données : toute requête traverse le serveur et les huit points de contrôle.
• CP1 authentifie et vérifie la posture, CP2 décide selon l'habilitation et la finalité, CP5 étiquette et masque, CP7 journalise.
• Il n'existe qu'un seul point de journalisation, en échec fermé : si l'audit ne peut pas écrire, la réponse n'est pas autorisée.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Architecture en zones, circulation et points de contrôle.</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P3 — zones, circulation des étiquettes, points de contrôle, journal unique.</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0–12 s : montrer les quatre zones de gauche à droite.</a:t>
            </a:r>
          </a:p>
          <a:p>
            <a:pPr>
              <a:lnSpc>
                <a:spcPct val="100000"/>
              </a:lnSpc>
              <a:spcAft>
                <a:spcPts val="100"/>
              </a:spcAft>
            </a:pPr>
            <a:r>
              <a:rPr sz="950" b="0" i="0">
                <a:solidFill>
                  <a:srgbClr val="1F2A3A"/>
                </a:solidFill>
                <a:latin typeface="Arial"/>
              </a:rPr>
              <a:t>• 12–30 s : suivre la flèche requête puis la flèche lecture.</a:t>
            </a:r>
          </a:p>
          <a:p>
            <a:pPr>
              <a:lnSpc>
                <a:spcPct val="100000"/>
              </a:lnSpc>
              <a:spcAft>
                <a:spcPts val="100"/>
              </a:spcAft>
            </a:pPr>
            <a:r>
              <a:rPr sz="950" b="0" i="0">
                <a:solidFill>
                  <a:srgbClr val="1F2A3A"/>
                </a:solidFill>
                <a:latin typeface="Arial"/>
              </a:rPr>
              <a:t>• 30–48 s : pointer CP1, CP2, CP5 et CP7.</a:t>
            </a:r>
          </a:p>
          <a:p>
            <a:pPr>
              <a:lnSpc>
                <a:spcPct val="100000"/>
              </a:lnSpc>
              <a:spcAft>
                <a:spcPts val="100"/>
              </a:spcAft>
            </a:pPr>
            <a:r>
              <a:rPr sz="950" b="0" i="0">
                <a:solidFill>
                  <a:srgbClr val="1F2A3A"/>
                </a:solidFill>
                <a:latin typeface="Arial"/>
              </a:rPr>
              <a:t>• 48–62 s : montrer le journal unique en bas à droite.</a:t>
            </a:r>
          </a:p>
          <a:p>
            <a:pPr>
              <a:lnSpc>
                <a:spcPct val="100000"/>
              </a:lnSpc>
              <a:spcAft>
                <a:spcPts val="100"/>
              </a:spcAft>
            </a:pPr>
            <a:r>
              <a:rPr sz="950" b="0" i="0">
                <a:solidFill>
                  <a:srgbClr val="1F2A3A"/>
                </a:solidFill>
                <a:latin typeface="Arial"/>
              </a:rPr>
              <a:t>• 62–70 s : appuyer sur « échec fermé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une zone 3 séparée ?</a:t>
            </a:r>
          </a:p>
          <a:p>
            <a:pPr>
              <a:lnSpc>
                <a:spcPct val="100000"/>
              </a:lnSpc>
              <a:spcAft>
                <a:spcPts val="100"/>
              </a:spcAft>
            </a:pPr>
            <a:r>
              <a:rPr sz="950" b="0" i="0">
                <a:solidFill>
                  <a:srgbClr val="1F2A3A"/>
                </a:solidFill>
                <a:latin typeface="Arial"/>
              </a:rPr>
              <a:t>Réponse 30 s : Parce qu'un partenaire est une source légitime mais non fiable : son contenu est une donnée, pas une commande. La zone 3 matérialise cette défiance.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Pourquoi le serveur n'a-t-il pas de réseau ?</a:t>
            </a:r>
          </a:p>
          <a:p>
            <a:pPr>
              <a:lnSpc>
                <a:spcPct val="100000"/>
              </a:lnSpc>
              <a:spcAft>
                <a:spcPts val="100"/>
              </a:spcAft>
            </a:pPr>
            <a:r>
              <a:rPr sz="950" b="0" i="0">
                <a:solidFill>
                  <a:srgbClr val="1F2A3A"/>
                </a:solidFill>
                <a:latin typeface="Arial"/>
              </a:rPr>
              <a:t>Réponse 30 s : Le transport est stdio, local : il n'ouvre aucun port et n'utilise aucun client HTTP. C'est une réduction de surface assumée, pas un oubli.</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Que se passe-t-il si l'audit tombe ?</a:t>
            </a:r>
          </a:p>
          <a:p>
            <a:pPr>
              <a:lnSpc>
                <a:spcPct val="100000"/>
              </a:lnSpc>
              <a:spcAft>
                <a:spcPts val="100"/>
              </a:spcAft>
            </a:pPr>
            <a:r>
              <a:rPr sz="950" b="0" i="0">
                <a:solidFill>
                  <a:srgbClr val="1F2A3A"/>
                </a:solidFill>
                <a:latin typeface="Arial"/>
              </a:rPr>
              <a:t>Réponse 30 s : Le serveur refuse la réponse : c'est le fail-closed. Une réponse sans trace serait pire qu'un refus, car elle rendrait la fuite invisible.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Pas de chemin direct du client aux données : tout passe par le serveur et par le journal.</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CP : « cé-pé » · stdio : « entrée-sortie standard » · fail-closed : « échec fermé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1:00</a:t>
            </a:r>
          </a:p>
          <a:p>
            <a:pPr>
              <a:spcBef>
                <a:spcPts val="500"/>
              </a:spcBef>
              <a:spcAft>
                <a:spcPts val="200"/>
              </a:spcAft>
            </a:pPr>
            <a:r>
              <a:rPr sz="1000" b="1">
                <a:solidFill>
                  <a:srgbClr val="0B1F3A"/>
                </a:solidFill>
                <a:latin typeface="Arial"/>
              </a:rPr>
              <a:t>• Le parcours d'un document classifié comporte huit étapes, de la réception à la réponse ou au refus.
• À la réception, le contenu est validé et neutralisé ; à l'étiquetage, il reçoit niveau, TLP et compartiments.
• À la demande, le serveur vérifie le jeton, la posture, le rôle, la finalité et le besoin d'en connaître.
• Le refus est une branche de l'étape 6 : il ne révèle jamais l'existence de la ressource, mais il laisse une trace précise.
• La réponse autorisée porte la même étiquette, les champs masqués et les fanions d'injection ; la source n'est visible qu'au niveau 3.</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Chemin complet, refus et étiquetage de sortie.</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P3 — chemin d'un document classifié, circulation des étiquettes.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0–15 s : descendre les quatre étapes d'ingestion.</a:t>
            </a:r>
          </a:p>
          <a:p>
            <a:pPr>
              <a:lnSpc>
                <a:spcPct val="100000"/>
              </a:lnSpc>
              <a:spcAft>
                <a:spcPts val="100"/>
              </a:spcAft>
            </a:pPr>
            <a:r>
              <a:rPr sz="950" b="0" i="0">
                <a:solidFill>
                  <a:srgbClr val="1F2A3A"/>
                </a:solidFill>
                <a:latin typeface="Arial"/>
              </a:rPr>
              <a:t>• 15–35 s : descendre les étapes demande, décision, enveloppe.</a:t>
            </a:r>
          </a:p>
          <a:p>
            <a:pPr>
              <a:lnSpc>
                <a:spcPct val="100000"/>
              </a:lnSpc>
              <a:spcAft>
                <a:spcPts val="100"/>
              </a:spcAft>
            </a:pPr>
            <a:r>
              <a:rPr sz="950" b="0" i="0">
                <a:solidFill>
                  <a:srgbClr val="1F2A3A"/>
                </a:solidFill>
                <a:latin typeface="Arial"/>
              </a:rPr>
              <a:t>• 35–48 s : montrer la branche de refus et l'audit.</a:t>
            </a:r>
          </a:p>
          <a:p>
            <a:pPr>
              <a:lnSpc>
                <a:spcPct val="100000"/>
              </a:lnSpc>
              <a:spcAft>
                <a:spcPts val="100"/>
              </a:spcAft>
            </a:pPr>
            <a:r>
              <a:rPr sz="950" b="0" i="0">
                <a:solidFill>
                  <a:srgbClr val="1F2A3A"/>
                </a:solidFill>
                <a:latin typeface="Arial"/>
              </a:rPr>
              <a:t>• 48–58 s : revenir à la réponse étiquetée.</a:t>
            </a:r>
          </a:p>
          <a:p>
            <a:pPr>
              <a:lnSpc>
                <a:spcPct val="100000"/>
              </a:lnSpc>
              <a:spcAft>
                <a:spcPts val="100"/>
              </a:spcAft>
            </a:pPr>
            <a:r>
              <a:rPr sz="950" b="0" i="0">
                <a:solidFill>
                  <a:srgbClr val="1F2A3A"/>
                </a:solidFill>
                <a:latin typeface="Arial"/>
              </a:rPr>
              <a:t>• 58–60 s : transition vers la réalisation.</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Que se passe-t-il si le canari apparaît ?</a:t>
            </a:r>
          </a:p>
          <a:p>
            <a:pPr>
              <a:lnSpc>
                <a:spcPct val="100000"/>
              </a:lnSpc>
              <a:spcAft>
                <a:spcPts val="100"/>
              </a:spcAft>
            </a:pPr>
            <a:r>
              <a:rPr sz="950" b="0" i="0">
                <a:solidFill>
                  <a:srgbClr val="1F2A3A"/>
                </a:solidFill>
                <a:latin typeface="Arial"/>
              </a:rPr>
              <a:t>Réponse 30 s : Le canari est un signal de fuite : sa présence dans une réponse non autorisée est un incident. Dans nos refus, il est absent ; dans une lecture Secret autorisée, il est visible et journalisé.</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Refus et erreur, est-ce la même chose ?</a:t>
            </a:r>
          </a:p>
          <a:p>
            <a:pPr>
              <a:lnSpc>
                <a:spcPct val="100000"/>
              </a:lnSpc>
              <a:spcAft>
                <a:spcPts val="100"/>
              </a:spcAft>
            </a:pPr>
            <a:r>
              <a:rPr sz="950" b="0" i="0">
                <a:solidFill>
                  <a:srgbClr val="1F2A3A"/>
                </a:solidFill>
                <a:latin typeface="Arial"/>
              </a:rPr>
              <a:t>Réponse 30 s : Non : le client reçoit un code générique pour ne pas apprendre l'existence d'une ressource ; l'auditeur voit un motif précis. C'est la séparation entre sécurité et diagnostic.</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huit étapes ?</a:t>
            </a:r>
          </a:p>
          <a:p>
            <a:pPr>
              <a:lnSpc>
                <a:spcPct val="100000"/>
              </a:lnSpc>
              <a:spcAft>
                <a:spcPts val="100"/>
              </a:spcAft>
            </a:pPr>
            <a:r>
              <a:rPr sz="950" b="0" i="0">
                <a:solidFill>
                  <a:srgbClr val="1F2A3A"/>
                </a:solidFill>
                <a:latin typeface="Arial"/>
              </a:rPr>
              <a:t>Réponse 30 s : Pour couvrir ingestion, stockage, demande, décision, enveloppe et réponse, avec une branche de refus. Chaque étape a un contrôle et une exigence.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Le refus n'est pas une absence de traitement : c'est une réponse générique, journalisée et motivée.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TLP : « té-èl-pé » · jeton : « jeu-ton » · fanion : mot français, éviter « flag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0:55</a:t>
            </a:r>
          </a:p>
          <a:p>
            <a:pPr>
              <a:spcBef>
                <a:spcPts val="500"/>
              </a:spcBef>
              <a:spcAft>
                <a:spcPts val="200"/>
              </a:spcAft>
            </a:pPr>
            <a:r>
              <a:rPr sz="1000" b="1">
                <a:solidFill>
                  <a:srgbClr val="0B1F3A"/>
                </a:solidFill>
                <a:latin typeface="Arial"/>
              </a:rPr>
              <a:t>• La réalisation a suivi l'architecture module par module, en gardant le serveur exécutable à chaque étape.
• Le socle tient en neuf modules Python de la bibliothèque standard : configuration, étiquettes, assainissement, authentification, politique, entrepôt, renseignement, outils et serveur.
• Le protocole est JSON-RPC 2.0 sur stdio, avec six outils et des schémas qui refusent toute propriété supplémentaire.
• Le journal de réalisation montre un premier échec réel à 13 h 08 — un décodage UTF-8 — corrigé à 13 h 14, puis une campagne verte à 13 h 16.
• Ce journal n'est pas un planning théorique : chaque ligne correspond à un fichier ou à une sortie conservée.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Réalisation effective, modules et journal horodaté.</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P4 — installation, configuration, journal de réalisation.</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les neuf modules.</a:t>
            </a:r>
          </a:p>
          <a:p>
            <a:pPr>
              <a:lnSpc>
                <a:spcPct val="100000"/>
              </a:lnSpc>
              <a:spcAft>
                <a:spcPts val="100"/>
              </a:spcAft>
            </a:pPr>
            <a:r>
              <a:rPr sz="950" b="0" i="0">
                <a:solidFill>
                  <a:srgbClr val="1F2A3A"/>
                </a:solidFill>
                <a:latin typeface="Arial"/>
              </a:rPr>
              <a:t>• 10–22 s : pointer les six outils.</a:t>
            </a:r>
          </a:p>
          <a:p>
            <a:pPr>
              <a:lnSpc>
                <a:spcPct val="100000"/>
              </a:lnSpc>
              <a:spcAft>
                <a:spcPts val="100"/>
              </a:spcAft>
            </a:pPr>
            <a:r>
              <a:rPr sz="950" b="0" i="0">
                <a:solidFill>
                  <a:srgbClr val="1F2A3A"/>
                </a:solidFill>
                <a:latin typeface="Arial"/>
              </a:rPr>
              <a:t>• 22–35 s : suivre la ligne du temps jusqu'à 13 h 08.</a:t>
            </a:r>
          </a:p>
          <a:p>
            <a:pPr>
              <a:lnSpc>
                <a:spcPct val="100000"/>
              </a:lnSpc>
              <a:spcAft>
                <a:spcPts val="100"/>
              </a:spcAft>
            </a:pPr>
            <a:r>
              <a:rPr sz="950" b="0" i="0">
                <a:solidFill>
                  <a:srgbClr val="1F2A3A"/>
                </a:solidFill>
                <a:latin typeface="Arial"/>
              </a:rPr>
              <a:t>• 35–48 s : montrer 13 h 14, puis 13 h 16.</a:t>
            </a:r>
          </a:p>
          <a:p>
            <a:pPr>
              <a:lnSpc>
                <a:spcPct val="100000"/>
              </a:lnSpc>
              <a:spcAft>
                <a:spcPts val="100"/>
              </a:spcAft>
            </a:pPr>
            <a:r>
              <a:rPr sz="950" b="0" i="0">
                <a:solidFill>
                  <a:srgbClr val="1F2A3A"/>
                </a:solidFill>
                <a:latin typeface="Arial"/>
              </a:rPr>
              <a:t>• 48–55 s : appuyer sur « sortie conservée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Python standard uniquement ?</a:t>
            </a:r>
          </a:p>
          <a:p>
            <a:pPr>
              <a:lnSpc>
                <a:spcPct val="100000"/>
              </a:lnSpc>
              <a:spcAft>
                <a:spcPts val="100"/>
              </a:spcAft>
            </a:pPr>
            <a:r>
              <a:rPr sz="950" b="0" i="0">
                <a:solidFill>
                  <a:srgbClr val="1F2A3A"/>
                </a:solidFill>
                <a:latin typeface="Arial"/>
              </a:rPr>
              <a:t>Réponse 30 s : Pour éviter les dépendances et les clients réseau, et parce que sqlite3, hmac et hashlib suffisent. Le venv ne sert qu'aux outils de document.</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Pourquoi six outils ?</a:t>
            </a:r>
          </a:p>
          <a:p>
            <a:pPr>
              <a:lnSpc>
                <a:spcPct val="100000"/>
              </a:lnSpc>
              <a:spcAft>
                <a:spcPts val="100"/>
              </a:spcAft>
            </a:pPr>
            <a:r>
              <a:rPr sz="950" b="0" i="0">
                <a:solidFill>
                  <a:srgbClr val="1F2A3A"/>
                </a:solidFill>
                <a:latin typeface="Arial"/>
              </a:rPr>
              <a:t>Réponse 30 s : Le périmètre est volontairement borné : recherche, lecture, enrichissement, corrélation, score et santé. Six contrats stricts sont plus faciles à tester que vingt outils flous.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L'échec à 13 h 08 était-il grave ?</a:t>
            </a:r>
          </a:p>
          <a:p>
            <a:pPr>
              <a:lnSpc>
                <a:spcPct val="100000"/>
              </a:lnSpc>
              <a:spcAft>
                <a:spcPts val="100"/>
              </a:spcAft>
            </a:pPr>
            <a:r>
              <a:rPr sz="950" b="0" i="0">
                <a:solidFill>
                  <a:srgbClr val="1F2A3A"/>
                </a:solidFill>
                <a:latin typeface="Arial"/>
              </a:rPr>
              <a:t>Réponse 30 s : Il était réel et bloquant : le serveur s'arrêtait à la deuxième écriture d'audit. Nous l'avons documenté, corrigé et rejoué ; il reste dans le rapport.</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Le premier essai a échoué, nous l'avons écrit et corrigé : c'est cela, une preuve.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JSON-RPC : « jé-sonne èr-pé-cé » · UTF-8 : « u-té-èf huit » · CVE : « cé-vé-eu » si le jury en parle.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0:50</a:t>
            </a:r>
          </a:p>
          <a:p>
            <a:pPr>
              <a:spcBef>
                <a:spcPts val="500"/>
              </a:spcBef>
              <a:spcAft>
                <a:spcPts val="200"/>
              </a:spcAft>
            </a:pPr>
            <a:r>
              <a:rPr sz="1000" b="1">
                <a:solidFill>
                  <a:srgbClr val="0B1F3A"/>
                </a:solidFill>
                <a:latin typeface="Arial"/>
              </a:rPr>
              <a:t>• Le durcissement ne s'arrête pas au code : nous avons séparé le service de ses données.
• Le serveur tourne sous l'utilisateur « nobody », identifiant 65534 ; il ne peut pas écrire la base.
• La base est en lecture seule pour le service, en mode 0440 ; la clé HMAC est en 0400, hors de la base.
• Le serveur n'ouvre aucun port, n'utilise aucun client HTTP et refuse de répondre si le journal ne peut pas être écrit.
• L'unité systemd est proposée, pas installée : nous ne confondons pas un fichier de configuration avec un service testé.</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Moindre privilège, droits de fichiers et absence de réseau.</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P4 — durcissement, statuts honnêtes.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la capture et l'identifiant 65534.</a:t>
            </a:r>
          </a:p>
          <a:p>
            <a:pPr>
              <a:lnSpc>
                <a:spcPct val="100000"/>
              </a:lnSpc>
              <a:spcAft>
                <a:spcPts val="100"/>
              </a:spcAft>
            </a:pPr>
            <a:r>
              <a:rPr sz="950" b="0" i="0">
                <a:solidFill>
                  <a:srgbClr val="1F2A3A"/>
                </a:solidFill>
                <a:latin typeface="Arial"/>
              </a:rPr>
              <a:t>• 10–22 s : pointer la base 0440 puis la clé 0400.</a:t>
            </a:r>
          </a:p>
          <a:p>
            <a:pPr>
              <a:lnSpc>
                <a:spcPct val="100000"/>
              </a:lnSpc>
              <a:spcAft>
                <a:spcPts val="100"/>
              </a:spcAft>
            </a:pPr>
            <a:r>
              <a:rPr sz="950" b="0" i="0">
                <a:solidFill>
                  <a:srgbClr val="1F2A3A"/>
                </a:solidFill>
                <a:latin typeface="Arial"/>
              </a:rPr>
              <a:t>• 22–35 s : montrer 0 port et le journal fail-closed.</a:t>
            </a:r>
          </a:p>
          <a:p>
            <a:pPr>
              <a:lnSpc>
                <a:spcPct val="100000"/>
              </a:lnSpc>
              <a:spcAft>
                <a:spcPts val="100"/>
              </a:spcAft>
            </a:pPr>
            <a:r>
              <a:rPr sz="950" b="0" i="0">
                <a:solidFill>
                  <a:srgbClr val="1F2A3A"/>
                </a:solidFill>
                <a:latin typeface="Arial"/>
              </a:rPr>
              <a:t>• 35–47 s : désigner les étiquettes « proposé » et « configuré ».</a:t>
            </a:r>
          </a:p>
          <a:p>
            <a:pPr>
              <a:lnSpc>
                <a:spcPct val="100000"/>
              </a:lnSpc>
              <a:spcAft>
                <a:spcPts val="100"/>
              </a:spcAft>
            </a:pPr>
            <a:r>
              <a:rPr sz="950" b="0" i="0">
                <a:solidFill>
                  <a:srgbClr val="1F2A3A"/>
                </a:solidFill>
                <a:latin typeface="Arial"/>
              </a:rPr>
              <a:t>• 47–50 s : transition vers la démonstration.</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 nobody » ?</a:t>
            </a:r>
          </a:p>
          <a:p>
            <a:pPr>
              <a:lnSpc>
                <a:spcPct val="100000"/>
              </a:lnSpc>
              <a:spcAft>
                <a:spcPts val="100"/>
              </a:spcAft>
            </a:pPr>
            <a:r>
              <a:rPr sz="950" b="0" i="0">
                <a:solidFill>
                  <a:srgbClr val="1F2A3A"/>
                </a:solidFill>
                <a:latin typeface="Arial"/>
              </a:rPr>
              <a:t>Réponse 30 s : C'est un compte non privilégié déjà présent, qui ne possède ni la base ni la clé. Nous n'avons pas créé de compte système, ce qui évite une modification supplémentaire du poste.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Le serveur peut-il écrire dans la base ?</a:t>
            </a:r>
          </a:p>
          <a:p>
            <a:pPr>
              <a:lnSpc>
                <a:spcPct val="100000"/>
              </a:lnSpc>
              <a:spcAft>
                <a:spcPts val="100"/>
              </a:spcAft>
            </a:pPr>
            <a:r>
              <a:rPr sz="950" b="0" i="0">
                <a:solidFill>
                  <a:srgbClr val="1F2A3A"/>
                </a:solidFill>
                <a:latin typeface="Arial"/>
              </a:rPr>
              <a:t>Réponse 30 s : Non : il l'ouvre en mode lecture seule et le fichier est en 0440. L'ingestion est une opération séparée, hors du service.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systemd est-il testé ?</a:t>
            </a:r>
          </a:p>
          <a:p>
            <a:pPr>
              <a:lnSpc>
                <a:spcPct val="100000"/>
              </a:lnSpc>
              <a:spcAft>
                <a:spcPts val="100"/>
              </a:spcAft>
            </a:pPr>
            <a:r>
              <a:rPr sz="950" b="0" i="0">
                <a:solidFill>
                  <a:srgbClr val="1F2A3A"/>
                </a:solidFill>
                <a:latin typeface="Arial"/>
              </a:rPr>
              <a:t>Réponse 30 s : Non : l'unité est fournie en annexe comme proposition, car WSL2 ne garantit pas systemd. Le lancement testé est le script, sous « nobody ».</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Trois droits, trois preuves : 65534, 0440, 0400.</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HMAC : « ach-mac » · systemd : « siss-tèm-dé » · WSL2 : « double vé esse el deux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1:10</a:t>
            </a:r>
          </a:p>
          <a:p>
            <a:pPr>
              <a:spcBef>
                <a:spcPts val="500"/>
              </a:spcBef>
              <a:spcAft>
                <a:spcPts val="200"/>
              </a:spcAft>
            </a:pPr>
            <a:r>
              <a:rPr sz="1000" b="1">
                <a:solidFill>
                  <a:srgbClr val="0B1F3A"/>
                </a:solidFill>
                <a:latin typeface="Arial"/>
              </a:rPr>
              <a:t>• Voici la démonstration centrale : un jeton Confidentiel tente de lire un bulletin Secret.
• Le serveur refuse avec un message générique, sans canari et sans identité de source.
• Un second jeton Secret, mais hors compartiment, est également refusé : le niveau ne suffit pas, le besoin d'en connaître non plus.
• Le journal enregistre deux motifs distincts — habilitation insuffisante et besoin non satisfait — alors que le client reçoit le même code.
• La fuite est bloquée, journalisée et visible à l'écran : c'est la promesse de protection du secret rendue observable.</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Capture réelle : deux refus, deux motifs, canari absent.</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P5 — test d'abus ; fuite tentée, bloquée et journalisée.</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 premier appel et le jeton Confidentiel.</a:t>
            </a:r>
          </a:p>
          <a:p>
            <a:pPr>
              <a:lnSpc>
                <a:spcPct val="100000"/>
              </a:lnSpc>
              <a:spcAft>
                <a:spcPts val="100"/>
              </a:spcAft>
            </a:pPr>
            <a:r>
              <a:rPr sz="950" b="0" i="0">
                <a:solidFill>
                  <a:srgbClr val="1F2A3A"/>
                </a:solidFill>
                <a:latin typeface="Arial"/>
              </a:rPr>
              <a:t>• 10–25 s : pointer le message de refus.</a:t>
            </a:r>
          </a:p>
          <a:p>
            <a:pPr>
              <a:lnSpc>
                <a:spcPct val="100000"/>
              </a:lnSpc>
              <a:spcAft>
                <a:spcPts val="100"/>
              </a:spcAft>
            </a:pPr>
            <a:r>
              <a:rPr sz="950" b="0" i="0">
                <a:solidFill>
                  <a:srgbClr val="1F2A3A"/>
                </a:solidFill>
                <a:latin typeface="Arial"/>
              </a:rPr>
              <a:t>• 25–40 s : montrer le second jeton, Secret mais hors compartiment.</a:t>
            </a:r>
          </a:p>
          <a:p>
            <a:pPr>
              <a:lnSpc>
                <a:spcPct val="100000"/>
              </a:lnSpc>
              <a:spcAft>
                <a:spcPts val="100"/>
              </a:spcAft>
            </a:pPr>
            <a:r>
              <a:rPr sz="950" b="0" i="0">
                <a:solidFill>
                  <a:srgbClr val="1F2A3A"/>
                </a:solidFill>
                <a:latin typeface="Arial"/>
              </a:rPr>
              <a:t>• 40–55 s : descendre sur les deux motifs d'audit.</a:t>
            </a:r>
          </a:p>
          <a:p>
            <a:pPr>
              <a:lnSpc>
                <a:spcPct val="100000"/>
              </a:lnSpc>
              <a:spcAft>
                <a:spcPts val="100"/>
              </a:spcAft>
            </a:pPr>
            <a:r>
              <a:rPr sz="950" b="0" i="0">
                <a:solidFill>
                  <a:srgbClr val="1F2A3A"/>
                </a:solidFill>
                <a:latin typeface="Arial"/>
              </a:rPr>
              <a:t>• 55–70 s : appuyer sur « visible à l'écran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le même message pour deux refus ?</a:t>
            </a:r>
          </a:p>
          <a:p>
            <a:pPr>
              <a:lnSpc>
                <a:spcPct val="100000"/>
              </a:lnSpc>
              <a:spcAft>
                <a:spcPts val="100"/>
              </a:spcAft>
            </a:pPr>
            <a:r>
              <a:rPr sz="950" b="0" i="0">
                <a:solidFill>
                  <a:srgbClr val="1F2A3A"/>
                </a:solidFill>
                <a:latin typeface="Arial"/>
              </a:rPr>
              <a:t>Réponse 30 s : Pour ne pas créer un oracle : le client n'apprend pas si le bulletin existe, ni quel compartiment manque. L'auditeur, lui, voit le motif exact.</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Où est la preuve ?</a:t>
            </a:r>
          </a:p>
          <a:p>
            <a:pPr>
              <a:lnSpc>
                <a:spcPct val="100000"/>
              </a:lnSpc>
              <a:spcAft>
                <a:spcPts val="100"/>
              </a:spcAft>
            </a:pPr>
            <a:r>
              <a:rPr sz="950" b="0" i="0">
                <a:solidFill>
                  <a:srgbClr val="1F2A3A"/>
                </a:solidFill>
                <a:latin typeface="Arial"/>
              </a:rPr>
              <a:t>Réponse 30 s : Dans la capture, dans le JSON de démonstration et dans le journal d'audit. Chaque refus a un code, une séquence et une empreinte.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Un jeton Secret peut-il tout lire ?</a:t>
            </a:r>
          </a:p>
          <a:p>
            <a:pPr>
              <a:lnSpc>
                <a:spcPct val="100000"/>
              </a:lnSpc>
              <a:spcAft>
                <a:spcPts val="100"/>
              </a:spcAft>
            </a:pPr>
            <a:r>
              <a:rPr sz="950" b="0" i="0">
                <a:solidFill>
                  <a:srgbClr val="1F2A3A"/>
                </a:solidFill>
                <a:latin typeface="Arial"/>
              </a:rPr>
              <a:t>Réponse 30 s : Non : il lui faut aussi le compartiment et la finalité. Le niveau 3 ouvre la classification, pas le besoin d'en connaître.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Deux refus, deux motifs, zéro canari : la protection du secret est observable.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Confidentiel : « con-fi-den-ciel » · canari : « ca-na-ri » · clearance : dire « habilitation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1:10</a:t>
            </a:r>
          </a:p>
          <a:p>
            <a:pPr>
              <a:spcBef>
                <a:spcPts val="500"/>
              </a:spcBef>
              <a:spcAft>
                <a:spcPts val="200"/>
              </a:spcAft>
            </a:pPr>
            <a:r>
              <a:rPr sz="1000" b="1">
                <a:solidFill>
                  <a:srgbClr val="0B1F3A"/>
                </a:solidFill>
                <a:latin typeface="Arial"/>
              </a:rPr>
              <a:t>• Deuxième démonstration : un bulletin partenaire contient « ignore previous instructions » et demande une exfiltration.
• Le serveur ne l'exécute pas : il neutralise l'instruction, la signale par un fanion et la livre comme une donnée inerte.
• La campagne compte 3 charges hostiles neutralisées sur 3, et zéro faux positif sur 11 contenus bénins.
• Chaque appel produit une entrée d'audit ; la chaîne SHA-256 est vérifiée en une commande.
• Le journal contient 116 entrées pour 115 appels : une entrée supplémentaire trace une erreur de protocole, sans la masquer.</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Injection neutralisée et chaîne d'audit valide.</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P5 — injection, audit, tests d'abus A10 et A14.</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0–12 s : lire la phrase hostile affichée, puis marquer le rejet.</a:t>
            </a:r>
          </a:p>
          <a:p>
            <a:pPr>
              <a:lnSpc>
                <a:spcPct val="100000"/>
              </a:lnSpc>
              <a:spcAft>
                <a:spcPts val="100"/>
              </a:spcAft>
            </a:pPr>
            <a:r>
              <a:rPr sz="950" b="0" i="0">
                <a:solidFill>
                  <a:srgbClr val="1F2A3A"/>
                </a:solidFill>
                <a:latin typeface="Arial"/>
              </a:rPr>
              <a:t>• 12–28 s : pointer « instruction_inactive » et le fanion.</a:t>
            </a:r>
          </a:p>
          <a:p>
            <a:pPr>
              <a:lnSpc>
                <a:spcPct val="100000"/>
              </a:lnSpc>
              <a:spcAft>
                <a:spcPts val="100"/>
              </a:spcAft>
            </a:pPr>
            <a:r>
              <a:rPr sz="950" b="0" i="0">
                <a:solidFill>
                  <a:srgbClr val="1F2A3A"/>
                </a:solidFill>
                <a:latin typeface="Arial"/>
              </a:rPr>
              <a:t>• 28–42 s : montrer 3 sur 3 et zéro faux positif.</a:t>
            </a:r>
          </a:p>
          <a:p>
            <a:pPr>
              <a:lnSpc>
                <a:spcPct val="100000"/>
              </a:lnSpc>
              <a:spcAft>
                <a:spcPts val="100"/>
              </a:spcAft>
            </a:pPr>
            <a:r>
              <a:rPr sz="950" b="0" i="0">
                <a:solidFill>
                  <a:srgbClr val="1F2A3A"/>
                </a:solidFill>
                <a:latin typeface="Arial"/>
              </a:rPr>
              <a:t>• 42–58 s : descendre sur la vérification de chaîne.</a:t>
            </a:r>
          </a:p>
          <a:p>
            <a:pPr>
              <a:lnSpc>
                <a:spcPct val="100000"/>
              </a:lnSpc>
              <a:spcAft>
                <a:spcPts val="100"/>
              </a:spcAft>
            </a:pPr>
            <a:r>
              <a:rPr sz="950" b="0" i="0">
                <a:solidFill>
                  <a:srgbClr val="1F2A3A"/>
                </a:solidFill>
                <a:latin typeface="Arial"/>
              </a:rPr>
              <a:t>• 58–70 s : montrer 116 entrées et la ligne « résultat : OK ».</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Pourquoi 116 et pas 115 ?</a:t>
            </a:r>
          </a:p>
          <a:p>
            <a:pPr>
              <a:lnSpc>
                <a:spcPct val="100000"/>
              </a:lnSpc>
              <a:spcAft>
                <a:spcPts val="100"/>
              </a:spcAft>
            </a:pPr>
            <a:r>
              <a:rPr sz="950" b="0" i="0">
                <a:solidFill>
                  <a:srgbClr val="1F2A3A"/>
                </a:solidFill>
                <a:latin typeface="Arial"/>
              </a:rPr>
              <a:t>Réponse 30 s : 115 appels d'outils attendus, plus une erreur de protocole mal formée que nous avons choisie de journaliser. Nous ne supprimons pas l'entrée gênante : elle prouve que le serveur trace aussi ses propres erreurs.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Peut-on réécrire le journal ?</a:t>
            </a:r>
          </a:p>
          <a:p>
            <a:pPr>
              <a:lnSpc>
                <a:spcPct val="100000"/>
              </a:lnSpc>
              <a:spcAft>
                <a:spcPts val="100"/>
              </a:spcAft>
            </a:pPr>
            <a:r>
              <a:rPr sz="950" b="0" i="0">
                <a:solidFill>
                  <a:srgbClr val="1F2A3A"/>
                </a:solidFill>
                <a:latin typeface="Arial"/>
              </a:rPr>
              <a:t>Réponse 30 s : La chaîne détecte une altération locale, car chaque entrée contient l'empreinte de la précédente. Sans ancrage externe, un attaquant qui réécrit toute la chaîne peut tromper un vérificateur local : c'est une limite nommée.</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Q3 — Un filtre par mots-clés suffit-il ?</a:t>
            </a:r>
          </a:p>
          <a:p>
            <a:pPr>
              <a:lnSpc>
                <a:spcPct val="100000"/>
              </a:lnSpc>
              <a:spcAft>
                <a:spcPts val="100"/>
              </a:spcAft>
            </a:pPr>
            <a:r>
              <a:rPr sz="950" b="0" i="0">
                <a:solidFill>
                  <a:srgbClr val="1F2A3A"/>
                </a:solidFill>
                <a:latin typeface="Arial"/>
              </a:rPr>
              <a:t>Réponse 30 s : Non : l'injection est heuristique. Nous neutralisons et signalons, mais nous ne prétendons pas couvrir toutes les formulations. Le jeu de test est limité à trois charges.</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L'instruction hostile reste une donnée : elle est neutralisée, signalée et tracée.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SHA-256 : « esse-ach-a deux cent cinquante-six » · SQLite : « esse-cu-lite » · audit : « au-di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0:55</a:t>
            </a:r>
          </a:p>
          <a:p>
            <a:pPr>
              <a:spcBef>
                <a:spcPts val="500"/>
              </a:spcBef>
              <a:spcAft>
                <a:spcPts val="200"/>
              </a:spcAft>
            </a:pPr>
            <a:r>
              <a:rPr sz="1000" b="1">
                <a:solidFill>
                  <a:srgbClr val="0B1F3A"/>
                </a:solidFill>
                <a:latin typeface="Arial"/>
              </a:rPr>
              <a:t>• La campagne finale comporte 31 scénarios : 15 nominaux ou de durcissement, 16 abus.
• Résultat : 31 sur 31, et 16 abus sur 16 maîtrisés.
• La latence p95 est de 12,42 ms sur 60 requêtes, avec audit actif, pour une cible de 50 ms.
• Une révocation est appliquée en 10 ms sur la requête suivante.
• La maquette naïve échoue 8 fois sur 8 sur les mêmes contrôles ; le serveur durci échoue 0 fois.</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Campagne complète et métriques mesurées.</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P5 — tests nominaux et abus, métriques, avant/après.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31 sur 31 et 16 sur 16.</a:t>
            </a:r>
          </a:p>
          <a:p>
            <a:pPr>
              <a:lnSpc>
                <a:spcPct val="100000"/>
              </a:lnSpc>
              <a:spcAft>
                <a:spcPts val="100"/>
              </a:spcAft>
            </a:pPr>
            <a:r>
              <a:rPr sz="950" b="0" i="0">
                <a:solidFill>
                  <a:srgbClr val="1F2A3A"/>
                </a:solidFill>
                <a:latin typeface="Arial"/>
              </a:rPr>
              <a:t>• 10–25 s : pointer p95 12,42 ms et la cible 50 ms.</a:t>
            </a:r>
          </a:p>
          <a:p>
            <a:pPr>
              <a:lnSpc>
                <a:spcPct val="100000"/>
              </a:lnSpc>
              <a:spcAft>
                <a:spcPts val="100"/>
              </a:spcAft>
            </a:pPr>
            <a:r>
              <a:rPr sz="950" b="0" i="0">
                <a:solidFill>
                  <a:srgbClr val="1F2A3A"/>
                </a:solidFill>
                <a:latin typeface="Arial"/>
              </a:rPr>
              <a:t>• 25–38 s : montrer la révocation à 10 ms.</a:t>
            </a:r>
          </a:p>
          <a:p>
            <a:pPr>
              <a:lnSpc>
                <a:spcPct val="100000"/>
              </a:lnSpc>
              <a:spcAft>
                <a:spcPts val="100"/>
              </a:spcAft>
            </a:pPr>
            <a:r>
              <a:rPr sz="950" b="0" i="0">
                <a:solidFill>
                  <a:srgbClr val="1F2A3A"/>
                </a:solidFill>
                <a:latin typeface="Arial"/>
              </a:rPr>
              <a:t>• 38–50 s : passer au 8 vers 0.</a:t>
            </a:r>
          </a:p>
          <a:p>
            <a:pPr>
              <a:lnSpc>
                <a:spcPct val="100000"/>
              </a:lnSpc>
              <a:spcAft>
                <a:spcPts val="100"/>
              </a:spcAft>
            </a:pPr>
            <a:r>
              <a:rPr sz="950" b="0" i="0">
                <a:solidFill>
                  <a:srgbClr val="1F2A3A"/>
                </a:solidFill>
                <a:latin typeface="Arial"/>
              </a:rPr>
              <a:t>• 50–55 s : transition vers les limites.</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Comment mesurez-vous p95 ?</a:t>
            </a:r>
          </a:p>
          <a:p>
            <a:pPr>
              <a:lnSpc>
                <a:spcPct val="100000"/>
              </a:lnSpc>
              <a:spcAft>
                <a:spcPts val="100"/>
              </a:spcAft>
            </a:pPr>
            <a:r>
              <a:rPr sz="950" b="0" i="0">
                <a:solidFill>
                  <a:srgbClr val="1F2A3A"/>
                </a:solidFill>
                <a:latin typeface="Arial"/>
              </a:rPr>
              <a:t>Réponse 30 s : Sur 60 appels consécutifs à deux outils, avec audit actif, dans le laboratoire. C'est une mesure locale, pas un banc de charge réseau.</a:t>
            </a:r>
          </a:p>
          <a:p>
            <a:pPr>
              <a:lnSpc>
                <a:spcPct val="100000"/>
              </a:lnSpc>
              <a:spcAft>
                <a:spcPts val="100"/>
              </a:spcAft>
            </a:pPr>
            <a:r>
              <a:rPr sz="950" b="0" i="0">
                <a:solidFill>
                  <a:srgbClr val="1F2A3A"/>
                </a:solidFill>
                <a:latin typeface="Arial"/>
              </a:rPr>
              <a:t>Confiance : moyenne.</a:t>
            </a:r>
          </a:p>
          <a:p>
            <a:pPr>
              <a:lnSpc>
                <a:spcPct val="100000"/>
              </a:lnSpc>
              <a:spcAft>
                <a:spcPts val="100"/>
              </a:spcAft>
            </a:pPr>
            <a:r>
              <a:rPr sz="950" b="0" i="0">
                <a:solidFill>
                  <a:srgbClr val="1F2A3A"/>
                </a:solidFill>
                <a:latin typeface="Arial"/>
              </a:rPr>
              <a:t>Q2 — Les tests sont-ils indépendants ?</a:t>
            </a:r>
          </a:p>
          <a:p>
            <a:pPr>
              <a:lnSpc>
                <a:spcPct val="100000"/>
              </a:lnSpc>
              <a:spcAft>
                <a:spcPts val="100"/>
              </a:spcAft>
            </a:pPr>
            <a:r>
              <a:rPr sz="950" b="0" i="0">
                <a:solidFill>
                  <a:srgbClr val="1F2A3A"/>
                </a:solidFill>
                <a:latin typeface="Arial"/>
              </a:rPr>
              <a:t>Réponse 30 s : Le laboratoire est réinitialisé, les jetons sont réémis et chaque profil est relancé. Les scénarios d'abus utilisent de vrais refus, pas des simulations.</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16 abus ?</a:t>
            </a:r>
          </a:p>
          <a:p>
            <a:pPr>
              <a:lnSpc>
                <a:spcPct val="100000"/>
              </a:lnSpc>
              <a:spcAft>
                <a:spcPts val="100"/>
              </a:spcAft>
            </a:pPr>
            <a:r>
              <a:rPr sz="950" b="0" i="0">
                <a:solidFill>
                  <a:srgbClr val="1F2A3A"/>
                </a:solidFill>
                <a:latin typeface="Arial"/>
              </a:rPr>
              <a:t>Réponse 30 s : Pour couvrir les dix risques : fuite, injection, jeton, posture, oracle, débit, audit, fichiers. Chaque abus cite l'exigence qu'il valide.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31 sur 31, 16 sur 16, 12,42 ms : la campagne est verte, et les chiffres sont dans le JSON.</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p95 : « quatre-vingt-quinzième centile » · ms : « millisecondes » · JSON : « jé-sonne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0:50</a:t>
            </a:r>
          </a:p>
          <a:p>
            <a:pPr>
              <a:spcBef>
                <a:spcPts val="500"/>
              </a:spcBef>
              <a:spcAft>
                <a:spcPts val="200"/>
              </a:spcAft>
            </a:pPr>
            <a:r>
              <a:rPr sz="1000" b="1">
                <a:solidFill>
                  <a:srgbClr val="0B1F3A"/>
                </a:solidFill>
                <a:latin typeface="Arial"/>
              </a:rPr>
              <a:t>• Nous montrons aussi ce que le projet ne prouve pas.
• L'isolation par espace de noms réseau n'est pas testée ; elle est proposée.
• L'agent EDR et le chiffrement de disque sont déclaratifs : la posture est un signal, pas une preuve.
• Le journal est local, sans ancrage externe ; HTTP, OAuth 2.1 et la charge réelle ne sont pas testés.
• Ces limites ne sont pas des défauts cachés : elles sont dans le rapport, avec la condition qui permettrait de les lever.</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8 vers 0 sur les contrôles comparés, et limites explicites.</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P5 — limites, note de synthèse, statuts honnêtes.</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0–10 s : montrer le grand 8 vers 0.</a:t>
            </a:r>
          </a:p>
          <a:p>
            <a:pPr>
              <a:lnSpc>
                <a:spcPct val="100000"/>
              </a:lnSpc>
              <a:spcAft>
                <a:spcPts val="100"/>
              </a:spcAft>
            </a:pPr>
            <a:r>
              <a:rPr sz="950" b="0" i="0">
                <a:solidFill>
                  <a:srgbClr val="1F2A3A"/>
                </a:solidFill>
                <a:latin typeface="Arial"/>
              </a:rPr>
              <a:t>• 10–25 s : balayer la liste des limites.</a:t>
            </a:r>
          </a:p>
          <a:p>
            <a:pPr>
              <a:lnSpc>
                <a:spcPct val="100000"/>
              </a:lnSpc>
              <a:spcAft>
                <a:spcPts val="100"/>
              </a:spcAft>
            </a:pPr>
            <a:r>
              <a:rPr sz="950" b="0" i="0">
                <a:solidFill>
                  <a:srgbClr val="1F2A3A"/>
                </a:solidFill>
                <a:latin typeface="Arial"/>
              </a:rPr>
              <a:t>• 25–38 s : insister sur l'ancrage externe absent.</a:t>
            </a:r>
          </a:p>
          <a:p>
            <a:pPr>
              <a:lnSpc>
                <a:spcPct val="100000"/>
              </a:lnSpc>
              <a:spcAft>
                <a:spcPts val="100"/>
              </a:spcAft>
            </a:pPr>
            <a:r>
              <a:rPr sz="950" b="0" i="0">
                <a:solidFill>
                  <a:srgbClr val="1F2A3A"/>
                </a:solidFill>
                <a:latin typeface="Arial"/>
              </a:rPr>
              <a:t>• 38–48 s : montrer les statuts proposé, configuré, testé.</a:t>
            </a:r>
          </a:p>
          <a:p>
            <a:pPr>
              <a:lnSpc>
                <a:spcPct val="100000"/>
              </a:lnSpc>
              <a:spcAft>
                <a:spcPts val="100"/>
              </a:spcAft>
            </a:pPr>
            <a:r>
              <a:rPr sz="950" b="0" i="0">
                <a:solidFill>
                  <a:srgbClr val="1F2A3A"/>
                </a:solidFill>
                <a:latin typeface="Arial"/>
              </a:rPr>
              <a:t>• 48–50 s : transition vers la conclusion.</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Votre serveur est-il prêt pour la production ?</a:t>
            </a:r>
          </a:p>
          <a:p>
            <a:pPr>
              <a:lnSpc>
                <a:spcPct val="100000"/>
              </a:lnSpc>
              <a:spcAft>
                <a:spcPts val="100"/>
              </a:spcAft>
            </a:pPr>
            <a:r>
              <a:rPr sz="950" b="0" i="0">
                <a:solidFill>
                  <a:srgbClr val="1F2A3A"/>
                </a:solidFill>
                <a:latin typeface="Arial"/>
              </a:rPr>
              <a:t>Réponse 30 s : Non, et nous ne le présentons pas comme tel. C'est un prototype de laboratoire, local, synthétique ; la production demanderait HTTP avec mTLS, OAuth 2.1, un ancrage d'audit et un agent de posture réel.</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Quelle limite est la plus grave ?</a:t>
            </a:r>
          </a:p>
          <a:p>
            <a:pPr>
              <a:lnSpc>
                <a:spcPct val="100000"/>
              </a:lnSpc>
              <a:spcAft>
                <a:spcPts val="100"/>
              </a:spcAft>
            </a:pPr>
            <a:r>
              <a:rPr sz="950" b="0" i="0">
                <a:solidFill>
                  <a:srgbClr val="1F2A3A"/>
                </a:solidFill>
                <a:latin typeface="Arial"/>
              </a:rPr>
              <a:t>Réponse 30 s : L'absence d'ancrage externe du journal : un vérificateur local peut être trompé par une réécriture complète. C'est la première brique à ajouter.</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Pourquoi montrer vos faiblesses ?</a:t>
            </a:r>
          </a:p>
          <a:p>
            <a:pPr>
              <a:lnSpc>
                <a:spcPct val="100000"/>
              </a:lnSpc>
              <a:spcAft>
                <a:spcPts val="100"/>
              </a:spcAft>
            </a:pPr>
            <a:r>
              <a:rPr sz="950" b="0" i="0">
                <a:solidFill>
                  <a:srgbClr val="1F2A3A"/>
                </a:solidFill>
                <a:latin typeface="Arial"/>
              </a:rPr>
              <a:t>Réponse 30 s : Parce qu'un jury doit pouvoir distinguer ce qui est testé de ce qui est raconté. Une limite nommée est un travail futur ; une limite cachée est un risque.</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Une limite nommée n'est pas un échec caché : c'est un travail futur priorisé.</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mTLS : « èm-té-èl-esse » · OAuth : « o-aute » · EDR : « eu-dé-èr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500"/>
              </a:spcBef>
              <a:spcAft>
                <a:spcPts val="200"/>
              </a:spcAft>
            </a:pPr>
            <a:r>
              <a:rPr sz="1000" b="1">
                <a:solidFill>
                  <a:srgbClr val="0B1F3A"/>
                </a:solidFill>
                <a:latin typeface="Arial"/>
              </a:rPr>
              <a:t>À DIRE — 0:50</a:t>
            </a:r>
          </a:p>
          <a:p>
            <a:pPr>
              <a:spcBef>
                <a:spcPts val="500"/>
              </a:spcBef>
              <a:spcAft>
                <a:spcPts val="200"/>
              </a:spcAft>
            </a:pPr>
            <a:r>
              <a:rPr sz="1000" b="1">
                <a:solidFill>
                  <a:srgbClr val="0B1F3A"/>
                </a:solidFill>
                <a:latin typeface="Arial"/>
              </a:rPr>
              <a:t>• Notre thèse était qu'un serveur MCP peut rester simple, local et honnête tout en rendant la protection du secret démontrable.
• Nous l'avons prouvé sur trois plans : la décision d'accès, l'étiquetage de sortie et la traçabilité.
• Les chiffres clés sont 31 sur 31, 16 sur 16, 12,42 ms et 8 faiblesses neutralisées sur 8.
• La suite serait un transport HTTP avec mTLS, un ancrage externe du journal et un agent de posture réel.
• Merci ; nous sommes prêts à répondre à vos questions, et le rapport contient chaque commande pour rejouer les preuves.</a:t>
            </a:r>
          </a:p>
          <a:p>
            <a:pPr>
              <a:spcBef>
                <a:spcPts val="500"/>
              </a:spcBef>
              <a:spcAft>
                <a:spcPts val="200"/>
              </a:spcAft>
            </a:pPr>
            <a:r>
              <a:rPr sz="1000" b="1">
                <a:solidFill>
                  <a:srgbClr val="0B1F3A"/>
                </a:solidFill>
                <a:latin typeface="Arial"/>
              </a:rPr>
              <a:t>CE QUE ÇA PROUVE</a:t>
            </a:r>
          </a:p>
          <a:p>
            <a:pPr>
              <a:lnSpc>
                <a:spcPct val="100000"/>
              </a:lnSpc>
              <a:spcAft>
                <a:spcPts val="100"/>
              </a:spcAft>
            </a:pPr>
            <a:r>
              <a:rPr sz="950" b="0" i="0">
                <a:solidFill>
                  <a:srgbClr val="1F2A3A"/>
                </a:solidFill>
                <a:latin typeface="Arial"/>
              </a:rPr>
              <a:t>Synthèse, contributions et perspectives.</a:t>
            </a:r>
          </a:p>
          <a:p>
            <a:pPr>
              <a:spcBef>
                <a:spcPts val="500"/>
              </a:spcBef>
              <a:spcAft>
                <a:spcPts val="200"/>
              </a:spcAft>
            </a:pPr>
            <a:r>
              <a:rPr sz="1000" b="1">
                <a:solidFill>
                  <a:srgbClr val="0B1F3A"/>
                </a:solidFill>
                <a:latin typeface="Arial"/>
              </a:rPr>
              <a:t>CLAUSE VISÉE</a:t>
            </a:r>
          </a:p>
          <a:p>
            <a:pPr>
              <a:lnSpc>
                <a:spcPct val="100000"/>
              </a:lnSpc>
              <a:spcAft>
                <a:spcPts val="100"/>
              </a:spcAft>
            </a:pPr>
            <a:r>
              <a:rPr sz="950" b="0" i="0">
                <a:solidFill>
                  <a:srgbClr val="1F2A3A"/>
                </a:solidFill>
                <a:latin typeface="Arial"/>
              </a:rPr>
              <a:t>Conclusion et note de synthèse.</a:t>
            </a:r>
          </a:p>
          <a:p>
            <a:pPr>
              <a:spcBef>
                <a:spcPts val="500"/>
              </a:spcBef>
              <a:spcAft>
                <a:spcPts val="200"/>
              </a:spcAft>
            </a:pPr>
            <a:r>
              <a:rPr sz="1000" b="1">
                <a:solidFill>
                  <a:srgbClr val="0B1F3A"/>
                </a:solidFill>
                <a:latin typeface="Arial"/>
              </a:rPr>
              <a:t>CHORÉGRAPHIE</a:t>
            </a:r>
          </a:p>
          <a:p>
            <a:pPr>
              <a:lnSpc>
                <a:spcPct val="100000"/>
              </a:lnSpc>
              <a:spcAft>
                <a:spcPts val="100"/>
              </a:spcAft>
            </a:pPr>
            <a:r>
              <a:rPr sz="950" b="0" i="0">
                <a:solidFill>
                  <a:srgbClr val="1F2A3A"/>
                </a:solidFill>
                <a:latin typeface="Arial"/>
              </a:rPr>
              <a:t>• 0–12 s : revenir à la thèse, sans lire.</a:t>
            </a:r>
          </a:p>
          <a:p>
            <a:pPr>
              <a:lnSpc>
                <a:spcPct val="100000"/>
              </a:lnSpc>
              <a:spcAft>
                <a:spcPts val="100"/>
              </a:spcAft>
            </a:pPr>
            <a:r>
              <a:rPr sz="950" b="0" i="0">
                <a:solidFill>
                  <a:srgbClr val="1F2A3A"/>
                </a:solidFill>
                <a:latin typeface="Arial"/>
              </a:rPr>
              <a:t>• 12–28 s : pointer les trois plans.</a:t>
            </a:r>
          </a:p>
          <a:p>
            <a:pPr>
              <a:lnSpc>
                <a:spcPct val="100000"/>
              </a:lnSpc>
              <a:spcAft>
                <a:spcPts val="100"/>
              </a:spcAft>
            </a:pPr>
            <a:r>
              <a:rPr sz="950" b="0" i="0">
                <a:solidFill>
                  <a:srgbClr val="1F2A3A"/>
                </a:solidFill>
                <a:latin typeface="Arial"/>
              </a:rPr>
              <a:t>• 28–42 s : montrer les quatre chiffres.</a:t>
            </a:r>
          </a:p>
          <a:p>
            <a:pPr>
              <a:lnSpc>
                <a:spcPct val="100000"/>
              </a:lnSpc>
              <a:spcAft>
                <a:spcPts val="100"/>
              </a:spcAft>
            </a:pPr>
            <a:r>
              <a:rPr sz="950" b="0" i="0">
                <a:solidFill>
                  <a:srgbClr val="1F2A3A"/>
                </a:solidFill>
                <a:latin typeface="Arial"/>
              </a:rPr>
              <a:t>• 42–50 s : ouvrir sur les perspectives puis remercier.</a:t>
            </a:r>
          </a:p>
          <a:p>
            <a:pPr>
              <a:lnSpc>
                <a:spcPct val="100000"/>
              </a:lnSpc>
              <a:spcAft>
                <a:spcPts val="100"/>
              </a:spcAft>
            </a:pPr>
            <a:r>
              <a:rPr sz="950" b="0" i="0">
                <a:solidFill>
                  <a:srgbClr val="1F2A3A"/>
                </a:solidFill>
                <a:latin typeface="Arial"/>
              </a:rPr>
              <a:t>• 50 s : laisser le silence pour les questions.</a:t>
            </a:r>
          </a:p>
          <a:p>
            <a:pPr>
              <a:spcBef>
                <a:spcPts val="500"/>
              </a:spcBef>
              <a:spcAft>
                <a:spcPts val="200"/>
              </a:spcAft>
            </a:pPr>
            <a:r>
              <a:rPr sz="1000" b="1">
                <a:solidFill>
                  <a:srgbClr val="0B1F3A"/>
                </a:solidFill>
                <a:latin typeface="Arial"/>
              </a:rPr>
              <a:t>QUESTIONS PROBABLES</a:t>
            </a:r>
          </a:p>
          <a:p>
            <a:pPr>
              <a:lnSpc>
                <a:spcPct val="100000"/>
              </a:lnSpc>
              <a:spcAft>
                <a:spcPts val="100"/>
              </a:spcAft>
            </a:pPr>
            <a:r>
              <a:rPr sz="950" b="0" i="0">
                <a:solidFill>
                  <a:srgbClr val="1F2A3A"/>
                </a:solidFill>
                <a:latin typeface="Arial"/>
              </a:rPr>
              <a:t>Q1 — Quelle est la valeur ajoutée ?</a:t>
            </a:r>
          </a:p>
          <a:p>
            <a:pPr>
              <a:lnSpc>
                <a:spcPct val="100000"/>
              </a:lnSpc>
              <a:spcAft>
                <a:spcPts val="100"/>
              </a:spcAft>
            </a:pPr>
            <a:r>
              <a:rPr sz="950" b="0" i="0">
                <a:solidFill>
                  <a:srgbClr val="1F2A3A"/>
                </a:solidFill>
                <a:latin typeface="Arial"/>
              </a:rPr>
              <a:t>Réponse 30 s : Nous n'ajoutons pas un outil de plus : nous transformons une politique de secret en comportement observable. Un refus est générique, une réponse est étiquetée, chaque décision est chaînée.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Q2 — Pourquoi deux matières dans un seul projet ?</a:t>
            </a:r>
          </a:p>
          <a:p>
            <a:pPr>
              <a:lnSpc>
                <a:spcPct val="100000"/>
              </a:lnSpc>
              <a:spcAft>
                <a:spcPts val="100"/>
              </a:spcAft>
            </a:pPr>
            <a:r>
              <a:rPr sz="950" b="0" i="0">
                <a:solidFill>
                  <a:srgbClr val="1F2A3A"/>
                </a:solidFill>
                <a:latin typeface="Arial"/>
              </a:rPr>
              <a:t>Réponse 30 s : La conception et l'exploitation ne sont pas deux projets juxtaposés : la seconde valide les choix de la première, et chaque test renvoie à une exigence.</a:t>
            </a:r>
          </a:p>
          <a:p>
            <a:pPr>
              <a:lnSpc>
                <a:spcPct val="100000"/>
              </a:lnSpc>
              <a:spcAft>
                <a:spcPts val="100"/>
              </a:spcAft>
            </a:pPr>
            <a:r>
              <a:rPr sz="950" b="0" i="0">
                <a:solidFill>
                  <a:srgbClr val="1F2A3A"/>
                </a:solidFill>
                <a:latin typeface="Arial"/>
              </a:rPr>
              <a:t>Confiance : haute.</a:t>
            </a:r>
          </a:p>
          <a:p>
            <a:pPr>
              <a:lnSpc>
                <a:spcPct val="100000"/>
              </a:lnSpc>
              <a:spcAft>
                <a:spcPts val="100"/>
              </a:spcAft>
            </a:pPr>
            <a:r>
              <a:rPr sz="950" b="0" i="0">
                <a:solidFill>
                  <a:srgbClr val="1F2A3A"/>
                </a:solidFill>
                <a:latin typeface="Arial"/>
              </a:rPr>
              <a:t>Q3 — Que feriez-vous avec plus de temps ?</a:t>
            </a:r>
          </a:p>
          <a:p>
            <a:pPr>
              <a:lnSpc>
                <a:spcPct val="100000"/>
              </a:lnSpc>
              <a:spcAft>
                <a:spcPts val="100"/>
              </a:spcAft>
            </a:pPr>
            <a:r>
              <a:rPr sz="950" b="0" i="0">
                <a:solidFill>
                  <a:srgbClr val="1F2A3A"/>
                </a:solidFill>
                <a:latin typeface="Arial"/>
              </a:rPr>
              <a:t>Réponse 30 s : Trois choses : HTTP avec mTLS, ancrage externe de l'audit et agent de posture réel. Ce sont les limites qui ont le plus d'impact.</a:t>
            </a:r>
          </a:p>
          <a:p>
            <a:pPr>
              <a:lnSpc>
                <a:spcPct val="100000"/>
              </a:lnSpc>
              <a:spcAft>
                <a:spcPts val="100"/>
              </a:spcAft>
            </a:pPr>
            <a:r>
              <a:rPr sz="950" b="0" i="0">
                <a:solidFill>
                  <a:srgbClr val="1F2A3A"/>
                </a:solidFill>
                <a:latin typeface="Arial"/>
              </a:rPr>
              <a:t>Confiance : haute.</a:t>
            </a:r>
          </a:p>
          <a:p>
            <a:pPr>
              <a:spcBef>
                <a:spcPts val="500"/>
              </a:spcBef>
              <a:spcAft>
                <a:spcPts val="200"/>
              </a:spcAft>
            </a:pPr>
            <a:r>
              <a:rPr sz="1000" b="1">
                <a:solidFill>
                  <a:srgbClr val="0B1F3A"/>
                </a:solidFill>
                <a:latin typeface="Arial"/>
              </a:rPr>
              <a:t>REPLI 30 SECONDES</a:t>
            </a:r>
          </a:p>
          <a:p>
            <a:pPr>
              <a:lnSpc>
                <a:spcPct val="100000"/>
              </a:lnSpc>
              <a:spcAft>
                <a:spcPts val="100"/>
              </a:spcAft>
            </a:pPr>
            <a:r>
              <a:rPr sz="950" b="0" i="0">
                <a:solidFill>
                  <a:srgbClr val="1F2A3A"/>
                </a:solidFill>
                <a:latin typeface="Arial"/>
              </a:rPr>
              <a:t>Une phrase : nous avons transformé une politique de secret en comportement observable.</a:t>
            </a:r>
          </a:p>
          <a:p>
            <a:pPr>
              <a:spcBef>
                <a:spcPts val="500"/>
              </a:spcBef>
              <a:spcAft>
                <a:spcPts val="200"/>
              </a:spcAft>
            </a:pPr>
            <a:r>
              <a:rPr sz="1000" b="1">
                <a:solidFill>
                  <a:srgbClr val="0B1F3A"/>
                </a:solidFill>
                <a:latin typeface="Arial"/>
              </a:rPr>
              <a:t>PRONONCIATION</a:t>
            </a:r>
          </a:p>
          <a:p>
            <a:pPr>
              <a:lnSpc>
                <a:spcPct val="100000"/>
              </a:lnSpc>
              <a:spcAft>
                <a:spcPts val="100"/>
              </a:spcAft>
            </a:pPr>
            <a:r>
              <a:rPr sz="950" b="0" i="0">
                <a:solidFill>
                  <a:srgbClr val="1F2A3A"/>
                </a:solidFill>
                <a:latin typeface="Arial"/>
              </a:rPr>
              <a:t>mTLS : « èm-té-èl-esse » · MCP : « èm-sé-pé » · audit : « au-di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1078992"/>
            <a:ext cx="64008" cy="324612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87552"/>
            <a:ext cx="7315200" cy="320040"/>
          </a:xfrm>
          <a:prstGeom prst="rect">
            <a:avLst/>
          </a:prstGeom>
          <a:noFill/>
        </p:spPr>
        <p:txBody>
          <a:bodyPr wrap="square" lIns="0" rIns="0" tIns="0" bIns="0" anchor="t">
            <a:spAutoFit/>
          </a:bodyPr>
          <a:lstStyle/>
          <a:p>
            <a:pPr algn="l">
              <a:lnSpc>
                <a:spcPct val="100000"/>
              </a:lnSpc>
              <a:spcAft>
                <a:spcPts val="0"/>
              </a:spcAft>
            </a:pPr>
            <a:r>
              <a:rPr sz="1100" b="1" i="0">
                <a:solidFill>
                  <a:srgbClr val="B8934E"/>
                </a:solidFill>
                <a:latin typeface="Arial"/>
              </a:rPr>
              <a:t>PROJET ACADÉMIQUE · SSIR · 2026–2027</a:t>
            </a:r>
          </a:p>
        </p:txBody>
      </p:sp>
      <p:sp>
        <p:nvSpPr>
          <p:cNvPr id="5" name="TextBox 4"/>
          <p:cNvSpPr txBox="1"/>
          <p:nvPr/>
        </p:nvSpPr>
        <p:spPr>
          <a:xfrm>
            <a:off x="932688" y="1344168"/>
            <a:ext cx="7772400" cy="1828800"/>
          </a:xfrm>
          <a:prstGeom prst="rect">
            <a:avLst/>
          </a:prstGeom>
          <a:noFill/>
        </p:spPr>
        <p:txBody>
          <a:bodyPr wrap="square" lIns="0" rIns="0" tIns="0" bIns="0" anchor="t">
            <a:spAutoFit/>
          </a:bodyPr>
          <a:lstStyle/>
          <a:p>
            <a:pPr algn="l">
              <a:lnSpc>
                <a:spcPct val="102000"/>
              </a:lnSpc>
              <a:spcAft>
                <a:spcPts val="0"/>
              </a:spcAft>
            </a:pPr>
            <a:r>
              <a:rPr sz="3100" b="1" i="0">
                <a:solidFill>
                  <a:srgbClr val="FFFFFF"/>
                </a:solidFill>
                <a:latin typeface="Arial"/>
              </a:rPr>
              <a:t>Serveur MCP intelligent de renseignement sur les menaces</a:t>
            </a:r>
          </a:p>
        </p:txBody>
      </p:sp>
      <p:sp>
        <p:nvSpPr>
          <p:cNvPr id="6" name="TextBox 5"/>
          <p:cNvSpPr txBox="1"/>
          <p:nvPr/>
        </p:nvSpPr>
        <p:spPr>
          <a:xfrm>
            <a:off x="932688" y="3218688"/>
            <a:ext cx="7680960" cy="685800"/>
          </a:xfrm>
          <a:prstGeom prst="rect">
            <a:avLst/>
          </a:prstGeom>
          <a:noFill/>
        </p:spPr>
        <p:txBody>
          <a:bodyPr wrap="square" lIns="0" rIns="0" tIns="0" bIns="0" anchor="t">
            <a:spAutoFit/>
          </a:bodyPr>
          <a:lstStyle/>
          <a:p>
            <a:pPr algn="l">
              <a:lnSpc>
                <a:spcPct val="100000"/>
              </a:lnSpc>
              <a:spcAft>
                <a:spcPts val="0"/>
              </a:spcAft>
            </a:pPr>
            <a:r>
              <a:rPr sz="1550" b="0" i="1">
                <a:solidFill>
                  <a:srgbClr val="B8934E"/>
                </a:solidFill>
                <a:latin typeface="Arial"/>
              </a:rPr>
              <a:t>Protection du secret, étiquetage et traçabilité de bout en bout</a:t>
            </a:r>
          </a:p>
        </p:txBody>
      </p:sp>
      <p:sp>
        <p:nvSpPr>
          <p:cNvPr id="7" name="TextBox 6"/>
          <p:cNvSpPr txBox="1"/>
          <p:nvPr/>
        </p:nvSpPr>
        <p:spPr>
          <a:xfrm>
            <a:off x="932688" y="4160520"/>
            <a:ext cx="4754880" cy="365760"/>
          </a:xfrm>
          <a:prstGeom prst="rect">
            <a:avLst/>
          </a:prstGeom>
          <a:noFill/>
        </p:spPr>
        <p:txBody>
          <a:bodyPr wrap="square" lIns="0" rIns="0" tIns="0" bIns="0" anchor="t">
            <a:spAutoFit/>
          </a:bodyPr>
          <a:lstStyle/>
          <a:p>
            <a:pPr algn="l">
              <a:lnSpc>
                <a:spcPct val="100000"/>
              </a:lnSpc>
              <a:spcAft>
                <a:spcPts val="0"/>
              </a:spcAft>
            </a:pPr>
            <a:r>
              <a:rPr sz="2000" b="1" i="0">
                <a:solidFill>
                  <a:srgbClr val="FFFFFF"/>
                </a:solidFill>
                <a:latin typeface="Arial"/>
              </a:rPr>
              <a:t>Mzabi Sirine · Khaled Ellif</a:t>
            </a:r>
          </a:p>
        </p:txBody>
      </p:sp>
      <p:sp>
        <p:nvSpPr>
          <p:cNvPr id="8" name="TextBox 7"/>
          <p:cNvSpPr txBox="1"/>
          <p:nvPr/>
        </p:nvSpPr>
        <p:spPr>
          <a:xfrm>
            <a:off x="932688" y="4572000"/>
            <a:ext cx="6949440" cy="320040"/>
          </a:xfrm>
          <a:prstGeom prst="rect">
            <a:avLst/>
          </a:prstGeom>
          <a:noFill/>
        </p:spPr>
        <p:txBody>
          <a:bodyPr wrap="square" lIns="0" rIns="0" tIns="0" bIns="0" anchor="t">
            <a:spAutoFit/>
          </a:bodyPr>
          <a:lstStyle/>
          <a:p>
            <a:pPr algn="l">
              <a:lnSpc>
                <a:spcPct val="100000"/>
              </a:lnSpc>
              <a:spcAft>
                <a:spcPts val="0"/>
              </a:spcAft>
            </a:pPr>
            <a:r>
              <a:rPr sz="1050" b="0" i="0">
                <a:solidFill>
                  <a:srgbClr val="C8D3E0"/>
                </a:solidFill>
                <a:latin typeface="Arial"/>
              </a:rPr>
              <a:t>Encadrant académique : Tarek Hdji</a:t>
            </a:r>
          </a:p>
        </p:txBody>
      </p:sp>
      <p:sp>
        <p:nvSpPr>
          <p:cNvPr id="9" name="Rounded Rectangle 8"/>
          <p:cNvSpPr/>
          <p:nvPr/>
        </p:nvSpPr>
        <p:spPr>
          <a:xfrm>
            <a:off x="932688" y="5138928"/>
            <a:ext cx="2615184" cy="402336"/>
          </a:xfrm>
          <a:prstGeom prst="roundRect">
            <a:avLst>
              <a:gd name="adj" fmla="val 18000"/>
            </a:avLst>
          </a:prstGeom>
          <a:solidFill>
            <a:srgbClr val="162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5157216"/>
            <a:ext cx="2450591" cy="365760"/>
          </a:xfrm>
          <a:prstGeom prst="rect">
            <a:avLst/>
          </a:prstGeom>
          <a:noFill/>
        </p:spPr>
        <p:txBody>
          <a:bodyPr wrap="square" lIns="0" rIns="0" tIns="0" bIns="0" anchor="ctr">
            <a:spAutoFit/>
          </a:bodyPr>
          <a:lstStyle/>
          <a:p>
            <a:pPr algn="ctr">
              <a:lnSpc>
                <a:spcPct val="100000"/>
              </a:lnSpc>
              <a:spcAft>
                <a:spcPts val="0"/>
              </a:spcAft>
            </a:pPr>
            <a:r>
              <a:rPr sz="810" b="1" i="0">
                <a:solidFill>
                  <a:srgbClr val="E6D6B2"/>
                </a:solidFill>
                <a:latin typeface="Arial"/>
              </a:rPr>
              <a:t>VALIDATION 1 · ARCHITECTURE</a:t>
            </a:r>
          </a:p>
        </p:txBody>
      </p:sp>
      <p:sp>
        <p:nvSpPr>
          <p:cNvPr id="11" name="Rounded Rectangle 10"/>
          <p:cNvSpPr/>
          <p:nvPr/>
        </p:nvSpPr>
        <p:spPr>
          <a:xfrm>
            <a:off x="3675887" y="5138928"/>
            <a:ext cx="3063240" cy="402336"/>
          </a:xfrm>
          <a:prstGeom prst="roundRect">
            <a:avLst>
              <a:gd name="adj" fmla="val 18000"/>
            </a:avLst>
          </a:prstGeom>
          <a:solidFill>
            <a:srgbClr val="162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183" y="5157216"/>
            <a:ext cx="2898648" cy="365760"/>
          </a:xfrm>
          <a:prstGeom prst="rect">
            <a:avLst/>
          </a:prstGeom>
          <a:noFill/>
        </p:spPr>
        <p:txBody>
          <a:bodyPr wrap="square" lIns="0" rIns="0" tIns="0" bIns="0" anchor="ctr">
            <a:spAutoFit/>
          </a:bodyPr>
          <a:lstStyle/>
          <a:p>
            <a:pPr algn="ctr">
              <a:lnSpc>
                <a:spcPct val="100000"/>
              </a:lnSpc>
              <a:spcAft>
                <a:spcPts val="0"/>
              </a:spcAft>
            </a:pPr>
            <a:r>
              <a:rPr sz="810" b="1" i="0">
                <a:solidFill>
                  <a:srgbClr val="E6D6B2"/>
                </a:solidFill>
                <a:latin typeface="Arial"/>
              </a:rPr>
              <a:t>VALIDATION 2 · RÉALISATION &amp; TESTS</a:t>
            </a:r>
          </a:p>
        </p:txBody>
      </p:sp>
      <p:sp>
        <p:nvSpPr>
          <p:cNvPr id="13" name="Rectangle 12"/>
          <p:cNvSpPr/>
          <p:nvPr/>
        </p:nvSpPr>
        <p:spPr>
          <a:xfrm>
            <a:off x="932688" y="5833872"/>
            <a:ext cx="10332720" cy="13716"/>
          </a:xfrm>
          <a:prstGeom prst="rect">
            <a:avLst/>
          </a:prstGeom>
          <a:solidFill>
            <a:srgbClr val="3B5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989320"/>
            <a:ext cx="8138160" cy="274320"/>
          </a:xfrm>
          <a:prstGeom prst="rect">
            <a:avLst/>
          </a:prstGeom>
          <a:noFill/>
        </p:spPr>
        <p:txBody>
          <a:bodyPr wrap="square" lIns="0" rIns="0" tIns="0" bIns="0" anchor="t">
            <a:spAutoFit/>
          </a:bodyPr>
          <a:lstStyle/>
          <a:p>
            <a:pPr algn="l">
              <a:lnSpc>
                <a:spcPct val="100000"/>
              </a:lnSpc>
              <a:spcAft>
                <a:spcPts val="0"/>
              </a:spcAft>
            </a:pPr>
            <a:r>
              <a:rPr sz="950" b="0" i="0">
                <a:solidFill>
                  <a:srgbClr val="AFBED0"/>
                </a:solidFill>
                <a:latin typeface="Arial"/>
              </a:rPr>
              <a:t>Version 1.0 — 27 octobre 2026 · données synthétiques · laboratoire hors ligne</a:t>
            </a:r>
          </a:p>
        </p:txBody>
      </p:sp>
      <p:sp>
        <p:nvSpPr>
          <p:cNvPr id="15" name="TextBox 14"/>
          <p:cNvSpPr txBox="1"/>
          <p:nvPr/>
        </p:nvSpPr>
        <p:spPr>
          <a:xfrm>
            <a:off x="8686800" y="5989320"/>
            <a:ext cx="2651760" cy="274320"/>
          </a:xfrm>
          <a:prstGeom prst="rect">
            <a:avLst/>
          </a:prstGeom>
          <a:noFill/>
        </p:spPr>
        <p:txBody>
          <a:bodyPr wrap="square" lIns="0" rIns="0" tIns="0" bIns="0" anchor="t">
            <a:spAutoFit/>
          </a:bodyPr>
          <a:lstStyle/>
          <a:p>
            <a:pPr algn="r">
              <a:lnSpc>
                <a:spcPct val="100000"/>
              </a:lnSpc>
              <a:spcAft>
                <a:spcPts val="0"/>
              </a:spcAft>
            </a:pPr>
            <a:r>
              <a:rPr sz="950" b="1" i="0">
                <a:solidFill>
                  <a:srgbClr val="B8934E"/>
                </a:solidFill>
                <a:latin typeface="Arial"/>
              </a:rPr>
              <a:t>TEK-UP · SSIR</a:t>
            </a:r>
          </a:p>
        </p:txBody>
      </p:sp>
      <p:sp>
        <p:nvSpPr>
          <p:cNvPr id="16" name="Rounded Rectangle 15"/>
          <p:cNvSpPr/>
          <p:nvPr/>
        </p:nvSpPr>
        <p:spPr>
          <a:xfrm>
            <a:off x="9372600" y="1234440"/>
            <a:ext cx="2331720" cy="13258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goTek-up_university.png"/>
          <p:cNvPicPr>
            <a:picLocks noChangeAspect="1"/>
          </p:cNvPicPr>
          <p:nvPr/>
        </p:nvPicPr>
        <p:blipFill>
          <a:blip r:embed="rId2"/>
          <a:stretch>
            <a:fillRect/>
          </a:stretch>
        </p:blipFill>
        <p:spPr>
          <a:xfrm>
            <a:off x="9436608" y="1493834"/>
            <a:ext cx="2194560" cy="807090"/>
          </a:xfrm>
          <a:prstGeom prst="rect">
            <a:avLst/>
          </a:prstGeom>
        </p:spPr>
      </p:pic>
      <p:sp>
        <p:nvSpPr>
          <p:cNvPr id="18" name="TextBox 17"/>
          <p:cNvSpPr txBox="1"/>
          <p:nvPr/>
        </p:nvSpPr>
        <p:spPr>
          <a:xfrm>
            <a:off x="9308592" y="2697480"/>
            <a:ext cx="2743200" cy="274320"/>
          </a:xfrm>
          <a:prstGeom prst="rect">
            <a:avLst/>
          </a:prstGeom>
          <a:noFill/>
        </p:spPr>
        <p:txBody>
          <a:bodyPr wrap="square" lIns="0" rIns="0" tIns="0" bIns="0" anchor="t">
            <a:spAutoFit/>
          </a:bodyPr>
          <a:lstStyle/>
          <a:p>
            <a:pPr algn="ctr">
              <a:lnSpc>
                <a:spcPct val="100000"/>
              </a:lnSpc>
              <a:spcAft>
                <a:spcPts val="0"/>
              </a:spcAft>
            </a:pPr>
            <a:r>
              <a:rPr sz="850" b="1" i="0">
                <a:solidFill>
                  <a:srgbClr val="D7C192"/>
                </a:solidFill>
                <a:latin typeface="Arial"/>
              </a:rPr>
              <a:t>UNIVERSITÉ PRIVÉE TEK-UP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P0 · PROBLÈME</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Un agent peut lire un bulletin Secret sans le divulguer</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02 / 16</a:t>
            </a:r>
          </a:p>
        </p:txBody>
      </p:sp>
      <p:sp>
        <p:nvSpPr>
          <p:cNvPr id="11" name="Rounded Rectangle 10"/>
          <p:cNvSpPr/>
          <p:nvPr/>
        </p:nvSpPr>
        <p:spPr>
          <a:xfrm>
            <a:off x="621792" y="1801368"/>
            <a:ext cx="4206240" cy="210312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965960"/>
            <a:ext cx="3749039" cy="228600"/>
          </a:xfrm>
          <a:prstGeom prst="rect">
            <a:avLst/>
          </a:prstGeom>
          <a:noFill/>
        </p:spPr>
        <p:txBody>
          <a:bodyPr wrap="square" lIns="0" rIns="0" tIns="0" bIns="0" anchor="t">
            <a:spAutoFit/>
          </a:bodyPr>
          <a:lstStyle/>
          <a:p>
            <a:pPr algn="l">
              <a:lnSpc>
                <a:spcPct val="100000"/>
              </a:lnSpc>
              <a:spcAft>
                <a:spcPts val="0"/>
              </a:spcAft>
            </a:pPr>
            <a:r>
              <a:rPr sz="900" b="1" i="0">
                <a:solidFill>
                  <a:srgbClr val="B8934E"/>
                </a:solidFill>
                <a:latin typeface="Arial"/>
              </a:rPr>
              <a:t>LA DEMANDE QUI SEMBLE ANODINE</a:t>
            </a:r>
          </a:p>
        </p:txBody>
      </p:sp>
      <p:sp>
        <p:nvSpPr>
          <p:cNvPr id="13" name="TextBox 12"/>
          <p:cNvSpPr txBox="1"/>
          <p:nvPr/>
        </p:nvSpPr>
        <p:spPr>
          <a:xfrm>
            <a:off x="850392" y="2313432"/>
            <a:ext cx="3657600" cy="640080"/>
          </a:xfrm>
          <a:prstGeom prst="rect">
            <a:avLst/>
          </a:prstGeom>
          <a:noFill/>
        </p:spPr>
        <p:txBody>
          <a:bodyPr wrap="square" lIns="0" rIns="0" tIns="0" bIns="0" anchor="t">
            <a:spAutoFit/>
          </a:bodyPr>
          <a:lstStyle/>
          <a:p>
            <a:pPr algn="l">
              <a:lnSpc>
                <a:spcPct val="100000"/>
              </a:lnSpc>
              <a:spcAft>
                <a:spcPts val="0"/>
              </a:spcAft>
            </a:pPr>
            <a:r>
              <a:rPr sz="2800" b="1" i="0">
                <a:solidFill>
                  <a:srgbClr val="0B1F3A"/>
                </a:solidFill>
                <a:latin typeface="Arial"/>
              </a:rPr>
              <a:t>« Résume</a:t>
            </a:r>
          </a:p>
          <a:p>
            <a:pPr algn="l">
              <a:lnSpc>
                <a:spcPct val="100000"/>
              </a:lnSpc>
              <a:spcAft>
                <a:spcPts val="0"/>
              </a:spcAft>
            </a:pPr>
            <a:r>
              <a:rPr sz="2800" b="1" i="0">
                <a:solidFill>
                  <a:srgbClr val="0B1F3A"/>
                </a:solidFill>
                <a:latin typeface="Arial"/>
              </a:rPr>
              <a:t>ADV-2026-004. »</a:t>
            </a:r>
          </a:p>
        </p:txBody>
      </p:sp>
      <p:sp>
        <p:nvSpPr>
          <p:cNvPr id="14" name="TextBox 13"/>
          <p:cNvSpPr txBox="1"/>
          <p:nvPr/>
        </p:nvSpPr>
        <p:spPr>
          <a:xfrm>
            <a:off x="850392" y="3483864"/>
            <a:ext cx="3657600" cy="274320"/>
          </a:xfrm>
          <a:prstGeom prst="rect">
            <a:avLst/>
          </a:prstGeom>
          <a:noFill/>
        </p:spPr>
        <p:txBody>
          <a:bodyPr wrap="square" lIns="0" rIns="0" tIns="0" bIns="0" anchor="t">
            <a:spAutoFit/>
          </a:bodyPr>
          <a:lstStyle/>
          <a:p>
            <a:pPr algn="l">
              <a:lnSpc>
                <a:spcPct val="100000"/>
              </a:lnSpc>
              <a:spcAft>
                <a:spcPts val="0"/>
              </a:spcAft>
            </a:pPr>
            <a:r>
              <a:rPr sz="1050" b="0" i="1">
                <a:solidFill>
                  <a:srgbClr val="6D7B8D"/>
                </a:solidFill>
                <a:latin typeface="Arial"/>
              </a:rPr>
              <a:t>Un seul appel. Trois secrets possibles.</a:t>
            </a:r>
          </a:p>
        </p:txBody>
      </p:sp>
      <p:sp>
        <p:nvSpPr>
          <p:cNvPr id="15" name="Rounded Rectangle 14"/>
          <p:cNvSpPr/>
          <p:nvPr/>
        </p:nvSpPr>
        <p:spPr>
          <a:xfrm>
            <a:off x="5166360" y="1801368"/>
            <a:ext cx="6382512" cy="850392"/>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66360" y="1801368"/>
            <a:ext cx="54864" cy="850392"/>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0" y="1911095"/>
            <a:ext cx="1005840" cy="237744"/>
          </a:xfrm>
          <a:prstGeom prst="rect">
            <a:avLst/>
          </a:prstGeom>
          <a:noFill/>
        </p:spPr>
        <p:txBody>
          <a:bodyPr wrap="square" lIns="0" rIns="0" tIns="0" bIns="0" anchor="t">
            <a:spAutoFit/>
          </a:bodyPr>
          <a:lstStyle/>
          <a:p>
            <a:pPr algn="l">
              <a:lnSpc>
                <a:spcPct val="100000"/>
              </a:lnSpc>
              <a:spcAft>
                <a:spcPts val="0"/>
              </a:spcAft>
            </a:pPr>
            <a:r>
              <a:rPr sz="950" b="1" i="0">
                <a:solidFill>
                  <a:srgbClr val="A63B3B"/>
                </a:solidFill>
                <a:latin typeface="Arial"/>
              </a:rPr>
              <a:t>AGENT</a:t>
            </a:r>
          </a:p>
        </p:txBody>
      </p:sp>
      <p:sp>
        <p:nvSpPr>
          <p:cNvPr id="18" name="TextBox 17"/>
          <p:cNvSpPr txBox="1"/>
          <p:nvPr/>
        </p:nvSpPr>
        <p:spPr>
          <a:xfrm>
            <a:off x="6446520" y="1911095"/>
            <a:ext cx="4892040" cy="502920"/>
          </a:xfrm>
          <a:prstGeom prst="rect">
            <a:avLst/>
          </a:prstGeom>
          <a:noFill/>
        </p:spPr>
        <p:txBody>
          <a:bodyPr wrap="square" lIns="0" rIns="0" tIns="0" bIns="0" anchor="t">
            <a:spAutoFit/>
          </a:bodyPr>
          <a:lstStyle/>
          <a:p>
            <a:pPr algn="l">
              <a:lnSpc>
                <a:spcPct val="100000"/>
              </a:lnSpc>
              <a:spcAft>
                <a:spcPts val="0"/>
              </a:spcAft>
            </a:pPr>
            <a:r>
              <a:rPr sz="1320" b="0" i="0">
                <a:solidFill>
                  <a:srgbClr val="18263A"/>
                </a:solidFill>
                <a:latin typeface="Arial"/>
              </a:rPr>
              <a:t>Il exécute la demande… et une instruction cachée.</a:t>
            </a:r>
          </a:p>
        </p:txBody>
      </p:sp>
      <p:sp>
        <p:nvSpPr>
          <p:cNvPr id="19" name="Rounded Rectangle 18"/>
          <p:cNvSpPr/>
          <p:nvPr/>
        </p:nvSpPr>
        <p:spPr>
          <a:xfrm>
            <a:off x="5166360" y="2788920"/>
            <a:ext cx="6382512" cy="850392"/>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66360" y="2788920"/>
            <a:ext cx="54864" cy="850392"/>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0" y="2898648"/>
            <a:ext cx="1005840" cy="237744"/>
          </a:xfrm>
          <a:prstGeom prst="rect">
            <a:avLst/>
          </a:prstGeom>
          <a:noFill/>
        </p:spPr>
        <p:txBody>
          <a:bodyPr wrap="square" lIns="0" rIns="0" tIns="0" bIns="0" anchor="t">
            <a:spAutoFit/>
          </a:bodyPr>
          <a:lstStyle/>
          <a:p>
            <a:pPr algn="l">
              <a:lnSpc>
                <a:spcPct val="100000"/>
              </a:lnSpc>
              <a:spcAft>
                <a:spcPts val="0"/>
              </a:spcAft>
            </a:pPr>
            <a:r>
              <a:rPr sz="950" b="1" i="0">
                <a:solidFill>
                  <a:srgbClr val="B8934E"/>
                </a:solidFill>
                <a:latin typeface="Arial"/>
              </a:rPr>
              <a:t>BULLETIN</a:t>
            </a:r>
          </a:p>
        </p:txBody>
      </p:sp>
      <p:sp>
        <p:nvSpPr>
          <p:cNvPr id="22" name="TextBox 21"/>
          <p:cNvSpPr txBox="1"/>
          <p:nvPr/>
        </p:nvSpPr>
        <p:spPr>
          <a:xfrm>
            <a:off x="6446520" y="2898648"/>
            <a:ext cx="4892040" cy="502920"/>
          </a:xfrm>
          <a:prstGeom prst="rect">
            <a:avLst/>
          </a:prstGeom>
          <a:noFill/>
        </p:spPr>
        <p:txBody>
          <a:bodyPr wrap="square" lIns="0" rIns="0" tIns="0" bIns="0" anchor="t">
            <a:spAutoFit/>
          </a:bodyPr>
          <a:lstStyle/>
          <a:p>
            <a:pPr algn="l">
              <a:lnSpc>
                <a:spcPct val="100000"/>
              </a:lnSpc>
              <a:spcAft>
                <a:spcPts val="0"/>
              </a:spcAft>
            </a:pPr>
            <a:r>
              <a:rPr sz="1320" b="0" i="0">
                <a:solidFill>
                  <a:srgbClr val="18263A"/>
                </a:solidFill>
                <a:latin typeface="Arial"/>
              </a:rPr>
              <a:t>Secret : canari de fuite + identité de source.</a:t>
            </a:r>
          </a:p>
        </p:txBody>
      </p:sp>
      <p:sp>
        <p:nvSpPr>
          <p:cNvPr id="23" name="Rounded Rectangle 22"/>
          <p:cNvSpPr/>
          <p:nvPr/>
        </p:nvSpPr>
        <p:spPr>
          <a:xfrm>
            <a:off x="5166360" y="3776472"/>
            <a:ext cx="6382512" cy="850392"/>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66360" y="3776472"/>
            <a:ext cx="54864" cy="850392"/>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86200"/>
            <a:ext cx="1005840" cy="237744"/>
          </a:xfrm>
          <a:prstGeom prst="rect">
            <a:avLst/>
          </a:prstGeom>
          <a:noFill/>
        </p:spPr>
        <p:txBody>
          <a:bodyPr wrap="square" lIns="0" rIns="0" tIns="0" bIns="0" anchor="t">
            <a:spAutoFit/>
          </a:bodyPr>
          <a:lstStyle/>
          <a:p>
            <a:pPr algn="l">
              <a:lnSpc>
                <a:spcPct val="100000"/>
              </a:lnSpc>
              <a:spcAft>
                <a:spcPts val="0"/>
              </a:spcAft>
            </a:pPr>
            <a:r>
              <a:rPr sz="950" b="1" i="0">
                <a:solidFill>
                  <a:srgbClr val="1D5B94"/>
                </a:solidFill>
                <a:latin typeface="Arial"/>
              </a:rPr>
              <a:t>RÉPONSE</a:t>
            </a:r>
          </a:p>
        </p:txBody>
      </p:sp>
      <p:sp>
        <p:nvSpPr>
          <p:cNvPr id="26" name="TextBox 25"/>
          <p:cNvSpPr txBox="1"/>
          <p:nvPr/>
        </p:nvSpPr>
        <p:spPr>
          <a:xfrm>
            <a:off x="6446520" y="3886200"/>
            <a:ext cx="4892040" cy="502920"/>
          </a:xfrm>
          <a:prstGeom prst="rect">
            <a:avLst/>
          </a:prstGeom>
          <a:noFill/>
        </p:spPr>
        <p:txBody>
          <a:bodyPr wrap="square" lIns="0" rIns="0" tIns="0" bIns="0" anchor="t">
            <a:spAutoFit/>
          </a:bodyPr>
          <a:lstStyle/>
          <a:p>
            <a:pPr algn="l">
              <a:lnSpc>
                <a:spcPct val="100000"/>
              </a:lnSpc>
              <a:spcAft>
                <a:spcPts val="0"/>
              </a:spcAft>
            </a:pPr>
            <a:r>
              <a:rPr sz="1320" b="0" i="0">
                <a:solidFill>
                  <a:srgbClr val="18263A"/>
                </a:solidFill>
                <a:latin typeface="Arial"/>
              </a:rPr>
              <a:t>Trop riche = fuite ; trop vague = agent inutile.</a:t>
            </a:r>
          </a:p>
        </p:txBody>
      </p:sp>
      <p:sp>
        <p:nvSpPr>
          <p:cNvPr id="27" name="Rounded Rectangle 26"/>
          <p:cNvSpPr/>
          <p:nvPr/>
        </p:nvSpPr>
        <p:spPr>
          <a:xfrm>
            <a:off x="621792" y="4434840"/>
            <a:ext cx="3429000" cy="14173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 y="4434840"/>
            <a:ext cx="54864" cy="1417320"/>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544568"/>
            <a:ext cx="3154680" cy="502920"/>
          </a:xfrm>
          <a:prstGeom prst="rect">
            <a:avLst/>
          </a:prstGeom>
          <a:noFill/>
        </p:spPr>
        <p:txBody>
          <a:bodyPr wrap="square" lIns="0" rIns="0" tIns="0" bIns="0" anchor="t">
            <a:spAutoFit/>
          </a:bodyPr>
          <a:lstStyle/>
          <a:p>
            <a:pPr algn="l">
              <a:lnSpc>
                <a:spcPct val="100000"/>
              </a:lnSpc>
              <a:spcAft>
                <a:spcPts val="0"/>
              </a:spcAft>
            </a:pPr>
            <a:r>
              <a:rPr sz="2600" b="1" i="0">
                <a:solidFill>
                  <a:srgbClr val="A63B3B"/>
                </a:solidFill>
                <a:latin typeface="Arial"/>
              </a:rPr>
              <a:t>4,44 M$</a:t>
            </a:r>
          </a:p>
        </p:txBody>
      </p:sp>
      <p:sp>
        <p:nvSpPr>
          <p:cNvPr id="30" name="TextBox 29"/>
          <p:cNvSpPr txBox="1"/>
          <p:nvPr/>
        </p:nvSpPr>
        <p:spPr>
          <a:xfrm>
            <a:off x="804672" y="5065775"/>
            <a:ext cx="31546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18263A"/>
                </a:solidFill>
                <a:latin typeface="Arial"/>
              </a:rPr>
              <a:t>coût moyen d'une violation</a:t>
            </a:r>
          </a:p>
        </p:txBody>
      </p:sp>
      <p:sp>
        <p:nvSpPr>
          <p:cNvPr id="31" name="TextBox 30"/>
          <p:cNvSpPr txBox="1"/>
          <p:nvPr/>
        </p:nvSpPr>
        <p:spPr>
          <a:xfrm>
            <a:off x="804672" y="5330952"/>
            <a:ext cx="3154680" cy="292608"/>
          </a:xfrm>
          <a:prstGeom prst="rect">
            <a:avLst/>
          </a:prstGeom>
          <a:noFill/>
        </p:spPr>
        <p:txBody>
          <a:bodyPr wrap="square" lIns="0" rIns="0" tIns="0" bIns="0" anchor="t">
            <a:spAutoFit/>
          </a:bodyPr>
          <a:lstStyle/>
          <a:p>
            <a:pPr algn="l">
              <a:lnSpc>
                <a:spcPct val="100000"/>
              </a:lnSpc>
              <a:spcAft>
                <a:spcPts val="0"/>
              </a:spcAft>
            </a:pPr>
            <a:r>
              <a:rPr sz="830" b="0" i="0">
                <a:solidFill>
                  <a:srgbClr val="6D7B8D"/>
                </a:solidFill>
                <a:latin typeface="Arial"/>
              </a:rPr>
              <a:t>IBM 2025</a:t>
            </a:r>
          </a:p>
        </p:txBody>
      </p:sp>
      <p:sp>
        <p:nvSpPr>
          <p:cNvPr id="32" name="Rounded Rectangle 31"/>
          <p:cNvSpPr/>
          <p:nvPr/>
        </p:nvSpPr>
        <p:spPr>
          <a:xfrm>
            <a:off x="4251960" y="4434840"/>
            <a:ext cx="3429000" cy="14173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51960" y="4434840"/>
            <a:ext cx="54864" cy="1417320"/>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34840" y="4544568"/>
            <a:ext cx="3154680" cy="502920"/>
          </a:xfrm>
          <a:prstGeom prst="rect">
            <a:avLst/>
          </a:prstGeom>
          <a:noFill/>
        </p:spPr>
        <p:txBody>
          <a:bodyPr wrap="square" lIns="0" rIns="0" tIns="0" bIns="0" anchor="t">
            <a:spAutoFit/>
          </a:bodyPr>
          <a:lstStyle/>
          <a:p>
            <a:pPr algn="l">
              <a:lnSpc>
                <a:spcPct val="100000"/>
              </a:lnSpc>
              <a:spcAft>
                <a:spcPts val="0"/>
              </a:spcAft>
            </a:pPr>
            <a:r>
              <a:rPr sz="2600" b="1" i="0">
                <a:solidFill>
                  <a:srgbClr val="1D5B94"/>
                </a:solidFill>
                <a:latin typeface="Arial"/>
              </a:rPr>
              <a:t>12 / 30 / 6</a:t>
            </a:r>
          </a:p>
        </p:txBody>
      </p:sp>
      <p:sp>
        <p:nvSpPr>
          <p:cNvPr id="35" name="TextBox 34"/>
          <p:cNvSpPr txBox="1"/>
          <p:nvPr/>
        </p:nvSpPr>
        <p:spPr>
          <a:xfrm>
            <a:off x="4434840" y="5065775"/>
            <a:ext cx="31546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18263A"/>
                </a:solidFill>
                <a:latin typeface="Arial"/>
              </a:rPr>
              <a:t>bulletins / IOC / actifs</a:t>
            </a:r>
          </a:p>
        </p:txBody>
      </p:sp>
      <p:sp>
        <p:nvSpPr>
          <p:cNvPr id="36" name="TextBox 35"/>
          <p:cNvSpPr txBox="1"/>
          <p:nvPr/>
        </p:nvSpPr>
        <p:spPr>
          <a:xfrm>
            <a:off x="4434840" y="5330952"/>
            <a:ext cx="3154680" cy="292608"/>
          </a:xfrm>
          <a:prstGeom prst="rect">
            <a:avLst/>
          </a:prstGeom>
          <a:noFill/>
        </p:spPr>
        <p:txBody>
          <a:bodyPr wrap="square" lIns="0" rIns="0" tIns="0" bIns="0" anchor="t">
            <a:spAutoFit/>
          </a:bodyPr>
          <a:lstStyle/>
          <a:p>
            <a:pPr algn="l">
              <a:lnSpc>
                <a:spcPct val="100000"/>
              </a:lnSpc>
              <a:spcAft>
                <a:spcPts val="0"/>
              </a:spcAft>
            </a:pPr>
            <a:r>
              <a:rPr sz="830" b="0" i="0">
                <a:solidFill>
                  <a:srgbClr val="6D7B8D"/>
                </a:solidFill>
                <a:latin typeface="Arial"/>
              </a:rPr>
              <a:t>jeu synthétique</a:t>
            </a:r>
          </a:p>
        </p:txBody>
      </p:sp>
      <p:sp>
        <p:nvSpPr>
          <p:cNvPr id="37" name="Rounded Rectangle 36"/>
          <p:cNvSpPr/>
          <p:nvPr/>
        </p:nvSpPr>
        <p:spPr>
          <a:xfrm>
            <a:off x="7882128" y="4434840"/>
            <a:ext cx="3429000" cy="14173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882128" y="4434840"/>
            <a:ext cx="54864" cy="1417320"/>
          </a:xfrm>
          <a:prstGeom prst="rect">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65008" y="4544568"/>
            <a:ext cx="3154680" cy="502920"/>
          </a:xfrm>
          <a:prstGeom prst="rect">
            <a:avLst/>
          </a:prstGeom>
          <a:noFill/>
        </p:spPr>
        <p:txBody>
          <a:bodyPr wrap="square" lIns="0" rIns="0" tIns="0" bIns="0" anchor="t">
            <a:spAutoFit/>
          </a:bodyPr>
          <a:lstStyle/>
          <a:p>
            <a:pPr algn="l">
              <a:lnSpc>
                <a:spcPct val="100000"/>
              </a:lnSpc>
              <a:spcAft>
                <a:spcPts val="0"/>
              </a:spcAft>
            </a:pPr>
            <a:r>
              <a:rPr sz="2600" b="1" i="0">
                <a:solidFill>
                  <a:srgbClr val="2D7A5B"/>
                </a:solidFill>
                <a:latin typeface="Arial"/>
              </a:rPr>
              <a:t>31</a:t>
            </a:r>
          </a:p>
        </p:txBody>
      </p:sp>
      <p:sp>
        <p:nvSpPr>
          <p:cNvPr id="40" name="TextBox 39"/>
          <p:cNvSpPr txBox="1"/>
          <p:nvPr/>
        </p:nvSpPr>
        <p:spPr>
          <a:xfrm>
            <a:off x="8065008" y="5065775"/>
            <a:ext cx="3154680" cy="274320"/>
          </a:xfrm>
          <a:prstGeom prst="rect">
            <a:avLst/>
          </a:prstGeom>
          <a:noFill/>
        </p:spPr>
        <p:txBody>
          <a:bodyPr wrap="square" lIns="0" rIns="0" tIns="0" bIns="0" anchor="t">
            <a:spAutoFit/>
          </a:bodyPr>
          <a:lstStyle/>
          <a:p>
            <a:pPr algn="l">
              <a:lnSpc>
                <a:spcPct val="100000"/>
              </a:lnSpc>
              <a:spcAft>
                <a:spcPts val="0"/>
              </a:spcAft>
            </a:pPr>
            <a:r>
              <a:rPr sz="1050" b="1" i="0">
                <a:solidFill>
                  <a:srgbClr val="18263A"/>
                </a:solidFill>
                <a:latin typeface="Arial"/>
              </a:rPr>
              <a:t>scénarios de campagne</a:t>
            </a:r>
          </a:p>
        </p:txBody>
      </p:sp>
      <p:sp>
        <p:nvSpPr>
          <p:cNvPr id="41" name="TextBox 40"/>
          <p:cNvSpPr txBox="1"/>
          <p:nvPr/>
        </p:nvSpPr>
        <p:spPr>
          <a:xfrm>
            <a:off x="8065008" y="5330952"/>
            <a:ext cx="3154680" cy="292608"/>
          </a:xfrm>
          <a:prstGeom prst="rect">
            <a:avLst/>
          </a:prstGeom>
          <a:noFill/>
        </p:spPr>
        <p:txBody>
          <a:bodyPr wrap="square" lIns="0" rIns="0" tIns="0" bIns="0" anchor="t">
            <a:spAutoFit/>
          </a:bodyPr>
          <a:lstStyle/>
          <a:p>
            <a:pPr algn="l">
              <a:lnSpc>
                <a:spcPct val="100000"/>
              </a:lnSpc>
              <a:spcAft>
                <a:spcPts val="0"/>
              </a:spcAft>
            </a:pPr>
            <a:r>
              <a:rPr sz="830" b="0" i="0">
                <a:solidFill>
                  <a:srgbClr val="6D7B8D"/>
                </a:solidFill>
                <a:latin typeface="Arial"/>
              </a:rPr>
              <a:t>15 nominaux + 16 abus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P0 · PÉRIMÈTRE</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Cinq objectifs mesurables, un périmètre borné</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03 / 16</a:t>
            </a:r>
          </a:p>
        </p:txBody>
      </p:sp>
      <p:sp>
        <p:nvSpPr>
          <p:cNvPr id="11" name="Rounded Rectangle 10"/>
          <p:cNvSpPr/>
          <p:nvPr/>
        </p:nvSpPr>
        <p:spPr>
          <a:xfrm>
            <a:off x="621792" y="1801368"/>
            <a:ext cx="2029968" cy="23317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38528"/>
            <a:ext cx="548640" cy="256032"/>
          </a:xfrm>
          <a:prstGeom prst="rect">
            <a:avLst/>
          </a:prstGeom>
          <a:noFill/>
        </p:spPr>
        <p:txBody>
          <a:bodyPr wrap="square" lIns="0" rIns="0" tIns="0" bIns="0" anchor="t">
            <a:spAutoFit/>
          </a:bodyPr>
          <a:lstStyle/>
          <a:p>
            <a:pPr algn="l">
              <a:lnSpc>
                <a:spcPct val="100000"/>
              </a:lnSpc>
              <a:spcAft>
                <a:spcPts val="0"/>
              </a:spcAft>
            </a:pPr>
            <a:r>
              <a:rPr sz="1100" b="1" i="0">
                <a:solidFill>
                  <a:srgbClr val="A63B3B"/>
                </a:solidFill>
                <a:latin typeface="Arial"/>
              </a:rPr>
              <a:t>O1</a:t>
            </a:r>
          </a:p>
        </p:txBody>
      </p:sp>
      <p:sp>
        <p:nvSpPr>
          <p:cNvPr id="13" name="TextBox 12"/>
          <p:cNvSpPr txBox="1"/>
          <p:nvPr/>
        </p:nvSpPr>
        <p:spPr>
          <a:xfrm>
            <a:off x="777240" y="2304288"/>
            <a:ext cx="1737360" cy="457200"/>
          </a:xfrm>
          <a:prstGeom prst="rect">
            <a:avLst/>
          </a:prstGeom>
          <a:noFill/>
        </p:spPr>
        <p:txBody>
          <a:bodyPr wrap="square" lIns="0" rIns="0" tIns="0" bIns="0" anchor="t">
            <a:spAutoFit/>
          </a:bodyPr>
          <a:lstStyle/>
          <a:p>
            <a:pPr algn="l">
              <a:lnSpc>
                <a:spcPct val="100000"/>
              </a:lnSpc>
              <a:spcAft>
                <a:spcPts val="0"/>
              </a:spcAft>
            </a:pPr>
            <a:r>
              <a:rPr sz="1750" b="1" i="0">
                <a:solidFill>
                  <a:srgbClr val="0B1F3A"/>
                </a:solidFill>
                <a:latin typeface="Arial"/>
              </a:rPr>
              <a:t>0 fuite</a:t>
            </a:r>
          </a:p>
        </p:txBody>
      </p:sp>
      <p:sp>
        <p:nvSpPr>
          <p:cNvPr id="14" name="Rectangle 13"/>
          <p:cNvSpPr/>
          <p:nvPr/>
        </p:nvSpPr>
        <p:spPr>
          <a:xfrm>
            <a:off x="777240" y="2880360"/>
            <a:ext cx="1371600" cy="16459"/>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063239"/>
            <a:ext cx="1737360" cy="502920"/>
          </a:xfrm>
          <a:prstGeom prst="rect">
            <a:avLst/>
          </a:prstGeom>
          <a:noFill/>
        </p:spPr>
        <p:txBody>
          <a:bodyPr wrap="square" lIns="0" rIns="0" tIns="0" bIns="0" anchor="t">
            <a:spAutoFit/>
          </a:bodyPr>
          <a:lstStyle/>
          <a:p>
            <a:pPr algn="l">
              <a:lnSpc>
                <a:spcPct val="100000"/>
              </a:lnSpc>
              <a:spcAft>
                <a:spcPts val="0"/>
              </a:spcAft>
            </a:pPr>
            <a:r>
              <a:rPr sz="1050" b="0" i="0">
                <a:solidFill>
                  <a:srgbClr val="6D7B8D"/>
                </a:solidFill>
                <a:latin typeface="Arial"/>
              </a:rPr>
              <a:t>16 / 16 abus</a:t>
            </a:r>
          </a:p>
        </p:txBody>
      </p:sp>
      <p:sp>
        <p:nvSpPr>
          <p:cNvPr id="16" name="Rounded Rectangle 15"/>
          <p:cNvSpPr/>
          <p:nvPr/>
        </p:nvSpPr>
        <p:spPr>
          <a:xfrm>
            <a:off x="2834640" y="1801368"/>
            <a:ext cx="2029968" cy="23317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0088" y="1938528"/>
            <a:ext cx="548640" cy="256032"/>
          </a:xfrm>
          <a:prstGeom prst="rect">
            <a:avLst/>
          </a:prstGeom>
          <a:noFill/>
        </p:spPr>
        <p:txBody>
          <a:bodyPr wrap="square" lIns="0" rIns="0" tIns="0" bIns="0" anchor="t">
            <a:spAutoFit/>
          </a:bodyPr>
          <a:lstStyle/>
          <a:p>
            <a:pPr algn="l">
              <a:lnSpc>
                <a:spcPct val="100000"/>
              </a:lnSpc>
              <a:spcAft>
                <a:spcPts val="0"/>
              </a:spcAft>
            </a:pPr>
            <a:r>
              <a:rPr sz="1100" b="1" i="0">
                <a:solidFill>
                  <a:srgbClr val="1D5B94"/>
                </a:solidFill>
                <a:latin typeface="Arial"/>
              </a:rPr>
              <a:t>O2</a:t>
            </a:r>
          </a:p>
        </p:txBody>
      </p:sp>
      <p:sp>
        <p:nvSpPr>
          <p:cNvPr id="18" name="TextBox 17"/>
          <p:cNvSpPr txBox="1"/>
          <p:nvPr/>
        </p:nvSpPr>
        <p:spPr>
          <a:xfrm>
            <a:off x="2990088" y="2304288"/>
            <a:ext cx="1737360" cy="457200"/>
          </a:xfrm>
          <a:prstGeom prst="rect">
            <a:avLst/>
          </a:prstGeom>
          <a:noFill/>
        </p:spPr>
        <p:txBody>
          <a:bodyPr wrap="square" lIns="0" rIns="0" tIns="0" bIns="0" anchor="t">
            <a:spAutoFit/>
          </a:bodyPr>
          <a:lstStyle/>
          <a:p>
            <a:pPr algn="l">
              <a:lnSpc>
                <a:spcPct val="100000"/>
              </a:lnSpc>
              <a:spcAft>
                <a:spcPts val="0"/>
              </a:spcAft>
            </a:pPr>
            <a:r>
              <a:rPr sz="1750" b="1" i="0">
                <a:solidFill>
                  <a:srgbClr val="0B1F3A"/>
                </a:solidFill>
                <a:latin typeface="Arial"/>
              </a:rPr>
              <a:t>100 % tracé</a:t>
            </a:r>
          </a:p>
        </p:txBody>
      </p:sp>
      <p:sp>
        <p:nvSpPr>
          <p:cNvPr id="19" name="Rectangle 18"/>
          <p:cNvSpPr/>
          <p:nvPr/>
        </p:nvSpPr>
        <p:spPr>
          <a:xfrm>
            <a:off x="2990088" y="2880360"/>
            <a:ext cx="1371600" cy="16459"/>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90088" y="3063239"/>
            <a:ext cx="1737360" cy="502920"/>
          </a:xfrm>
          <a:prstGeom prst="rect">
            <a:avLst/>
          </a:prstGeom>
          <a:noFill/>
        </p:spPr>
        <p:txBody>
          <a:bodyPr wrap="square" lIns="0" rIns="0" tIns="0" bIns="0" anchor="t">
            <a:spAutoFit/>
          </a:bodyPr>
          <a:lstStyle/>
          <a:p>
            <a:pPr algn="l">
              <a:lnSpc>
                <a:spcPct val="100000"/>
              </a:lnSpc>
              <a:spcAft>
                <a:spcPts val="0"/>
              </a:spcAft>
            </a:pPr>
            <a:r>
              <a:rPr sz="1050" b="0" i="0">
                <a:solidFill>
                  <a:srgbClr val="6D7B8D"/>
                </a:solidFill>
                <a:latin typeface="Arial"/>
              </a:rPr>
              <a:t>115 / 115 appels</a:t>
            </a:r>
          </a:p>
        </p:txBody>
      </p:sp>
      <p:sp>
        <p:nvSpPr>
          <p:cNvPr id="21" name="Rounded Rectangle 20"/>
          <p:cNvSpPr/>
          <p:nvPr/>
        </p:nvSpPr>
        <p:spPr>
          <a:xfrm>
            <a:off x="5047488" y="1801368"/>
            <a:ext cx="2029968" cy="23317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2936" y="1938528"/>
            <a:ext cx="548640" cy="256032"/>
          </a:xfrm>
          <a:prstGeom prst="rect">
            <a:avLst/>
          </a:prstGeom>
          <a:noFill/>
        </p:spPr>
        <p:txBody>
          <a:bodyPr wrap="square" lIns="0" rIns="0" tIns="0" bIns="0" anchor="t">
            <a:spAutoFit/>
          </a:bodyPr>
          <a:lstStyle/>
          <a:p>
            <a:pPr algn="l">
              <a:lnSpc>
                <a:spcPct val="100000"/>
              </a:lnSpc>
              <a:spcAft>
                <a:spcPts val="0"/>
              </a:spcAft>
            </a:pPr>
            <a:r>
              <a:rPr sz="1100" b="1" i="0">
                <a:solidFill>
                  <a:srgbClr val="2D7A5B"/>
                </a:solidFill>
                <a:latin typeface="Arial"/>
              </a:rPr>
              <a:t>O3</a:t>
            </a:r>
          </a:p>
        </p:txBody>
      </p:sp>
      <p:sp>
        <p:nvSpPr>
          <p:cNvPr id="23" name="TextBox 22"/>
          <p:cNvSpPr txBox="1"/>
          <p:nvPr/>
        </p:nvSpPr>
        <p:spPr>
          <a:xfrm>
            <a:off x="5202936" y="2304288"/>
            <a:ext cx="1737360" cy="457200"/>
          </a:xfrm>
          <a:prstGeom prst="rect">
            <a:avLst/>
          </a:prstGeom>
          <a:noFill/>
        </p:spPr>
        <p:txBody>
          <a:bodyPr wrap="square" lIns="0" rIns="0" tIns="0" bIns="0" anchor="t">
            <a:spAutoFit/>
          </a:bodyPr>
          <a:lstStyle/>
          <a:p>
            <a:pPr algn="l">
              <a:lnSpc>
                <a:spcPct val="100000"/>
              </a:lnSpc>
              <a:spcAft>
                <a:spcPts val="0"/>
              </a:spcAft>
            </a:pPr>
            <a:r>
              <a:rPr sz="1750" b="1" i="0">
                <a:solidFill>
                  <a:srgbClr val="0B1F3A"/>
                </a:solidFill>
                <a:latin typeface="Arial"/>
              </a:rPr>
              <a:t>3 / 3 inject.</a:t>
            </a:r>
          </a:p>
        </p:txBody>
      </p:sp>
      <p:sp>
        <p:nvSpPr>
          <p:cNvPr id="24" name="Rectangle 23"/>
          <p:cNvSpPr/>
          <p:nvPr/>
        </p:nvSpPr>
        <p:spPr>
          <a:xfrm>
            <a:off x="5202936" y="2880360"/>
            <a:ext cx="1371600" cy="16459"/>
          </a:xfrm>
          <a:prstGeom prst="rect">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02936" y="3063239"/>
            <a:ext cx="1737360" cy="502920"/>
          </a:xfrm>
          <a:prstGeom prst="rect">
            <a:avLst/>
          </a:prstGeom>
          <a:noFill/>
        </p:spPr>
        <p:txBody>
          <a:bodyPr wrap="square" lIns="0" rIns="0" tIns="0" bIns="0" anchor="t">
            <a:spAutoFit/>
          </a:bodyPr>
          <a:lstStyle/>
          <a:p>
            <a:pPr algn="l">
              <a:lnSpc>
                <a:spcPct val="100000"/>
              </a:lnSpc>
              <a:spcAft>
                <a:spcPts val="0"/>
              </a:spcAft>
            </a:pPr>
            <a:r>
              <a:rPr sz="1050" b="0" i="0">
                <a:solidFill>
                  <a:srgbClr val="6D7B8D"/>
                </a:solidFill>
                <a:latin typeface="Arial"/>
              </a:rPr>
              <a:t>0 faux positif</a:t>
            </a:r>
          </a:p>
        </p:txBody>
      </p:sp>
      <p:sp>
        <p:nvSpPr>
          <p:cNvPr id="26" name="Rounded Rectangle 25"/>
          <p:cNvSpPr/>
          <p:nvPr/>
        </p:nvSpPr>
        <p:spPr>
          <a:xfrm>
            <a:off x="7260336" y="1801368"/>
            <a:ext cx="2029968" cy="23317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15783" y="1938528"/>
            <a:ext cx="548640" cy="256032"/>
          </a:xfrm>
          <a:prstGeom prst="rect">
            <a:avLst/>
          </a:prstGeom>
          <a:noFill/>
        </p:spPr>
        <p:txBody>
          <a:bodyPr wrap="square" lIns="0" rIns="0" tIns="0" bIns="0" anchor="t">
            <a:spAutoFit/>
          </a:bodyPr>
          <a:lstStyle/>
          <a:p>
            <a:pPr algn="l">
              <a:lnSpc>
                <a:spcPct val="100000"/>
              </a:lnSpc>
              <a:spcAft>
                <a:spcPts val="0"/>
              </a:spcAft>
            </a:pPr>
            <a:r>
              <a:rPr sz="1100" b="1" i="0">
                <a:solidFill>
                  <a:srgbClr val="1D5B94"/>
                </a:solidFill>
                <a:latin typeface="Arial"/>
              </a:rPr>
              <a:t>O4</a:t>
            </a:r>
          </a:p>
        </p:txBody>
      </p:sp>
      <p:sp>
        <p:nvSpPr>
          <p:cNvPr id="28" name="TextBox 27"/>
          <p:cNvSpPr txBox="1"/>
          <p:nvPr/>
        </p:nvSpPr>
        <p:spPr>
          <a:xfrm>
            <a:off x="7415783" y="2304288"/>
            <a:ext cx="1737360" cy="457200"/>
          </a:xfrm>
          <a:prstGeom prst="rect">
            <a:avLst/>
          </a:prstGeom>
          <a:noFill/>
        </p:spPr>
        <p:txBody>
          <a:bodyPr wrap="square" lIns="0" rIns="0" tIns="0" bIns="0" anchor="t">
            <a:spAutoFit/>
          </a:bodyPr>
          <a:lstStyle/>
          <a:p>
            <a:pPr algn="l">
              <a:lnSpc>
                <a:spcPct val="100000"/>
              </a:lnSpc>
              <a:spcAft>
                <a:spcPts val="0"/>
              </a:spcAft>
            </a:pPr>
            <a:r>
              <a:rPr sz="1750" b="1" i="0">
                <a:solidFill>
                  <a:srgbClr val="0B1F3A"/>
                </a:solidFill>
                <a:latin typeface="Arial"/>
              </a:rPr>
              <a:t>p95 ≤ 50 ms</a:t>
            </a:r>
          </a:p>
        </p:txBody>
      </p:sp>
      <p:sp>
        <p:nvSpPr>
          <p:cNvPr id="29" name="Rectangle 28"/>
          <p:cNvSpPr/>
          <p:nvPr/>
        </p:nvSpPr>
        <p:spPr>
          <a:xfrm>
            <a:off x="7415783" y="2880360"/>
            <a:ext cx="1371600" cy="16459"/>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15783" y="3063239"/>
            <a:ext cx="1737360" cy="502920"/>
          </a:xfrm>
          <a:prstGeom prst="rect">
            <a:avLst/>
          </a:prstGeom>
          <a:noFill/>
        </p:spPr>
        <p:txBody>
          <a:bodyPr wrap="square" lIns="0" rIns="0" tIns="0" bIns="0" anchor="t">
            <a:spAutoFit/>
          </a:bodyPr>
          <a:lstStyle/>
          <a:p>
            <a:pPr algn="l">
              <a:lnSpc>
                <a:spcPct val="100000"/>
              </a:lnSpc>
              <a:spcAft>
                <a:spcPts val="0"/>
              </a:spcAft>
            </a:pPr>
            <a:r>
              <a:rPr sz="1050" b="0" i="0">
                <a:solidFill>
                  <a:srgbClr val="6D7B8D"/>
                </a:solidFill>
                <a:latin typeface="Arial"/>
              </a:rPr>
              <a:t>12,42 ms</a:t>
            </a:r>
          </a:p>
        </p:txBody>
      </p:sp>
      <p:sp>
        <p:nvSpPr>
          <p:cNvPr id="31" name="Rounded Rectangle 30"/>
          <p:cNvSpPr/>
          <p:nvPr/>
        </p:nvSpPr>
        <p:spPr>
          <a:xfrm>
            <a:off x="9473184" y="1801368"/>
            <a:ext cx="2029968" cy="233172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28632" y="1938528"/>
            <a:ext cx="548640" cy="256032"/>
          </a:xfrm>
          <a:prstGeom prst="rect">
            <a:avLst/>
          </a:prstGeom>
          <a:noFill/>
        </p:spPr>
        <p:txBody>
          <a:bodyPr wrap="square" lIns="0" rIns="0" tIns="0" bIns="0" anchor="t">
            <a:spAutoFit/>
          </a:bodyPr>
          <a:lstStyle/>
          <a:p>
            <a:pPr algn="l">
              <a:lnSpc>
                <a:spcPct val="100000"/>
              </a:lnSpc>
              <a:spcAft>
                <a:spcPts val="0"/>
              </a:spcAft>
            </a:pPr>
            <a:r>
              <a:rPr sz="1100" b="1" i="0">
                <a:solidFill>
                  <a:srgbClr val="B8934E"/>
                </a:solidFill>
                <a:latin typeface="Arial"/>
              </a:rPr>
              <a:t>O5</a:t>
            </a:r>
          </a:p>
        </p:txBody>
      </p:sp>
      <p:sp>
        <p:nvSpPr>
          <p:cNvPr id="33" name="TextBox 32"/>
          <p:cNvSpPr txBox="1"/>
          <p:nvPr/>
        </p:nvSpPr>
        <p:spPr>
          <a:xfrm>
            <a:off x="9628632" y="2304288"/>
            <a:ext cx="1737360" cy="457200"/>
          </a:xfrm>
          <a:prstGeom prst="rect">
            <a:avLst/>
          </a:prstGeom>
          <a:noFill/>
        </p:spPr>
        <p:txBody>
          <a:bodyPr wrap="square" lIns="0" rIns="0" tIns="0" bIns="0" anchor="t">
            <a:spAutoFit/>
          </a:bodyPr>
          <a:lstStyle/>
          <a:p>
            <a:pPr algn="l">
              <a:lnSpc>
                <a:spcPct val="100000"/>
              </a:lnSpc>
              <a:spcAft>
                <a:spcPts val="0"/>
              </a:spcAft>
            </a:pPr>
            <a:r>
              <a:rPr sz="1750" b="1" i="0">
                <a:solidFill>
                  <a:srgbClr val="0B1F3A"/>
                </a:solidFill>
                <a:latin typeface="Arial"/>
              </a:rPr>
              <a:t>≤ 5 s</a:t>
            </a:r>
          </a:p>
        </p:txBody>
      </p:sp>
      <p:sp>
        <p:nvSpPr>
          <p:cNvPr id="34" name="Rectangle 33"/>
          <p:cNvSpPr/>
          <p:nvPr/>
        </p:nvSpPr>
        <p:spPr>
          <a:xfrm>
            <a:off x="9628632" y="2880360"/>
            <a:ext cx="137160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28632" y="3063239"/>
            <a:ext cx="1737360" cy="502920"/>
          </a:xfrm>
          <a:prstGeom prst="rect">
            <a:avLst/>
          </a:prstGeom>
          <a:noFill/>
        </p:spPr>
        <p:txBody>
          <a:bodyPr wrap="square" lIns="0" rIns="0" tIns="0" bIns="0" anchor="t">
            <a:spAutoFit/>
          </a:bodyPr>
          <a:lstStyle/>
          <a:p>
            <a:pPr algn="l">
              <a:lnSpc>
                <a:spcPct val="100000"/>
              </a:lnSpc>
              <a:spcAft>
                <a:spcPts val="0"/>
              </a:spcAft>
            </a:pPr>
            <a:r>
              <a:rPr sz="1050" b="0" i="0">
                <a:solidFill>
                  <a:srgbClr val="6D7B8D"/>
                </a:solidFill>
                <a:latin typeface="Arial"/>
              </a:rPr>
              <a:t>10,0 ms · uid 65534</a:t>
            </a:r>
          </a:p>
        </p:txBody>
      </p:sp>
      <p:sp>
        <p:nvSpPr>
          <p:cNvPr id="36" name="Rounded Rectangle 35"/>
          <p:cNvSpPr/>
          <p:nvPr/>
        </p:nvSpPr>
        <p:spPr>
          <a:xfrm>
            <a:off x="621792" y="4434840"/>
            <a:ext cx="5257800" cy="1417320"/>
          </a:xfrm>
          <a:prstGeom prst="roundRect">
            <a:avLst>
              <a:gd name="adj" fmla="val 2500"/>
            </a:avLst>
          </a:prstGeom>
          <a:solidFill>
            <a:srgbClr val="E7F3ED"/>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553712"/>
            <a:ext cx="4754880" cy="228600"/>
          </a:xfrm>
          <a:prstGeom prst="rect">
            <a:avLst/>
          </a:prstGeom>
          <a:noFill/>
        </p:spPr>
        <p:txBody>
          <a:bodyPr wrap="square" lIns="0" rIns="0" tIns="0" bIns="0" anchor="t">
            <a:spAutoFit/>
          </a:bodyPr>
          <a:lstStyle/>
          <a:p>
            <a:pPr algn="l">
              <a:lnSpc>
                <a:spcPct val="100000"/>
              </a:lnSpc>
              <a:spcAft>
                <a:spcPts val="0"/>
              </a:spcAft>
            </a:pPr>
            <a:r>
              <a:rPr sz="900" b="1" i="0">
                <a:solidFill>
                  <a:srgbClr val="2D7A5B"/>
                </a:solidFill>
                <a:latin typeface="Arial"/>
              </a:rPr>
              <a:t>INCLUS DANS LA MAQUETTE</a:t>
            </a:r>
          </a:p>
        </p:txBody>
      </p:sp>
      <p:sp>
        <p:nvSpPr>
          <p:cNvPr id="38" name="TextBox 37"/>
          <p:cNvSpPr txBox="1"/>
          <p:nvPr/>
        </p:nvSpPr>
        <p:spPr>
          <a:xfrm>
            <a:off x="822960" y="4846320"/>
            <a:ext cx="4800600" cy="868680"/>
          </a:xfrm>
          <a:prstGeom prst="rect">
            <a:avLst/>
          </a:prstGeom>
          <a:noFill/>
        </p:spPr>
        <p:txBody>
          <a:bodyPr wrap="square" lIns="0" rIns="0" tIns="0" bIns="0" anchor="t">
            <a:spAutoFit/>
          </a:bodyPr>
          <a:lstStyle/>
          <a:p>
            <a:pPr algn="l">
              <a:lnSpc>
                <a:spcPct val="112000"/>
              </a:lnSpc>
              <a:spcAft>
                <a:spcPts val="0"/>
              </a:spcAft>
            </a:pPr>
            <a:r>
              <a:rPr sz="1060" b="0" i="0">
                <a:solidFill>
                  <a:srgbClr val="18263A"/>
                </a:solidFill>
                <a:latin typeface="Arial"/>
              </a:rPr>
              <a:t>stdio · 6 outils · ABAC · étiquetage · audit chaîné · « nobody » · base 0440 · clé 0400</a:t>
            </a:r>
          </a:p>
        </p:txBody>
      </p:sp>
      <p:sp>
        <p:nvSpPr>
          <p:cNvPr id="39" name="Rounded Rectangle 38"/>
          <p:cNvSpPr/>
          <p:nvPr/>
        </p:nvSpPr>
        <p:spPr>
          <a:xfrm>
            <a:off x="6144768" y="4434840"/>
            <a:ext cx="5413248" cy="1417320"/>
          </a:xfrm>
          <a:prstGeom prst="roundRect">
            <a:avLst>
              <a:gd name="adj" fmla="val 2500"/>
            </a:avLst>
          </a:prstGeom>
          <a:solidFill>
            <a:srgbClr val="F8EAEA"/>
          </a:solidFill>
          <a:ln w="10160">
            <a:solidFill>
              <a:srgbClr val="A6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5936" y="4553712"/>
            <a:ext cx="4937760" cy="228600"/>
          </a:xfrm>
          <a:prstGeom prst="rect">
            <a:avLst/>
          </a:prstGeom>
          <a:noFill/>
        </p:spPr>
        <p:txBody>
          <a:bodyPr wrap="square" lIns="0" rIns="0" tIns="0" bIns="0" anchor="t">
            <a:spAutoFit/>
          </a:bodyPr>
          <a:lstStyle/>
          <a:p>
            <a:pPr algn="l">
              <a:lnSpc>
                <a:spcPct val="100000"/>
              </a:lnSpc>
              <a:spcAft>
                <a:spcPts val="0"/>
              </a:spcAft>
            </a:pPr>
            <a:r>
              <a:rPr sz="900" b="1" i="0">
                <a:solidFill>
                  <a:srgbClr val="A63B3B"/>
                </a:solidFill>
                <a:latin typeface="Arial"/>
              </a:rPr>
              <a:t>EXCLU OU LAISSÉ À L'INTÉGRATION</a:t>
            </a:r>
          </a:p>
        </p:txBody>
      </p:sp>
      <p:sp>
        <p:nvSpPr>
          <p:cNvPr id="41" name="TextBox 40"/>
          <p:cNvSpPr txBox="1"/>
          <p:nvPr/>
        </p:nvSpPr>
        <p:spPr>
          <a:xfrm>
            <a:off x="6345936" y="4846320"/>
            <a:ext cx="4937760" cy="868680"/>
          </a:xfrm>
          <a:prstGeom prst="rect">
            <a:avLst/>
          </a:prstGeom>
          <a:noFill/>
        </p:spPr>
        <p:txBody>
          <a:bodyPr wrap="square" lIns="0" rIns="0" tIns="0" bIns="0" anchor="t">
            <a:spAutoFit/>
          </a:bodyPr>
          <a:lstStyle/>
          <a:p>
            <a:pPr algn="l">
              <a:lnSpc>
                <a:spcPct val="112000"/>
              </a:lnSpc>
              <a:spcAft>
                <a:spcPts val="0"/>
              </a:spcAft>
            </a:pPr>
            <a:r>
              <a:rPr sz="1060" b="0" i="0">
                <a:solidFill>
                  <a:srgbClr val="18263A"/>
                </a:solidFill>
                <a:latin typeface="Arial"/>
              </a:rPr>
              <a:t>HTTP · OAuth 2.1 · mTLS · EDR réel · ancrage externe du journal · données réelles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P1 · ACTIFS</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150" b="1" i="0">
                <a:solidFill>
                  <a:srgbClr val="0B1F3A"/>
                </a:solidFill>
                <a:latin typeface="Arial"/>
              </a:rPr>
              <a:t>Quatre familles d'actifs, des acteurs et une surface étroite</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04 / 16</a:t>
            </a:r>
          </a:p>
        </p:txBody>
      </p:sp>
      <p:sp>
        <p:nvSpPr>
          <p:cNvPr id="11" name="Rounded Rectangle 10"/>
          <p:cNvSpPr/>
          <p:nvPr/>
        </p:nvSpPr>
        <p:spPr>
          <a:xfrm>
            <a:off x="621792" y="1801368"/>
            <a:ext cx="3611880" cy="36118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965960"/>
            <a:ext cx="3246120" cy="256032"/>
          </a:xfrm>
          <a:prstGeom prst="rect">
            <a:avLst/>
          </a:prstGeom>
          <a:noFill/>
        </p:spPr>
        <p:txBody>
          <a:bodyPr wrap="square" lIns="0" rIns="0" tIns="0" bIns="0" anchor="t">
            <a:spAutoFit/>
          </a:bodyPr>
          <a:lstStyle/>
          <a:p>
            <a:pPr algn="l">
              <a:lnSpc>
                <a:spcPct val="100000"/>
              </a:lnSpc>
              <a:spcAft>
                <a:spcPts val="0"/>
              </a:spcAft>
            </a:pPr>
            <a:r>
              <a:rPr sz="950" b="1" i="0">
                <a:solidFill>
                  <a:srgbClr val="B8934E"/>
                </a:solidFill>
                <a:latin typeface="Arial"/>
              </a:rPr>
              <a:t>ACTIFS</a:t>
            </a:r>
          </a:p>
        </p:txBody>
      </p:sp>
      <p:sp>
        <p:nvSpPr>
          <p:cNvPr id="13" name="TextBox 12"/>
          <p:cNvSpPr txBox="1"/>
          <p:nvPr/>
        </p:nvSpPr>
        <p:spPr>
          <a:xfrm>
            <a:off x="804672" y="2240280"/>
            <a:ext cx="324612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Ce qu'on protège</a:t>
            </a:r>
          </a:p>
        </p:txBody>
      </p:sp>
      <p:sp>
        <p:nvSpPr>
          <p:cNvPr id="14" name="TextBox 13"/>
          <p:cNvSpPr txBox="1"/>
          <p:nvPr/>
        </p:nvSpPr>
        <p:spPr>
          <a:xfrm>
            <a:off x="804672" y="2670048"/>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B8934E"/>
                </a:solidFill>
                <a:latin typeface="Arial"/>
              </a:rPr>
              <a:t>●</a:t>
            </a:r>
          </a:p>
        </p:txBody>
      </p:sp>
      <p:sp>
        <p:nvSpPr>
          <p:cNvPr id="15" name="TextBox 14"/>
          <p:cNvSpPr txBox="1"/>
          <p:nvPr/>
        </p:nvSpPr>
        <p:spPr>
          <a:xfrm>
            <a:off x="1014984" y="2665476"/>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Secret</a:t>
            </a:r>
          </a:p>
        </p:txBody>
      </p:sp>
      <p:sp>
        <p:nvSpPr>
          <p:cNvPr id="16" name="TextBox 15"/>
          <p:cNvSpPr txBox="1"/>
          <p:nvPr/>
        </p:nvSpPr>
        <p:spPr>
          <a:xfrm>
            <a:off x="1014984" y="2880360"/>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source, opération CANARI</a:t>
            </a:r>
          </a:p>
        </p:txBody>
      </p:sp>
      <p:sp>
        <p:nvSpPr>
          <p:cNvPr id="17" name="TextBox 16"/>
          <p:cNvSpPr txBox="1"/>
          <p:nvPr/>
        </p:nvSpPr>
        <p:spPr>
          <a:xfrm>
            <a:off x="804672" y="3182112"/>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B8934E"/>
                </a:solidFill>
                <a:latin typeface="Arial"/>
              </a:rPr>
              <a:t>●</a:t>
            </a:r>
          </a:p>
        </p:txBody>
      </p:sp>
      <p:sp>
        <p:nvSpPr>
          <p:cNvPr id="18" name="TextBox 17"/>
          <p:cNvSpPr txBox="1"/>
          <p:nvPr/>
        </p:nvSpPr>
        <p:spPr>
          <a:xfrm>
            <a:off x="1014984" y="3177540"/>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Confidentiel</a:t>
            </a:r>
          </a:p>
        </p:txBody>
      </p:sp>
      <p:sp>
        <p:nvSpPr>
          <p:cNvPr id="19" name="TextBox 18"/>
          <p:cNvSpPr txBox="1"/>
          <p:nvPr/>
        </p:nvSpPr>
        <p:spPr>
          <a:xfrm>
            <a:off x="1014984" y="3392424"/>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vulnérabilités, actifs</a:t>
            </a:r>
          </a:p>
        </p:txBody>
      </p:sp>
      <p:sp>
        <p:nvSpPr>
          <p:cNvPr id="20" name="TextBox 19"/>
          <p:cNvSpPr txBox="1"/>
          <p:nvPr/>
        </p:nvSpPr>
        <p:spPr>
          <a:xfrm>
            <a:off x="804672" y="3694176"/>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B8934E"/>
                </a:solidFill>
                <a:latin typeface="Arial"/>
              </a:rPr>
              <a:t>●</a:t>
            </a:r>
          </a:p>
        </p:txBody>
      </p:sp>
      <p:sp>
        <p:nvSpPr>
          <p:cNvPr id="21" name="TextBox 20"/>
          <p:cNvSpPr txBox="1"/>
          <p:nvPr/>
        </p:nvSpPr>
        <p:spPr>
          <a:xfrm>
            <a:off x="1014984" y="3689604"/>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Interne</a:t>
            </a:r>
          </a:p>
        </p:txBody>
      </p:sp>
      <p:sp>
        <p:nvSpPr>
          <p:cNvPr id="22" name="TextBox 21"/>
          <p:cNvSpPr txBox="1"/>
          <p:nvPr/>
        </p:nvSpPr>
        <p:spPr>
          <a:xfrm>
            <a:off x="1014984" y="3904488"/>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indicateurs, familles</a:t>
            </a:r>
          </a:p>
        </p:txBody>
      </p:sp>
      <p:sp>
        <p:nvSpPr>
          <p:cNvPr id="23" name="TextBox 22"/>
          <p:cNvSpPr txBox="1"/>
          <p:nvPr/>
        </p:nvSpPr>
        <p:spPr>
          <a:xfrm>
            <a:off x="804672" y="4206240"/>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B8934E"/>
                </a:solidFill>
                <a:latin typeface="Arial"/>
              </a:rPr>
              <a:t>●</a:t>
            </a:r>
          </a:p>
        </p:txBody>
      </p:sp>
      <p:sp>
        <p:nvSpPr>
          <p:cNvPr id="24" name="TextBox 23"/>
          <p:cNvSpPr txBox="1"/>
          <p:nvPr/>
        </p:nvSpPr>
        <p:spPr>
          <a:xfrm>
            <a:off x="1014984" y="4201668"/>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Public</a:t>
            </a:r>
          </a:p>
        </p:txBody>
      </p:sp>
      <p:sp>
        <p:nvSpPr>
          <p:cNvPr id="25" name="TextBox 24"/>
          <p:cNvSpPr txBox="1"/>
          <p:nvPr/>
        </p:nvSpPr>
        <p:spPr>
          <a:xfrm>
            <a:off x="1014984" y="4416552"/>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bulletins de sensibilisation</a:t>
            </a:r>
          </a:p>
        </p:txBody>
      </p:sp>
      <p:sp>
        <p:nvSpPr>
          <p:cNvPr id="26" name="TextBox 25"/>
          <p:cNvSpPr txBox="1"/>
          <p:nvPr/>
        </p:nvSpPr>
        <p:spPr>
          <a:xfrm>
            <a:off x="804672" y="4718304"/>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B8934E"/>
                </a:solidFill>
                <a:latin typeface="Arial"/>
              </a:rPr>
              <a:t>●</a:t>
            </a:r>
          </a:p>
        </p:txBody>
      </p:sp>
      <p:sp>
        <p:nvSpPr>
          <p:cNvPr id="27" name="TextBox 26"/>
          <p:cNvSpPr txBox="1"/>
          <p:nvPr/>
        </p:nvSpPr>
        <p:spPr>
          <a:xfrm>
            <a:off x="1014984" y="4713732"/>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Secrets op.</a:t>
            </a:r>
          </a:p>
        </p:txBody>
      </p:sp>
      <p:sp>
        <p:nvSpPr>
          <p:cNvPr id="28" name="TextBox 27"/>
          <p:cNvSpPr txBox="1"/>
          <p:nvPr/>
        </p:nvSpPr>
        <p:spPr>
          <a:xfrm>
            <a:off x="1014984" y="4928616"/>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clé, base, journal</a:t>
            </a:r>
          </a:p>
        </p:txBody>
      </p:sp>
      <p:sp>
        <p:nvSpPr>
          <p:cNvPr id="29" name="Rounded Rectangle 28"/>
          <p:cNvSpPr/>
          <p:nvPr/>
        </p:nvSpPr>
        <p:spPr>
          <a:xfrm>
            <a:off x="4416552" y="1801368"/>
            <a:ext cx="3611880" cy="36118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9432" y="1965960"/>
            <a:ext cx="3246120" cy="256032"/>
          </a:xfrm>
          <a:prstGeom prst="rect">
            <a:avLst/>
          </a:prstGeom>
          <a:noFill/>
        </p:spPr>
        <p:txBody>
          <a:bodyPr wrap="square" lIns="0" rIns="0" tIns="0" bIns="0" anchor="t">
            <a:spAutoFit/>
          </a:bodyPr>
          <a:lstStyle/>
          <a:p>
            <a:pPr algn="l">
              <a:lnSpc>
                <a:spcPct val="100000"/>
              </a:lnSpc>
              <a:spcAft>
                <a:spcPts val="0"/>
              </a:spcAft>
            </a:pPr>
            <a:r>
              <a:rPr sz="950" b="1" i="0">
                <a:solidFill>
                  <a:srgbClr val="1D5B94"/>
                </a:solidFill>
                <a:latin typeface="Arial"/>
              </a:rPr>
              <a:t>ACTEURS</a:t>
            </a:r>
          </a:p>
        </p:txBody>
      </p:sp>
      <p:sp>
        <p:nvSpPr>
          <p:cNvPr id="31" name="TextBox 30"/>
          <p:cNvSpPr txBox="1"/>
          <p:nvPr/>
        </p:nvSpPr>
        <p:spPr>
          <a:xfrm>
            <a:off x="4599432" y="2240280"/>
            <a:ext cx="324612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Qui peut agir</a:t>
            </a:r>
          </a:p>
        </p:txBody>
      </p:sp>
      <p:sp>
        <p:nvSpPr>
          <p:cNvPr id="32" name="TextBox 31"/>
          <p:cNvSpPr txBox="1"/>
          <p:nvPr/>
        </p:nvSpPr>
        <p:spPr>
          <a:xfrm>
            <a:off x="4599432" y="2670048"/>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1D5B94"/>
                </a:solidFill>
                <a:latin typeface="Arial"/>
              </a:rPr>
              <a:t>●</a:t>
            </a:r>
          </a:p>
        </p:txBody>
      </p:sp>
      <p:sp>
        <p:nvSpPr>
          <p:cNvPr id="33" name="TextBox 32"/>
          <p:cNvSpPr txBox="1"/>
          <p:nvPr/>
        </p:nvSpPr>
        <p:spPr>
          <a:xfrm>
            <a:off x="4809744" y="2665476"/>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Analyste SOC</a:t>
            </a:r>
          </a:p>
        </p:txBody>
      </p:sp>
      <p:sp>
        <p:nvSpPr>
          <p:cNvPr id="34" name="TextBox 33"/>
          <p:cNvSpPr txBox="1"/>
          <p:nvPr/>
        </p:nvSpPr>
        <p:spPr>
          <a:xfrm>
            <a:off x="4809744" y="2880360"/>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habilitation 1–2</a:t>
            </a:r>
          </a:p>
        </p:txBody>
      </p:sp>
      <p:sp>
        <p:nvSpPr>
          <p:cNvPr id="35" name="TextBox 34"/>
          <p:cNvSpPr txBox="1"/>
          <p:nvPr/>
        </p:nvSpPr>
        <p:spPr>
          <a:xfrm>
            <a:off x="4599432" y="3182112"/>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1D5B94"/>
                </a:solidFill>
                <a:latin typeface="Arial"/>
              </a:rPr>
              <a:t>●</a:t>
            </a:r>
          </a:p>
        </p:txBody>
      </p:sp>
      <p:sp>
        <p:nvSpPr>
          <p:cNvPr id="36" name="TextBox 35"/>
          <p:cNvSpPr txBox="1"/>
          <p:nvPr/>
        </p:nvSpPr>
        <p:spPr>
          <a:xfrm>
            <a:off x="4809744" y="3177540"/>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Lead CTI</a:t>
            </a:r>
          </a:p>
        </p:txBody>
      </p:sp>
      <p:sp>
        <p:nvSpPr>
          <p:cNvPr id="37" name="TextBox 36"/>
          <p:cNvSpPr txBox="1"/>
          <p:nvPr/>
        </p:nvSpPr>
        <p:spPr>
          <a:xfrm>
            <a:off x="4809744" y="3392424"/>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habilitation 3 + compartiments</a:t>
            </a:r>
          </a:p>
        </p:txBody>
      </p:sp>
      <p:sp>
        <p:nvSpPr>
          <p:cNvPr id="38" name="TextBox 37"/>
          <p:cNvSpPr txBox="1"/>
          <p:nvPr/>
        </p:nvSpPr>
        <p:spPr>
          <a:xfrm>
            <a:off x="4599432" y="3694176"/>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1D5B94"/>
                </a:solidFill>
                <a:latin typeface="Arial"/>
              </a:rPr>
              <a:t>●</a:t>
            </a:r>
          </a:p>
        </p:txBody>
      </p:sp>
      <p:sp>
        <p:nvSpPr>
          <p:cNvPr id="39" name="TextBox 38"/>
          <p:cNvSpPr txBox="1"/>
          <p:nvPr/>
        </p:nvSpPr>
        <p:spPr>
          <a:xfrm>
            <a:off x="4809744" y="3689604"/>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Agent conversationnel</a:t>
            </a:r>
          </a:p>
        </p:txBody>
      </p:sp>
      <p:sp>
        <p:nvSpPr>
          <p:cNvPr id="40" name="TextBox 39"/>
          <p:cNvSpPr txBox="1"/>
          <p:nvPr/>
        </p:nvSpPr>
        <p:spPr>
          <a:xfrm>
            <a:off x="4809744" y="3904488"/>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légitime mais manipulable</a:t>
            </a:r>
          </a:p>
        </p:txBody>
      </p:sp>
      <p:sp>
        <p:nvSpPr>
          <p:cNvPr id="41" name="TextBox 40"/>
          <p:cNvSpPr txBox="1"/>
          <p:nvPr/>
        </p:nvSpPr>
        <p:spPr>
          <a:xfrm>
            <a:off x="4599432" y="4206240"/>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1D5B94"/>
                </a:solidFill>
                <a:latin typeface="Arial"/>
              </a:rPr>
              <a:t>●</a:t>
            </a:r>
          </a:p>
        </p:txBody>
      </p:sp>
      <p:sp>
        <p:nvSpPr>
          <p:cNvPr id="42" name="TextBox 41"/>
          <p:cNvSpPr txBox="1"/>
          <p:nvPr/>
        </p:nvSpPr>
        <p:spPr>
          <a:xfrm>
            <a:off x="4809744" y="4201668"/>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Partenaire</a:t>
            </a:r>
          </a:p>
        </p:txBody>
      </p:sp>
      <p:sp>
        <p:nvSpPr>
          <p:cNvPr id="43" name="TextBox 42"/>
          <p:cNvSpPr txBox="1"/>
          <p:nvPr/>
        </p:nvSpPr>
        <p:spPr>
          <a:xfrm>
            <a:off x="4809744" y="4416552"/>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fournit, ne commande pas</a:t>
            </a:r>
          </a:p>
        </p:txBody>
      </p:sp>
      <p:sp>
        <p:nvSpPr>
          <p:cNvPr id="44" name="TextBox 43"/>
          <p:cNvSpPr txBox="1"/>
          <p:nvPr/>
        </p:nvSpPr>
        <p:spPr>
          <a:xfrm>
            <a:off x="4599432" y="4718304"/>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1D5B94"/>
                </a:solidFill>
                <a:latin typeface="Arial"/>
              </a:rPr>
              <a:t>●</a:t>
            </a:r>
          </a:p>
        </p:txBody>
      </p:sp>
      <p:sp>
        <p:nvSpPr>
          <p:cNvPr id="45" name="TextBox 44"/>
          <p:cNvSpPr txBox="1"/>
          <p:nvPr/>
        </p:nvSpPr>
        <p:spPr>
          <a:xfrm>
            <a:off x="4809744" y="4713732"/>
            <a:ext cx="30632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Attaquant</a:t>
            </a:r>
          </a:p>
        </p:txBody>
      </p:sp>
      <p:sp>
        <p:nvSpPr>
          <p:cNvPr id="46" name="TextBox 45"/>
          <p:cNvSpPr txBox="1"/>
          <p:nvPr/>
        </p:nvSpPr>
        <p:spPr>
          <a:xfrm>
            <a:off x="4809744" y="4928616"/>
            <a:ext cx="30632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jeton, flux, poste</a:t>
            </a:r>
          </a:p>
        </p:txBody>
      </p:sp>
      <p:sp>
        <p:nvSpPr>
          <p:cNvPr id="47" name="Rounded Rectangle 46"/>
          <p:cNvSpPr/>
          <p:nvPr/>
        </p:nvSpPr>
        <p:spPr>
          <a:xfrm>
            <a:off x="8211312" y="1801368"/>
            <a:ext cx="3383280" cy="36118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94192" y="1965960"/>
            <a:ext cx="3017520" cy="256032"/>
          </a:xfrm>
          <a:prstGeom prst="rect">
            <a:avLst/>
          </a:prstGeom>
          <a:noFill/>
        </p:spPr>
        <p:txBody>
          <a:bodyPr wrap="square" lIns="0" rIns="0" tIns="0" bIns="0" anchor="t">
            <a:spAutoFit/>
          </a:bodyPr>
          <a:lstStyle/>
          <a:p>
            <a:pPr algn="l">
              <a:lnSpc>
                <a:spcPct val="100000"/>
              </a:lnSpc>
              <a:spcAft>
                <a:spcPts val="0"/>
              </a:spcAft>
            </a:pPr>
            <a:r>
              <a:rPr sz="950" b="1" i="0">
                <a:solidFill>
                  <a:srgbClr val="A63B3B"/>
                </a:solidFill>
                <a:latin typeface="Arial"/>
              </a:rPr>
              <a:t>SURFACE</a:t>
            </a:r>
          </a:p>
        </p:txBody>
      </p:sp>
      <p:sp>
        <p:nvSpPr>
          <p:cNvPr id="49" name="TextBox 48"/>
          <p:cNvSpPr txBox="1"/>
          <p:nvPr/>
        </p:nvSpPr>
        <p:spPr>
          <a:xfrm>
            <a:off x="8394192" y="2240280"/>
            <a:ext cx="301752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Où l'on peut frapper</a:t>
            </a:r>
          </a:p>
        </p:txBody>
      </p:sp>
      <p:sp>
        <p:nvSpPr>
          <p:cNvPr id="50" name="TextBox 49"/>
          <p:cNvSpPr txBox="1"/>
          <p:nvPr/>
        </p:nvSpPr>
        <p:spPr>
          <a:xfrm>
            <a:off x="8394192" y="2670048"/>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A63B3B"/>
                </a:solidFill>
                <a:latin typeface="Arial"/>
              </a:rPr>
              <a:t>●</a:t>
            </a:r>
          </a:p>
        </p:txBody>
      </p:sp>
      <p:sp>
        <p:nvSpPr>
          <p:cNvPr id="51" name="TextBox 50"/>
          <p:cNvSpPr txBox="1"/>
          <p:nvPr/>
        </p:nvSpPr>
        <p:spPr>
          <a:xfrm>
            <a:off x="8604504" y="2665476"/>
            <a:ext cx="28346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stdio</a:t>
            </a:r>
          </a:p>
        </p:txBody>
      </p:sp>
      <p:sp>
        <p:nvSpPr>
          <p:cNvPr id="52" name="TextBox 51"/>
          <p:cNvSpPr txBox="1"/>
          <p:nvPr/>
        </p:nvSpPr>
        <p:spPr>
          <a:xfrm>
            <a:off x="8604504" y="2880360"/>
            <a:ext cx="28346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canal local</a:t>
            </a:r>
          </a:p>
        </p:txBody>
      </p:sp>
      <p:sp>
        <p:nvSpPr>
          <p:cNvPr id="53" name="TextBox 52"/>
          <p:cNvSpPr txBox="1"/>
          <p:nvPr/>
        </p:nvSpPr>
        <p:spPr>
          <a:xfrm>
            <a:off x="8394192" y="3182112"/>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A63B3B"/>
                </a:solidFill>
                <a:latin typeface="Arial"/>
              </a:rPr>
              <a:t>●</a:t>
            </a:r>
          </a:p>
        </p:txBody>
      </p:sp>
      <p:sp>
        <p:nvSpPr>
          <p:cNvPr id="54" name="TextBox 53"/>
          <p:cNvSpPr txBox="1"/>
          <p:nvPr/>
        </p:nvSpPr>
        <p:spPr>
          <a:xfrm>
            <a:off x="8604504" y="3177540"/>
            <a:ext cx="28346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6 outils</a:t>
            </a:r>
          </a:p>
        </p:txBody>
      </p:sp>
      <p:sp>
        <p:nvSpPr>
          <p:cNvPr id="55" name="TextBox 54"/>
          <p:cNvSpPr txBox="1"/>
          <p:nvPr/>
        </p:nvSpPr>
        <p:spPr>
          <a:xfrm>
            <a:off x="8604504" y="3392424"/>
            <a:ext cx="28346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schémas stricts</a:t>
            </a:r>
          </a:p>
        </p:txBody>
      </p:sp>
      <p:sp>
        <p:nvSpPr>
          <p:cNvPr id="56" name="TextBox 55"/>
          <p:cNvSpPr txBox="1"/>
          <p:nvPr/>
        </p:nvSpPr>
        <p:spPr>
          <a:xfrm>
            <a:off x="8394192" y="3694176"/>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A63B3B"/>
                </a:solidFill>
                <a:latin typeface="Arial"/>
              </a:rPr>
              <a:t>●</a:t>
            </a:r>
          </a:p>
        </p:txBody>
      </p:sp>
      <p:sp>
        <p:nvSpPr>
          <p:cNvPr id="57" name="TextBox 56"/>
          <p:cNvSpPr txBox="1"/>
          <p:nvPr/>
        </p:nvSpPr>
        <p:spPr>
          <a:xfrm>
            <a:off x="8604504" y="3689604"/>
            <a:ext cx="28346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Ressources</a:t>
            </a:r>
          </a:p>
        </p:txBody>
      </p:sp>
      <p:sp>
        <p:nvSpPr>
          <p:cNvPr id="58" name="TextBox 57"/>
          <p:cNvSpPr txBox="1"/>
          <p:nvPr/>
        </p:nvSpPr>
        <p:spPr>
          <a:xfrm>
            <a:off x="8604504" y="3904488"/>
            <a:ext cx="28346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URI filtrées</a:t>
            </a:r>
          </a:p>
        </p:txBody>
      </p:sp>
      <p:sp>
        <p:nvSpPr>
          <p:cNvPr id="59" name="TextBox 58"/>
          <p:cNvSpPr txBox="1"/>
          <p:nvPr/>
        </p:nvSpPr>
        <p:spPr>
          <a:xfrm>
            <a:off x="8394192" y="4206240"/>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A63B3B"/>
                </a:solidFill>
                <a:latin typeface="Arial"/>
              </a:rPr>
              <a:t>●</a:t>
            </a:r>
          </a:p>
        </p:txBody>
      </p:sp>
      <p:sp>
        <p:nvSpPr>
          <p:cNvPr id="60" name="TextBox 59"/>
          <p:cNvSpPr txBox="1"/>
          <p:nvPr/>
        </p:nvSpPr>
        <p:spPr>
          <a:xfrm>
            <a:off x="8604504" y="4201668"/>
            <a:ext cx="28346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Contenu importé</a:t>
            </a:r>
          </a:p>
        </p:txBody>
      </p:sp>
      <p:sp>
        <p:nvSpPr>
          <p:cNvPr id="61" name="TextBox 60"/>
          <p:cNvSpPr txBox="1"/>
          <p:nvPr/>
        </p:nvSpPr>
        <p:spPr>
          <a:xfrm>
            <a:off x="8604504" y="4416552"/>
            <a:ext cx="28346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injection, poison</a:t>
            </a:r>
          </a:p>
        </p:txBody>
      </p:sp>
      <p:sp>
        <p:nvSpPr>
          <p:cNvPr id="62" name="TextBox 61"/>
          <p:cNvSpPr txBox="1"/>
          <p:nvPr/>
        </p:nvSpPr>
        <p:spPr>
          <a:xfrm>
            <a:off x="8394192" y="4718304"/>
            <a:ext cx="228600" cy="228600"/>
          </a:xfrm>
          <a:prstGeom prst="rect">
            <a:avLst/>
          </a:prstGeom>
          <a:noFill/>
        </p:spPr>
        <p:txBody>
          <a:bodyPr wrap="square" lIns="0" rIns="0" tIns="0" bIns="0" anchor="t">
            <a:spAutoFit/>
          </a:bodyPr>
          <a:lstStyle/>
          <a:p>
            <a:pPr algn="l">
              <a:lnSpc>
                <a:spcPct val="100000"/>
              </a:lnSpc>
              <a:spcAft>
                <a:spcPts val="0"/>
              </a:spcAft>
            </a:pPr>
            <a:r>
              <a:rPr sz="750" b="0" i="0">
                <a:solidFill>
                  <a:srgbClr val="A63B3B"/>
                </a:solidFill>
                <a:latin typeface="Arial"/>
              </a:rPr>
              <a:t>●</a:t>
            </a:r>
          </a:p>
        </p:txBody>
      </p:sp>
      <p:sp>
        <p:nvSpPr>
          <p:cNvPr id="63" name="TextBox 62"/>
          <p:cNvSpPr txBox="1"/>
          <p:nvPr/>
        </p:nvSpPr>
        <p:spPr>
          <a:xfrm>
            <a:off x="8604504" y="4713732"/>
            <a:ext cx="2834640" cy="219456"/>
          </a:xfrm>
          <a:prstGeom prst="rect">
            <a:avLst/>
          </a:prstGeom>
          <a:noFill/>
        </p:spPr>
        <p:txBody>
          <a:bodyPr wrap="square" lIns="0" rIns="0" tIns="0" bIns="0" anchor="t">
            <a:spAutoFit/>
          </a:bodyPr>
          <a:lstStyle/>
          <a:p>
            <a:pPr algn="l">
              <a:lnSpc>
                <a:spcPct val="100000"/>
              </a:lnSpc>
              <a:spcAft>
                <a:spcPts val="0"/>
              </a:spcAft>
            </a:pPr>
            <a:r>
              <a:rPr sz="1030" b="1" i="0">
                <a:solidFill>
                  <a:srgbClr val="18263A"/>
                </a:solidFill>
                <a:latin typeface="Arial"/>
              </a:rPr>
              <a:t>Fichiers</a:t>
            </a:r>
          </a:p>
        </p:txBody>
      </p:sp>
      <p:sp>
        <p:nvSpPr>
          <p:cNvPr id="64" name="TextBox 63"/>
          <p:cNvSpPr txBox="1"/>
          <p:nvPr/>
        </p:nvSpPr>
        <p:spPr>
          <a:xfrm>
            <a:off x="8604504" y="4928616"/>
            <a:ext cx="2834640" cy="320040"/>
          </a:xfrm>
          <a:prstGeom prst="rect">
            <a:avLst/>
          </a:prstGeom>
          <a:noFill/>
        </p:spPr>
        <p:txBody>
          <a:bodyPr wrap="square" lIns="0" rIns="0" tIns="0" bIns="0" anchor="t">
            <a:spAutoFit/>
          </a:bodyPr>
          <a:lstStyle/>
          <a:p>
            <a:pPr algn="l">
              <a:lnSpc>
                <a:spcPct val="100000"/>
              </a:lnSpc>
              <a:spcAft>
                <a:spcPts val="0"/>
              </a:spcAft>
            </a:pPr>
            <a:r>
              <a:rPr sz="880" b="0" i="0">
                <a:solidFill>
                  <a:srgbClr val="6D7B8D"/>
                </a:solidFill>
                <a:latin typeface="Arial"/>
              </a:rPr>
              <a:t>clé, base, journal</a:t>
            </a:r>
          </a:p>
        </p:txBody>
      </p:sp>
      <p:sp>
        <p:nvSpPr>
          <p:cNvPr id="65" name="Rounded Rectangle 64"/>
          <p:cNvSpPr/>
          <p:nvPr/>
        </p:nvSpPr>
        <p:spPr>
          <a:xfrm>
            <a:off x="621792" y="5596128"/>
            <a:ext cx="10927080" cy="621792"/>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2960" y="5687568"/>
            <a:ext cx="10515600" cy="411480"/>
          </a:xfrm>
          <a:prstGeom prst="rect">
            <a:avLst/>
          </a:prstGeom>
          <a:noFill/>
        </p:spPr>
        <p:txBody>
          <a:bodyPr wrap="square" lIns="0" rIns="0" tIns="0" bIns="0" anchor="t">
            <a:spAutoFit/>
          </a:bodyPr>
          <a:lstStyle/>
          <a:p>
            <a:pPr algn="l">
              <a:lnSpc>
                <a:spcPct val="100000"/>
              </a:lnSpc>
              <a:spcAft>
                <a:spcPts val="0"/>
              </a:spcAft>
            </a:pPr>
            <a:r>
              <a:rPr sz="1120" b="1" i="0">
                <a:solidFill>
                  <a:srgbClr val="0B1F3A"/>
                </a:solidFill>
                <a:latin typeface="Arial"/>
              </a:rPr>
              <a:t>L'agent est légitime, mais il exécute aussi une instruction cachée : le serveur ne traite jamais le contenu comme une commande.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P1 · RISQUES</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600" b="1" i="0">
                <a:solidFill>
                  <a:srgbClr val="0B1F3A"/>
                </a:solidFill>
                <a:latin typeface="Arial"/>
              </a:rPr>
              <a:t>Dix risques cotés, deux priorité absolue</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05 / 16</a:t>
            </a:r>
          </a:p>
        </p:txBody>
      </p:sp>
      <p:pic>
        <p:nvPicPr>
          <p:cNvPr id="11" name="Picture 10" descr="fig_matrice_risques.png"/>
          <p:cNvPicPr>
            <a:picLocks noChangeAspect="1"/>
          </p:cNvPicPr>
          <p:nvPr/>
        </p:nvPicPr>
        <p:blipFill>
          <a:blip r:embed="rId2"/>
          <a:stretch>
            <a:fillRect/>
          </a:stretch>
        </p:blipFill>
        <p:spPr>
          <a:xfrm>
            <a:off x="447534" y="1801368"/>
            <a:ext cx="7288810" cy="4315968"/>
          </a:xfrm>
          <a:prstGeom prst="rect">
            <a:avLst/>
          </a:prstGeom>
        </p:spPr>
      </p:pic>
      <p:sp>
        <p:nvSpPr>
          <p:cNvPr id="12" name="TextBox 11"/>
          <p:cNvSpPr txBox="1"/>
          <p:nvPr/>
        </p:nvSpPr>
        <p:spPr>
          <a:xfrm>
            <a:off x="502920" y="6172200"/>
            <a:ext cx="722376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modèle de menace du projet — scores argumentés, pas des mesures statistiques.</a:t>
            </a:r>
          </a:p>
        </p:txBody>
      </p:sp>
      <p:sp>
        <p:nvSpPr>
          <p:cNvPr id="13" name="Rounded Rectangle 12"/>
          <p:cNvSpPr/>
          <p:nvPr/>
        </p:nvSpPr>
        <p:spPr>
          <a:xfrm>
            <a:off x="8092440" y="1801368"/>
            <a:ext cx="3520440" cy="91440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801368"/>
            <a:ext cx="54864" cy="914400"/>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911095"/>
            <a:ext cx="548640" cy="274320"/>
          </a:xfrm>
          <a:prstGeom prst="rect">
            <a:avLst/>
          </a:prstGeom>
          <a:noFill/>
        </p:spPr>
        <p:txBody>
          <a:bodyPr wrap="square" lIns="0" rIns="0" tIns="0" bIns="0" anchor="t">
            <a:spAutoFit/>
          </a:bodyPr>
          <a:lstStyle/>
          <a:p>
            <a:pPr algn="l">
              <a:lnSpc>
                <a:spcPct val="100000"/>
              </a:lnSpc>
              <a:spcAft>
                <a:spcPts val="0"/>
              </a:spcAft>
            </a:pPr>
            <a:r>
              <a:rPr sz="1000" b="1" i="0">
                <a:solidFill>
                  <a:srgbClr val="A63B3B"/>
                </a:solidFill>
                <a:latin typeface="Arial"/>
              </a:rPr>
              <a:t>R01</a:t>
            </a:r>
          </a:p>
        </p:txBody>
      </p:sp>
      <p:sp>
        <p:nvSpPr>
          <p:cNvPr id="16" name="TextBox 15"/>
          <p:cNvSpPr txBox="1"/>
          <p:nvPr/>
        </p:nvSpPr>
        <p:spPr>
          <a:xfrm>
            <a:off x="8906256" y="1901952"/>
            <a:ext cx="173736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Fuite Secret</a:t>
            </a:r>
          </a:p>
        </p:txBody>
      </p:sp>
      <p:sp>
        <p:nvSpPr>
          <p:cNvPr id="17" name="TextBox 16"/>
          <p:cNvSpPr txBox="1"/>
          <p:nvPr/>
        </p:nvSpPr>
        <p:spPr>
          <a:xfrm>
            <a:off x="10972800" y="1819656"/>
            <a:ext cx="548640" cy="502920"/>
          </a:xfrm>
          <a:prstGeom prst="rect">
            <a:avLst/>
          </a:prstGeom>
          <a:noFill/>
        </p:spPr>
        <p:txBody>
          <a:bodyPr wrap="square" lIns="0" rIns="0" tIns="0" bIns="0" anchor="t">
            <a:spAutoFit/>
          </a:bodyPr>
          <a:lstStyle/>
          <a:p>
            <a:pPr algn="r">
              <a:lnSpc>
                <a:spcPct val="100000"/>
              </a:lnSpc>
              <a:spcAft>
                <a:spcPts val="0"/>
              </a:spcAft>
            </a:pPr>
            <a:r>
              <a:rPr sz="2200" b="1" i="0">
                <a:solidFill>
                  <a:srgbClr val="A63B3B"/>
                </a:solidFill>
                <a:latin typeface="Arial"/>
              </a:rPr>
              <a:t>20</a:t>
            </a:r>
          </a:p>
        </p:txBody>
      </p:sp>
      <p:sp>
        <p:nvSpPr>
          <p:cNvPr id="18" name="TextBox 17"/>
          <p:cNvSpPr txBox="1"/>
          <p:nvPr/>
        </p:nvSpPr>
        <p:spPr>
          <a:xfrm>
            <a:off x="8302752" y="2304288"/>
            <a:ext cx="3063240" cy="274320"/>
          </a:xfrm>
          <a:prstGeom prst="rect">
            <a:avLst/>
          </a:prstGeom>
          <a:noFill/>
        </p:spPr>
        <p:txBody>
          <a:bodyPr wrap="square" lIns="0" rIns="0" tIns="0" bIns="0" anchor="t">
            <a:spAutoFit/>
          </a:bodyPr>
          <a:lstStyle/>
          <a:p>
            <a:pPr algn="l">
              <a:lnSpc>
                <a:spcPct val="100000"/>
              </a:lnSpc>
              <a:spcAft>
                <a:spcPts val="0"/>
              </a:spcAft>
            </a:pPr>
            <a:r>
              <a:rPr sz="900" b="0" i="0">
                <a:solidFill>
                  <a:srgbClr val="6D7B8D"/>
                </a:solidFill>
                <a:latin typeface="Arial"/>
              </a:rPr>
              <a:t>réponse trop riche</a:t>
            </a:r>
          </a:p>
        </p:txBody>
      </p:sp>
      <p:sp>
        <p:nvSpPr>
          <p:cNvPr id="19" name="Rounded Rectangle 18"/>
          <p:cNvSpPr/>
          <p:nvPr/>
        </p:nvSpPr>
        <p:spPr>
          <a:xfrm>
            <a:off x="8092440" y="2862072"/>
            <a:ext cx="3520440" cy="91440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2862072"/>
            <a:ext cx="54864" cy="914400"/>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2971800"/>
            <a:ext cx="548640" cy="274320"/>
          </a:xfrm>
          <a:prstGeom prst="rect">
            <a:avLst/>
          </a:prstGeom>
          <a:noFill/>
        </p:spPr>
        <p:txBody>
          <a:bodyPr wrap="square" lIns="0" rIns="0" tIns="0" bIns="0" anchor="t">
            <a:spAutoFit/>
          </a:bodyPr>
          <a:lstStyle/>
          <a:p>
            <a:pPr algn="l">
              <a:lnSpc>
                <a:spcPct val="100000"/>
              </a:lnSpc>
              <a:spcAft>
                <a:spcPts val="0"/>
              </a:spcAft>
            </a:pPr>
            <a:r>
              <a:rPr sz="1000" b="1" i="0">
                <a:solidFill>
                  <a:srgbClr val="A63B3B"/>
                </a:solidFill>
                <a:latin typeface="Arial"/>
              </a:rPr>
              <a:t>R02</a:t>
            </a:r>
          </a:p>
        </p:txBody>
      </p:sp>
      <p:sp>
        <p:nvSpPr>
          <p:cNvPr id="22" name="TextBox 21"/>
          <p:cNvSpPr txBox="1"/>
          <p:nvPr/>
        </p:nvSpPr>
        <p:spPr>
          <a:xfrm>
            <a:off x="8906256" y="2962656"/>
            <a:ext cx="173736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Injection</a:t>
            </a:r>
          </a:p>
        </p:txBody>
      </p:sp>
      <p:sp>
        <p:nvSpPr>
          <p:cNvPr id="23" name="TextBox 22"/>
          <p:cNvSpPr txBox="1"/>
          <p:nvPr/>
        </p:nvSpPr>
        <p:spPr>
          <a:xfrm>
            <a:off x="10972800" y="2880360"/>
            <a:ext cx="548640" cy="502920"/>
          </a:xfrm>
          <a:prstGeom prst="rect">
            <a:avLst/>
          </a:prstGeom>
          <a:noFill/>
        </p:spPr>
        <p:txBody>
          <a:bodyPr wrap="square" lIns="0" rIns="0" tIns="0" bIns="0" anchor="t">
            <a:spAutoFit/>
          </a:bodyPr>
          <a:lstStyle/>
          <a:p>
            <a:pPr algn="r">
              <a:lnSpc>
                <a:spcPct val="100000"/>
              </a:lnSpc>
              <a:spcAft>
                <a:spcPts val="0"/>
              </a:spcAft>
            </a:pPr>
            <a:r>
              <a:rPr sz="2200" b="1" i="0">
                <a:solidFill>
                  <a:srgbClr val="A63B3B"/>
                </a:solidFill>
                <a:latin typeface="Arial"/>
              </a:rPr>
              <a:t>20</a:t>
            </a:r>
          </a:p>
        </p:txBody>
      </p:sp>
      <p:sp>
        <p:nvSpPr>
          <p:cNvPr id="24" name="TextBox 23"/>
          <p:cNvSpPr txBox="1"/>
          <p:nvPr/>
        </p:nvSpPr>
        <p:spPr>
          <a:xfrm>
            <a:off x="8302752" y="3364991"/>
            <a:ext cx="3063240" cy="274320"/>
          </a:xfrm>
          <a:prstGeom prst="rect">
            <a:avLst/>
          </a:prstGeom>
          <a:noFill/>
        </p:spPr>
        <p:txBody>
          <a:bodyPr wrap="square" lIns="0" rIns="0" tIns="0" bIns="0" anchor="t">
            <a:spAutoFit/>
          </a:bodyPr>
          <a:lstStyle/>
          <a:p>
            <a:pPr algn="l">
              <a:lnSpc>
                <a:spcPct val="100000"/>
              </a:lnSpc>
              <a:spcAft>
                <a:spcPts val="0"/>
              </a:spcAft>
            </a:pPr>
            <a:r>
              <a:rPr sz="900" b="0" i="0">
                <a:solidFill>
                  <a:srgbClr val="6D7B8D"/>
                </a:solidFill>
                <a:latin typeface="Arial"/>
              </a:rPr>
              <a:t>flux partenaire</a:t>
            </a:r>
          </a:p>
        </p:txBody>
      </p:sp>
      <p:sp>
        <p:nvSpPr>
          <p:cNvPr id="25" name="Rounded Rectangle 24"/>
          <p:cNvSpPr/>
          <p:nvPr/>
        </p:nvSpPr>
        <p:spPr>
          <a:xfrm>
            <a:off x="8092440" y="3922776"/>
            <a:ext cx="3520440" cy="91440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92440" y="3922776"/>
            <a:ext cx="54864" cy="91440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02752" y="4032504"/>
            <a:ext cx="54864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R04</a:t>
            </a:r>
          </a:p>
        </p:txBody>
      </p:sp>
      <p:sp>
        <p:nvSpPr>
          <p:cNvPr id="28" name="TextBox 27"/>
          <p:cNvSpPr txBox="1"/>
          <p:nvPr/>
        </p:nvSpPr>
        <p:spPr>
          <a:xfrm>
            <a:off x="8906256" y="4023360"/>
            <a:ext cx="1737360" cy="274320"/>
          </a:xfrm>
          <a:prstGeom prst="rect">
            <a:avLst/>
          </a:prstGeom>
          <a:noFill/>
        </p:spPr>
        <p:txBody>
          <a:bodyPr wrap="square" lIns="0" rIns="0" tIns="0" bIns="0" anchor="t">
            <a:spAutoFit/>
          </a:bodyPr>
          <a:lstStyle/>
          <a:p>
            <a:pPr algn="l">
              <a:lnSpc>
                <a:spcPct val="100000"/>
              </a:lnSpc>
              <a:spcAft>
                <a:spcPts val="0"/>
              </a:spcAft>
            </a:pPr>
            <a:r>
              <a:rPr sz="1250" b="1" i="0">
                <a:solidFill>
                  <a:srgbClr val="0B1F3A"/>
                </a:solidFill>
                <a:latin typeface="Arial"/>
              </a:rPr>
              <a:t>Hors compartiment</a:t>
            </a:r>
          </a:p>
        </p:txBody>
      </p:sp>
      <p:sp>
        <p:nvSpPr>
          <p:cNvPr id="29" name="TextBox 28"/>
          <p:cNvSpPr txBox="1"/>
          <p:nvPr/>
        </p:nvSpPr>
        <p:spPr>
          <a:xfrm>
            <a:off x="10972800" y="3941063"/>
            <a:ext cx="548640" cy="502920"/>
          </a:xfrm>
          <a:prstGeom prst="rect">
            <a:avLst/>
          </a:prstGeom>
          <a:noFill/>
        </p:spPr>
        <p:txBody>
          <a:bodyPr wrap="square" lIns="0" rIns="0" tIns="0" bIns="0" anchor="t">
            <a:spAutoFit/>
          </a:bodyPr>
          <a:lstStyle/>
          <a:p>
            <a:pPr algn="r">
              <a:lnSpc>
                <a:spcPct val="100000"/>
              </a:lnSpc>
              <a:spcAft>
                <a:spcPts val="0"/>
              </a:spcAft>
            </a:pPr>
            <a:r>
              <a:rPr sz="2200" b="1" i="0">
                <a:solidFill>
                  <a:srgbClr val="B8934E"/>
                </a:solidFill>
                <a:latin typeface="Arial"/>
              </a:rPr>
              <a:t>16</a:t>
            </a:r>
          </a:p>
        </p:txBody>
      </p:sp>
      <p:sp>
        <p:nvSpPr>
          <p:cNvPr id="30" name="TextBox 29"/>
          <p:cNvSpPr txBox="1"/>
          <p:nvPr/>
        </p:nvSpPr>
        <p:spPr>
          <a:xfrm>
            <a:off x="8302752" y="4425696"/>
            <a:ext cx="3063240" cy="274320"/>
          </a:xfrm>
          <a:prstGeom prst="rect">
            <a:avLst/>
          </a:prstGeom>
          <a:noFill/>
        </p:spPr>
        <p:txBody>
          <a:bodyPr wrap="square" lIns="0" rIns="0" tIns="0" bIns="0" anchor="t">
            <a:spAutoFit/>
          </a:bodyPr>
          <a:lstStyle/>
          <a:p>
            <a:pPr algn="l">
              <a:lnSpc>
                <a:spcPct val="100000"/>
              </a:lnSpc>
              <a:spcAft>
                <a:spcPts val="0"/>
              </a:spcAft>
            </a:pPr>
            <a:r>
              <a:rPr sz="900" b="0" i="0">
                <a:solidFill>
                  <a:srgbClr val="6D7B8D"/>
                </a:solidFill>
                <a:latin typeface="Arial"/>
              </a:rPr>
              <a:t>besoin d'en connaître</a:t>
            </a:r>
          </a:p>
        </p:txBody>
      </p:sp>
      <p:sp>
        <p:nvSpPr>
          <p:cNvPr id="31" name="Rounded Rectangle 30"/>
          <p:cNvSpPr/>
          <p:nvPr/>
        </p:nvSpPr>
        <p:spPr>
          <a:xfrm>
            <a:off x="8092440" y="5074920"/>
            <a:ext cx="3520440" cy="100584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20" y="5193792"/>
            <a:ext cx="3154680" cy="777240"/>
          </a:xfrm>
          <a:prstGeom prst="rect">
            <a:avLst/>
          </a:prstGeom>
          <a:noFill/>
        </p:spPr>
        <p:txBody>
          <a:bodyPr wrap="square" lIns="0" rIns="0" tIns="0" bIns="0" anchor="t">
            <a:spAutoFit/>
          </a:bodyPr>
          <a:lstStyle/>
          <a:p>
            <a:pPr algn="l">
              <a:lnSpc>
                <a:spcPct val="108000"/>
              </a:lnSpc>
              <a:spcAft>
                <a:spcPts val="0"/>
              </a:spcAft>
            </a:pPr>
            <a:r>
              <a:rPr sz="980" b="1" i="0">
                <a:solidFill>
                  <a:srgbClr val="0B1F3A"/>
                </a:solidFill>
                <a:latin typeface="Arial"/>
              </a:rPr>
              <a:t>Un score de 15 reste grave : clé compromise ou traces altérées ont un impact maximal.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P1 · EXIGENCES</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150" b="1" i="0">
                <a:solidFill>
                  <a:srgbClr val="0B1F3A"/>
                </a:solidFill>
                <a:latin typeface="Arial"/>
              </a:rPr>
              <a:t>Chaque risque descend vers une exigence, un contrôle et un test</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06 / 16</a:t>
            </a:r>
          </a:p>
        </p:txBody>
      </p:sp>
      <p:sp>
        <p:nvSpPr>
          <p:cNvPr id="11" name="Rounded Rectangle 10"/>
          <p:cNvSpPr/>
          <p:nvPr/>
        </p:nvSpPr>
        <p:spPr>
          <a:xfrm>
            <a:off x="621792" y="1783080"/>
            <a:ext cx="3383280" cy="384048"/>
          </a:xfrm>
          <a:prstGeom prst="roundRect">
            <a:avLst>
              <a:gd name="adj" fmla="val 18000"/>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1801368"/>
            <a:ext cx="3218688" cy="347472"/>
          </a:xfrm>
          <a:prstGeom prst="rect">
            <a:avLst/>
          </a:prstGeom>
          <a:noFill/>
        </p:spPr>
        <p:txBody>
          <a:bodyPr wrap="square" lIns="0" rIns="0" tIns="0" bIns="0" anchor="ctr">
            <a:spAutoFit/>
          </a:bodyPr>
          <a:lstStyle/>
          <a:p>
            <a:pPr algn="ctr">
              <a:lnSpc>
                <a:spcPct val="100000"/>
              </a:lnSpc>
              <a:spcAft>
                <a:spcPts val="0"/>
              </a:spcAft>
            </a:pPr>
            <a:r>
              <a:rPr sz="919" b="1" i="0">
                <a:solidFill>
                  <a:srgbClr val="FFFFFF"/>
                </a:solidFill>
                <a:latin typeface="Arial"/>
              </a:rPr>
              <a:t>13 exigences fonctionnelles</a:t>
            </a:r>
          </a:p>
        </p:txBody>
      </p:sp>
      <p:sp>
        <p:nvSpPr>
          <p:cNvPr id="13" name="Rounded Rectangle 12"/>
          <p:cNvSpPr/>
          <p:nvPr/>
        </p:nvSpPr>
        <p:spPr>
          <a:xfrm>
            <a:off x="4279392" y="1783080"/>
            <a:ext cx="3383280" cy="384048"/>
          </a:xfrm>
          <a:prstGeom prst="roundRect">
            <a:avLst>
              <a:gd name="adj" fmla="val 18000"/>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1801368"/>
            <a:ext cx="3218688" cy="347472"/>
          </a:xfrm>
          <a:prstGeom prst="rect">
            <a:avLst/>
          </a:prstGeom>
          <a:noFill/>
        </p:spPr>
        <p:txBody>
          <a:bodyPr wrap="square" lIns="0" rIns="0" tIns="0" bIns="0" anchor="ctr">
            <a:spAutoFit/>
          </a:bodyPr>
          <a:lstStyle/>
          <a:p>
            <a:pPr algn="ctr">
              <a:lnSpc>
                <a:spcPct val="100000"/>
              </a:lnSpc>
              <a:spcAft>
                <a:spcPts val="0"/>
              </a:spcAft>
            </a:pPr>
            <a:r>
              <a:rPr sz="919" b="1" i="0">
                <a:solidFill>
                  <a:srgbClr val="FFFFFF"/>
                </a:solidFill>
                <a:latin typeface="Arial"/>
              </a:rPr>
              <a:t>12 exigences non fonctionnelles</a:t>
            </a:r>
          </a:p>
        </p:txBody>
      </p:sp>
      <p:sp>
        <p:nvSpPr>
          <p:cNvPr id="15" name="Rounded Rectangle 14"/>
          <p:cNvSpPr/>
          <p:nvPr/>
        </p:nvSpPr>
        <p:spPr>
          <a:xfrm>
            <a:off x="7936992" y="1783080"/>
            <a:ext cx="3383280" cy="384048"/>
          </a:xfrm>
          <a:prstGeom prst="roundRect">
            <a:avLst>
              <a:gd name="adj" fmla="val 18000"/>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19288" y="1801368"/>
            <a:ext cx="3218688" cy="347472"/>
          </a:xfrm>
          <a:prstGeom prst="rect">
            <a:avLst/>
          </a:prstGeom>
          <a:noFill/>
        </p:spPr>
        <p:txBody>
          <a:bodyPr wrap="square" lIns="0" rIns="0" tIns="0" bIns="0" anchor="ctr">
            <a:spAutoFit/>
          </a:bodyPr>
          <a:lstStyle/>
          <a:p>
            <a:pPr algn="ctr">
              <a:lnSpc>
                <a:spcPct val="100000"/>
              </a:lnSpc>
              <a:spcAft>
                <a:spcPts val="0"/>
              </a:spcAft>
            </a:pPr>
            <a:r>
              <a:rPr sz="919" b="1" i="0">
                <a:solidFill>
                  <a:srgbClr val="FFFFFF"/>
                </a:solidFill>
                <a:latin typeface="Arial"/>
              </a:rPr>
              <a:t>10 risques couverts</a:t>
            </a:r>
          </a:p>
        </p:txBody>
      </p:sp>
      <p:graphicFrame>
        <p:nvGraphicFramePr>
          <p:cNvPr id="17" name="Table 16"/>
          <p:cNvGraphicFramePr>
            <a:graphicFrameLocks noGrp="1"/>
          </p:cNvGraphicFramePr>
          <p:nvPr/>
        </p:nvGraphicFramePr>
        <p:xfrm>
          <a:off x="621792" y="2395728"/>
          <a:ext cx="10927080" cy="2560320"/>
        </p:xfrm>
        <a:graphic>
          <a:graphicData uri="http://schemas.openxmlformats.org/drawingml/2006/table">
            <a:tbl>
              <a:tblPr firstRow="1" bandRow="1">
                <a:tableStyleId>{5C22544A-7EE6-4342-B048-85BDC9FD1C3A}</a:tableStyleId>
              </a:tblPr>
              <a:tblGrid>
                <a:gridCol w="822960"/>
                <a:gridCol w="3657600"/>
                <a:gridCol w="2834640"/>
                <a:gridCol w="2103120"/>
                <a:gridCol w="1508760"/>
              </a:tblGrid>
              <a:tr h="384048">
                <a:tc>
                  <a:txBody>
                    <a:bodyPr wrap="square"/>
                    <a:lstStyle/>
                    <a:p>
                      <a:pPr algn="ctr"/>
                      <a:r>
                        <a:rPr sz="960" b="1" i="0">
                          <a:solidFill>
                            <a:srgbClr val="FFFFFF"/>
                          </a:solidFill>
                          <a:latin typeface="Arial"/>
                        </a:rPr>
                        <a:t>Risque</a:t>
                      </a:r>
                    </a:p>
                  </a:txBody>
                  <a:tcPr marL="73152" marR="54864" marT="18288" marB="18288" anchor="ctr">
                    <a:solidFill>
                      <a:srgbClr val="0B1F3A"/>
                    </a:solidFill>
                  </a:tcPr>
                </a:tc>
                <a:tc>
                  <a:txBody>
                    <a:bodyPr wrap="square"/>
                    <a:lstStyle/>
                    <a:p>
                      <a:pPr algn="ctr"/>
                      <a:r>
                        <a:rPr sz="960" b="1" i="0">
                          <a:solidFill>
                            <a:srgbClr val="FFFFFF"/>
                          </a:solidFill>
                          <a:latin typeface="Arial"/>
                        </a:rPr>
                        <a:t>Ce qui peut arriver</a:t>
                      </a:r>
                    </a:p>
                  </a:txBody>
                  <a:tcPr marL="73152" marR="54864" marT="18288" marB="18288" anchor="ctr">
                    <a:solidFill>
                      <a:srgbClr val="0B1F3A"/>
                    </a:solidFill>
                  </a:tcPr>
                </a:tc>
                <a:tc>
                  <a:txBody>
                    <a:bodyPr wrap="square"/>
                    <a:lstStyle/>
                    <a:p>
                      <a:pPr algn="l"/>
                      <a:r>
                        <a:rPr sz="960" b="1" i="0">
                          <a:solidFill>
                            <a:srgbClr val="FFFFFF"/>
                          </a:solidFill>
                          <a:latin typeface="Arial"/>
                        </a:rPr>
                        <a:t>Exigences</a:t>
                      </a:r>
                    </a:p>
                  </a:txBody>
                  <a:tcPr marL="73152" marR="54864" marT="18288" marB="18288" anchor="ctr">
                    <a:solidFill>
                      <a:srgbClr val="0B1F3A"/>
                    </a:solidFill>
                  </a:tcPr>
                </a:tc>
                <a:tc>
                  <a:txBody>
                    <a:bodyPr wrap="square"/>
                    <a:lstStyle/>
                    <a:p>
                      <a:pPr algn="l"/>
                      <a:r>
                        <a:rPr sz="960" b="1" i="0">
                          <a:solidFill>
                            <a:srgbClr val="FFFFFF"/>
                          </a:solidFill>
                          <a:latin typeface="Arial"/>
                        </a:rPr>
                        <a:t>Contrôles</a:t>
                      </a:r>
                    </a:p>
                  </a:txBody>
                  <a:tcPr marL="73152" marR="54864" marT="18288" marB="18288" anchor="ctr">
                    <a:solidFill>
                      <a:srgbClr val="0B1F3A"/>
                    </a:solidFill>
                  </a:tcPr>
                </a:tc>
                <a:tc>
                  <a:txBody>
                    <a:bodyPr wrap="square"/>
                    <a:lstStyle/>
                    <a:p>
                      <a:pPr algn="l"/>
                      <a:r>
                        <a:rPr sz="960" b="1" i="0">
                          <a:solidFill>
                            <a:srgbClr val="FFFFFF"/>
                          </a:solidFill>
                          <a:latin typeface="Arial"/>
                        </a:rPr>
                        <a:t>Tests</a:t>
                      </a:r>
                    </a:p>
                  </a:txBody>
                  <a:tcPr marL="73152" marR="54864" marT="18288" marB="18288" anchor="ctr">
                    <a:solidFill>
                      <a:srgbClr val="0B1F3A"/>
                    </a:solidFill>
                  </a:tcPr>
                </a:tc>
              </a:tr>
              <a:tr h="544068">
                <a:tc>
                  <a:txBody>
                    <a:bodyPr wrap="square"/>
                    <a:lstStyle/>
                    <a:p>
                      <a:pPr algn="ctr"/>
                      <a:r>
                        <a:rPr sz="1040" b="1" i="0">
                          <a:solidFill>
                            <a:srgbClr val="18263A"/>
                          </a:solidFill>
                          <a:latin typeface="Arial"/>
                        </a:rPr>
                        <a:t>R01</a:t>
                      </a:r>
                    </a:p>
                  </a:txBody>
                  <a:tcPr marL="73152" marR="54864" marT="22860" marB="22860" anchor="ctr">
                    <a:solidFill>
                      <a:srgbClr val="FFFFFF"/>
                    </a:solidFill>
                  </a:tcPr>
                </a:tc>
                <a:tc>
                  <a:txBody>
                    <a:bodyPr wrap="square"/>
                    <a:lstStyle/>
                    <a:p>
                      <a:pPr algn="ctr"/>
                      <a:r>
                        <a:rPr sz="1040" b="0" i="0">
                          <a:solidFill>
                            <a:srgbClr val="18263A"/>
                          </a:solidFill>
                          <a:latin typeface="Arial"/>
                        </a:rPr>
                        <a:t>Fuite d'un bulletin Secret</a:t>
                      </a:r>
                    </a:p>
                  </a:txBody>
                  <a:tcPr marL="73152" marR="54864" marT="22860" marB="22860" anchor="ctr">
                    <a:solidFill>
                      <a:srgbClr val="FFFFFF"/>
                    </a:solidFill>
                  </a:tcPr>
                </a:tc>
                <a:tc>
                  <a:txBody>
                    <a:bodyPr wrap="square"/>
                    <a:lstStyle/>
                    <a:p>
                      <a:pPr algn="l"/>
                      <a:r>
                        <a:rPr sz="1040" b="0" i="0">
                          <a:solidFill>
                            <a:srgbClr val="18263A"/>
                          </a:solidFill>
                          <a:latin typeface="Arial"/>
                        </a:rPr>
                        <a:t>EF-03 · EF-04</a:t>
                      </a:r>
                    </a:p>
                  </a:txBody>
                  <a:tcPr marL="73152" marR="54864" marT="22860" marB="22860" anchor="ctr">
                    <a:solidFill>
                      <a:srgbClr val="FFFFFF"/>
                    </a:solidFill>
                  </a:tcPr>
                </a:tc>
                <a:tc>
                  <a:txBody>
                    <a:bodyPr wrap="square"/>
                    <a:lstStyle/>
                    <a:p>
                      <a:pPr algn="l"/>
                      <a:r>
                        <a:rPr sz="1040" b="0" i="0">
                          <a:solidFill>
                            <a:srgbClr val="18263A"/>
                          </a:solidFill>
                          <a:latin typeface="Arial"/>
                        </a:rPr>
                        <a:t>CP2 · CP5</a:t>
                      </a:r>
                    </a:p>
                  </a:txBody>
                  <a:tcPr marL="73152" marR="54864" marT="22860" marB="22860" anchor="ctr">
                    <a:solidFill>
                      <a:srgbClr val="FFFFFF"/>
                    </a:solidFill>
                  </a:tcPr>
                </a:tc>
                <a:tc>
                  <a:txBody>
                    <a:bodyPr wrap="square"/>
                    <a:lstStyle/>
                    <a:p>
                      <a:pPr algn="l"/>
                      <a:r>
                        <a:rPr sz="1040" b="0" i="0">
                          <a:solidFill>
                            <a:srgbClr val="18263A"/>
                          </a:solidFill>
                          <a:latin typeface="Arial"/>
                        </a:rPr>
                        <a:t>A06 · A07 · A15</a:t>
                      </a:r>
                    </a:p>
                  </a:txBody>
                  <a:tcPr marL="73152" marR="54864" marT="22860" marB="22860" anchor="ctr">
                    <a:solidFill>
                      <a:srgbClr val="FFFFFF"/>
                    </a:solidFill>
                  </a:tcPr>
                </a:tc>
              </a:tr>
              <a:tr h="544068">
                <a:tc>
                  <a:txBody>
                    <a:bodyPr wrap="square"/>
                    <a:lstStyle/>
                    <a:p>
                      <a:pPr algn="ctr"/>
                      <a:r>
                        <a:rPr sz="1040" b="1" i="0">
                          <a:solidFill>
                            <a:srgbClr val="18263A"/>
                          </a:solidFill>
                          <a:latin typeface="Arial"/>
                        </a:rPr>
                        <a:t>R02</a:t>
                      </a:r>
                    </a:p>
                  </a:txBody>
                  <a:tcPr marL="73152" marR="54864" marT="22860" marB="22860" anchor="ctr">
                    <a:solidFill>
                      <a:srgbClr val="F2F5F9"/>
                    </a:solidFill>
                  </a:tcPr>
                </a:tc>
                <a:tc>
                  <a:txBody>
                    <a:bodyPr wrap="square"/>
                    <a:lstStyle/>
                    <a:p>
                      <a:pPr algn="ctr"/>
                      <a:r>
                        <a:rPr sz="1040" b="0" i="0">
                          <a:solidFill>
                            <a:srgbClr val="18263A"/>
                          </a:solidFill>
                          <a:latin typeface="Arial"/>
                        </a:rPr>
                        <a:t>Injection partenaire</a:t>
                      </a:r>
                    </a:p>
                  </a:txBody>
                  <a:tcPr marL="73152" marR="54864" marT="22860" marB="22860" anchor="ctr">
                    <a:solidFill>
                      <a:srgbClr val="F2F5F9"/>
                    </a:solidFill>
                  </a:tcPr>
                </a:tc>
                <a:tc>
                  <a:txBody>
                    <a:bodyPr wrap="square"/>
                    <a:lstStyle/>
                    <a:p>
                      <a:pPr algn="l"/>
                      <a:r>
                        <a:rPr sz="1040" b="0" i="0">
                          <a:solidFill>
                            <a:srgbClr val="18263A"/>
                          </a:solidFill>
                          <a:latin typeface="Arial"/>
                        </a:rPr>
                        <a:t>EF-05 · ENF-12</a:t>
                      </a:r>
                    </a:p>
                  </a:txBody>
                  <a:tcPr marL="73152" marR="54864" marT="22860" marB="22860" anchor="ctr">
                    <a:solidFill>
                      <a:srgbClr val="F2F5F9"/>
                    </a:solidFill>
                  </a:tcPr>
                </a:tc>
                <a:tc>
                  <a:txBody>
                    <a:bodyPr wrap="square"/>
                    <a:lstStyle/>
                    <a:p>
                      <a:pPr algn="l"/>
                      <a:r>
                        <a:rPr sz="1040" b="0" i="0">
                          <a:solidFill>
                            <a:srgbClr val="18263A"/>
                          </a:solidFill>
                          <a:latin typeface="Arial"/>
                        </a:rPr>
                        <a:t>CP4 · CP5</a:t>
                      </a:r>
                    </a:p>
                  </a:txBody>
                  <a:tcPr marL="73152" marR="54864" marT="22860" marB="22860" anchor="ctr">
                    <a:solidFill>
                      <a:srgbClr val="F2F5F9"/>
                    </a:solidFill>
                  </a:tcPr>
                </a:tc>
                <a:tc>
                  <a:txBody>
                    <a:bodyPr wrap="square"/>
                    <a:lstStyle/>
                    <a:p>
                      <a:pPr algn="l"/>
                      <a:r>
                        <a:rPr sz="1040" b="0" i="0">
                          <a:solidFill>
                            <a:srgbClr val="18263A"/>
                          </a:solidFill>
                          <a:latin typeface="Arial"/>
                        </a:rPr>
                        <a:t>A10</a:t>
                      </a:r>
                    </a:p>
                  </a:txBody>
                  <a:tcPr marL="73152" marR="54864" marT="22860" marB="22860" anchor="ctr">
                    <a:solidFill>
                      <a:srgbClr val="F2F5F9"/>
                    </a:solidFill>
                  </a:tcPr>
                </a:tc>
              </a:tr>
              <a:tr h="544068">
                <a:tc>
                  <a:txBody>
                    <a:bodyPr wrap="square"/>
                    <a:lstStyle/>
                    <a:p>
                      <a:pPr algn="ctr"/>
                      <a:r>
                        <a:rPr sz="1040" b="1" i="0">
                          <a:solidFill>
                            <a:srgbClr val="18263A"/>
                          </a:solidFill>
                          <a:latin typeface="Arial"/>
                        </a:rPr>
                        <a:t>R06</a:t>
                      </a:r>
                    </a:p>
                  </a:txBody>
                  <a:tcPr marL="73152" marR="54864" marT="22860" marB="22860" anchor="ctr">
                    <a:solidFill>
                      <a:srgbClr val="FFFFFF"/>
                    </a:solidFill>
                  </a:tcPr>
                </a:tc>
                <a:tc>
                  <a:txBody>
                    <a:bodyPr wrap="square"/>
                    <a:lstStyle/>
                    <a:p>
                      <a:pPr algn="ctr"/>
                      <a:r>
                        <a:rPr sz="1040" b="0" i="0">
                          <a:solidFill>
                            <a:srgbClr val="18263A"/>
                          </a:solidFill>
                          <a:latin typeface="Arial"/>
                        </a:rPr>
                        <a:t>Altération des traces</a:t>
                      </a:r>
                    </a:p>
                  </a:txBody>
                  <a:tcPr marL="73152" marR="54864" marT="22860" marB="22860" anchor="ctr">
                    <a:solidFill>
                      <a:srgbClr val="FFFFFF"/>
                    </a:solidFill>
                  </a:tcPr>
                </a:tc>
                <a:tc>
                  <a:txBody>
                    <a:bodyPr wrap="square"/>
                    <a:lstStyle/>
                    <a:p>
                      <a:pPr algn="l"/>
                      <a:r>
                        <a:rPr sz="1040" b="0" i="0">
                          <a:solidFill>
                            <a:srgbClr val="18263A"/>
                          </a:solidFill>
                          <a:latin typeface="Arial"/>
                        </a:rPr>
                        <a:t>EF-08 · ENF-08</a:t>
                      </a:r>
                    </a:p>
                  </a:txBody>
                  <a:tcPr marL="73152" marR="54864" marT="22860" marB="22860" anchor="ctr">
                    <a:solidFill>
                      <a:srgbClr val="FFFFFF"/>
                    </a:solidFill>
                  </a:tcPr>
                </a:tc>
                <a:tc>
                  <a:txBody>
                    <a:bodyPr wrap="square"/>
                    <a:lstStyle/>
                    <a:p>
                      <a:pPr algn="l"/>
                      <a:r>
                        <a:rPr sz="1040" b="0" i="0">
                          <a:solidFill>
                            <a:srgbClr val="18263A"/>
                          </a:solidFill>
                          <a:latin typeface="Arial"/>
                        </a:rPr>
                        <a:t>CP7</a:t>
                      </a:r>
                    </a:p>
                  </a:txBody>
                  <a:tcPr marL="73152" marR="54864" marT="22860" marB="22860" anchor="ctr">
                    <a:solidFill>
                      <a:srgbClr val="FFFFFF"/>
                    </a:solidFill>
                  </a:tcPr>
                </a:tc>
                <a:tc>
                  <a:txBody>
                    <a:bodyPr wrap="square"/>
                    <a:lstStyle/>
                    <a:p>
                      <a:pPr algn="l"/>
                      <a:r>
                        <a:rPr sz="1040" b="0" i="0">
                          <a:solidFill>
                            <a:srgbClr val="18263A"/>
                          </a:solidFill>
                          <a:latin typeface="Arial"/>
                        </a:rPr>
                        <a:t>A14</a:t>
                      </a:r>
                    </a:p>
                  </a:txBody>
                  <a:tcPr marL="73152" marR="54864" marT="22860" marB="22860" anchor="ctr">
                    <a:solidFill>
                      <a:srgbClr val="FFFFFF"/>
                    </a:solidFill>
                  </a:tcPr>
                </a:tc>
              </a:tr>
              <a:tr h="544068">
                <a:tc>
                  <a:txBody>
                    <a:bodyPr wrap="square"/>
                    <a:lstStyle/>
                    <a:p>
                      <a:pPr algn="ctr"/>
                      <a:r>
                        <a:rPr sz="1040" b="1" i="0">
                          <a:solidFill>
                            <a:srgbClr val="18263A"/>
                          </a:solidFill>
                          <a:latin typeface="Arial"/>
                        </a:rPr>
                        <a:t>R10</a:t>
                      </a:r>
                    </a:p>
                  </a:txBody>
                  <a:tcPr marL="73152" marR="54864" marT="22860" marB="22860" anchor="ctr">
                    <a:solidFill>
                      <a:srgbClr val="F2F5F9"/>
                    </a:solidFill>
                  </a:tcPr>
                </a:tc>
                <a:tc>
                  <a:txBody>
                    <a:bodyPr wrap="square"/>
                    <a:lstStyle/>
                    <a:p>
                      <a:pPr algn="ctr"/>
                      <a:r>
                        <a:rPr sz="1040" b="0" i="0">
                          <a:solidFill>
                            <a:srgbClr val="18263A"/>
                          </a:solidFill>
                          <a:latin typeface="Arial"/>
                        </a:rPr>
                        <a:t>Fichiers accessibles</a:t>
                      </a:r>
                    </a:p>
                  </a:txBody>
                  <a:tcPr marL="73152" marR="54864" marT="22860" marB="22860" anchor="ctr">
                    <a:solidFill>
                      <a:srgbClr val="F2F5F9"/>
                    </a:solidFill>
                  </a:tcPr>
                </a:tc>
                <a:tc>
                  <a:txBody>
                    <a:bodyPr wrap="square"/>
                    <a:lstStyle/>
                    <a:p>
                      <a:pPr algn="l"/>
                      <a:r>
                        <a:rPr sz="1040" b="0" i="0">
                          <a:solidFill>
                            <a:srgbClr val="18263A"/>
                          </a:solidFill>
                          <a:latin typeface="Arial"/>
                        </a:rPr>
                        <a:t>ENF-06 · ENF-07</a:t>
                      </a:r>
                    </a:p>
                  </a:txBody>
                  <a:tcPr marL="73152" marR="54864" marT="22860" marB="22860" anchor="ctr">
                    <a:solidFill>
                      <a:srgbClr val="F2F5F9"/>
                    </a:solidFill>
                  </a:tcPr>
                </a:tc>
                <a:tc>
                  <a:txBody>
                    <a:bodyPr wrap="square"/>
                    <a:lstStyle/>
                    <a:p>
                      <a:pPr algn="l"/>
                      <a:r>
                        <a:rPr sz="1040" b="0" i="0">
                          <a:solidFill>
                            <a:srgbClr val="18263A"/>
                          </a:solidFill>
                          <a:latin typeface="Arial"/>
                        </a:rPr>
                        <a:t>CP8 · N15</a:t>
                      </a:r>
                    </a:p>
                  </a:txBody>
                  <a:tcPr marL="73152" marR="54864" marT="22860" marB="22860" anchor="ctr">
                    <a:solidFill>
                      <a:srgbClr val="F2F5F9"/>
                    </a:solidFill>
                  </a:tcPr>
                </a:tc>
                <a:tc>
                  <a:txBody>
                    <a:bodyPr wrap="square"/>
                    <a:lstStyle/>
                    <a:p>
                      <a:pPr algn="l"/>
                      <a:r>
                        <a:rPr sz="1040" b="0" i="0">
                          <a:solidFill>
                            <a:srgbClr val="18263A"/>
                          </a:solidFill>
                          <a:latin typeface="Arial"/>
                        </a:rPr>
                        <a:t>N15</a:t>
                      </a:r>
                    </a:p>
                  </a:txBody>
                  <a:tcPr marL="73152" marR="54864" marT="22860" marB="22860" anchor="ctr">
                    <a:solidFill>
                      <a:srgbClr val="F2F5F9"/>
                    </a:solidFill>
                  </a:tcPr>
                </a:tc>
              </a:tr>
            </a:tbl>
          </a:graphicData>
        </a:graphic>
      </p:graphicFrame>
      <p:sp>
        <p:nvSpPr>
          <p:cNvPr id="18" name="Rounded Rectangle 17"/>
          <p:cNvSpPr/>
          <p:nvPr/>
        </p:nvSpPr>
        <p:spPr>
          <a:xfrm>
            <a:off x="621792" y="5230368"/>
            <a:ext cx="10927080" cy="868680"/>
          </a:xfrm>
          <a:prstGeom prst="roundRect">
            <a:avLst>
              <a:gd name="adj" fmla="val 2500"/>
            </a:avLst>
          </a:prstGeom>
          <a:solidFill>
            <a:srgbClr val="E7EFF8"/>
          </a:solidFill>
          <a:ln w="10160">
            <a:solidFill>
              <a:srgbClr val="1D5B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340096"/>
            <a:ext cx="10515600" cy="640080"/>
          </a:xfrm>
          <a:prstGeom prst="rect">
            <a:avLst/>
          </a:prstGeom>
          <a:noFill/>
        </p:spPr>
        <p:txBody>
          <a:bodyPr wrap="square" lIns="0" rIns="0" tIns="0" bIns="0" anchor="t">
            <a:spAutoFit/>
          </a:bodyPr>
          <a:lstStyle/>
          <a:p>
            <a:pPr algn="l">
              <a:lnSpc>
                <a:spcPct val="105000"/>
              </a:lnSpc>
              <a:spcAft>
                <a:spcPts val="0"/>
              </a:spcAft>
            </a:pPr>
            <a:r>
              <a:rPr sz="1140" b="1" i="0">
                <a:solidFill>
                  <a:srgbClr val="0B1F3A"/>
                </a:solidFill>
                <a:latin typeface="Arial"/>
              </a:rPr>
              <a:t>Un contrôle sans exigence est décoratif ; une exigence sans test est une intention. La matrice se lit dans les deux sens.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P2 · COMPARATIF</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Quatre candidats, un choix assumé à 4,18 sur 5</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07 / 16</a:t>
            </a:r>
          </a:p>
        </p:txBody>
      </p:sp>
      <p:pic>
        <p:nvPicPr>
          <p:cNvPr id="11" name="Picture 10" descr="fig_comparatif.png"/>
          <p:cNvPicPr>
            <a:picLocks noChangeAspect="1"/>
          </p:cNvPicPr>
          <p:nvPr/>
        </p:nvPicPr>
        <p:blipFill>
          <a:blip r:embed="rId2"/>
          <a:stretch>
            <a:fillRect/>
          </a:stretch>
        </p:blipFill>
        <p:spPr>
          <a:xfrm>
            <a:off x="384048" y="1828171"/>
            <a:ext cx="7406640" cy="3924032"/>
          </a:xfrm>
          <a:prstGeom prst="rect">
            <a:avLst/>
          </a:prstGeom>
        </p:spPr>
      </p:pic>
      <p:sp>
        <p:nvSpPr>
          <p:cNvPr id="12" name="TextBox 11"/>
          <p:cNvSpPr txBox="1"/>
          <p:nvPr/>
        </p:nvSpPr>
        <p:spPr>
          <a:xfrm>
            <a:off x="502920" y="5943600"/>
            <a:ext cx="731520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notation pondérée du projet ; les poids sont fixés avant les notes.</a:t>
            </a:r>
          </a:p>
        </p:txBody>
      </p:sp>
      <p:sp>
        <p:nvSpPr>
          <p:cNvPr id="13" name="Rounded Rectangle 12"/>
          <p:cNvSpPr/>
          <p:nvPr/>
        </p:nvSpPr>
        <p:spPr>
          <a:xfrm>
            <a:off x="8065008" y="1801368"/>
            <a:ext cx="3547872" cy="1325880"/>
          </a:xfrm>
          <a:prstGeom prst="roundRect">
            <a:avLst>
              <a:gd name="adj" fmla="val 2500"/>
            </a:avLst>
          </a:prstGeom>
          <a:solidFill>
            <a:srgbClr val="E7F3ED"/>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1920240"/>
            <a:ext cx="2194560" cy="274320"/>
          </a:xfrm>
          <a:prstGeom prst="rect">
            <a:avLst/>
          </a:prstGeom>
          <a:noFill/>
        </p:spPr>
        <p:txBody>
          <a:bodyPr wrap="square" lIns="0" rIns="0" tIns="0" bIns="0" anchor="t">
            <a:spAutoFit/>
          </a:bodyPr>
          <a:lstStyle/>
          <a:p>
            <a:pPr algn="l">
              <a:lnSpc>
                <a:spcPct val="100000"/>
              </a:lnSpc>
              <a:spcAft>
                <a:spcPts val="0"/>
              </a:spcAft>
            </a:pPr>
            <a:r>
              <a:rPr sz="900" b="1" i="0">
                <a:solidFill>
                  <a:srgbClr val="2D7A5B"/>
                </a:solidFill>
                <a:latin typeface="Arial"/>
              </a:rPr>
              <a:t>C4 — SERVEUR DÉDIÉ</a:t>
            </a:r>
          </a:p>
        </p:txBody>
      </p:sp>
      <p:sp>
        <p:nvSpPr>
          <p:cNvPr id="15" name="TextBox 14"/>
          <p:cNvSpPr txBox="1"/>
          <p:nvPr/>
        </p:nvSpPr>
        <p:spPr>
          <a:xfrm>
            <a:off x="8275320" y="2148840"/>
            <a:ext cx="1554480" cy="548640"/>
          </a:xfrm>
          <a:prstGeom prst="rect">
            <a:avLst/>
          </a:prstGeom>
          <a:noFill/>
        </p:spPr>
        <p:txBody>
          <a:bodyPr wrap="square" lIns="0" rIns="0" tIns="0" bIns="0" anchor="t">
            <a:spAutoFit/>
          </a:bodyPr>
          <a:lstStyle/>
          <a:p>
            <a:pPr algn="l">
              <a:lnSpc>
                <a:spcPct val="100000"/>
              </a:lnSpc>
              <a:spcAft>
                <a:spcPts val="0"/>
              </a:spcAft>
            </a:pPr>
            <a:r>
              <a:rPr sz="3300" b="1" i="0">
                <a:solidFill>
                  <a:srgbClr val="2D7A5B"/>
                </a:solidFill>
                <a:latin typeface="Arial"/>
              </a:rPr>
              <a:t>4,18</a:t>
            </a:r>
          </a:p>
        </p:txBody>
      </p:sp>
      <p:sp>
        <p:nvSpPr>
          <p:cNvPr id="16" name="TextBox 15"/>
          <p:cNvSpPr txBox="1"/>
          <p:nvPr/>
        </p:nvSpPr>
        <p:spPr>
          <a:xfrm>
            <a:off x="9464040" y="2304288"/>
            <a:ext cx="1920240" cy="320040"/>
          </a:xfrm>
          <a:prstGeom prst="rect">
            <a:avLst/>
          </a:prstGeom>
          <a:noFill/>
        </p:spPr>
        <p:txBody>
          <a:bodyPr wrap="square" lIns="0" rIns="0" tIns="0" bIns="0" anchor="t">
            <a:spAutoFit/>
          </a:bodyPr>
          <a:lstStyle/>
          <a:p>
            <a:pPr algn="l">
              <a:lnSpc>
                <a:spcPct val="100000"/>
              </a:lnSpc>
              <a:spcAft>
                <a:spcPts val="0"/>
              </a:spcAft>
            </a:pPr>
            <a:r>
              <a:rPr sz="1200" b="0" i="0">
                <a:solidFill>
                  <a:srgbClr val="6D7B8D"/>
                </a:solidFill>
                <a:latin typeface="Arial"/>
              </a:rPr>
              <a:t>sur 5</a:t>
            </a:r>
          </a:p>
        </p:txBody>
      </p:sp>
      <p:sp>
        <p:nvSpPr>
          <p:cNvPr id="17" name="TextBox 16"/>
          <p:cNvSpPr txBox="1"/>
          <p:nvPr/>
        </p:nvSpPr>
        <p:spPr>
          <a:xfrm>
            <a:off x="8275320" y="2734056"/>
            <a:ext cx="3108960" cy="256032"/>
          </a:xfrm>
          <a:prstGeom prst="rect">
            <a:avLst/>
          </a:prstGeom>
          <a:noFill/>
        </p:spPr>
        <p:txBody>
          <a:bodyPr wrap="square" lIns="0" rIns="0" tIns="0" bIns="0" anchor="t">
            <a:spAutoFit/>
          </a:bodyPr>
          <a:lstStyle/>
          <a:p>
            <a:pPr algn="l">
              <a:lnSpc>
                <a:spcPct val="100000"/>
              </a:lnSpc>
              <a:spcAft>
                <a:spcPts val="0"/>
              </a:spcAft>
            </a:pPr>
            <a:r>
              <a:rPr sz="880" b="0" i="0">
                <a:solidFill>
                  <a:srgbClr val="18263A"/>
                </a:solidFill>
                <a:latin typeface="Arial"/>
              </a:rPr>
              <a:t>sécurité 30 % + conformité 20 %</a:t>
            </a:r>
          </a:p>
        </p:txBody>
      </p:sp>
      <p:sp>
        <p:nvSpPr>
          <p:cNvPr id="18" name="TextBox 17"/>
          <p:cNvSpPr txBox="1"/>
          <p:nvPr/>
        </p:nvSpPr>
        <p:spPr>
          <a:xfrm>
            <a:off x="8183879" y="3310128"/>
            <a:ext cx="457200" cy="228600"/>
          </a:xfrm>
          <a:prstGeom prst="rect">
            <a:avLst/>
          </a:prstGeom>
          <a:noFill/>
        </p:spPr>
        <p:txBody>
          <a:bodyPr wrap="square" lIns="0" rIns="0" tIns="0" bIns="0" anchor="t">
            <a:spAutoFit/>
          </a:bodyPr>
          <a:lstStyle/>
          <a:p>
            <a:pPr algn="l">
              <a:lnSpc>
                <a:spcPct val="100000"/>
              </a:lnSpc>
              <a:spcAft>
                <a:spcPts val="0"/>
              </a:spcAft>
            </a:pPr>
            <a:r>
              <a:rPr sz="950" b="1" i="0">
                <a:solidFill>
                  <a:srgbClr val="A63B3B"/>
                </a:solidFill>
                <a:latin typeface="Arial"/>
              </a:rPr>
              <a:t>C1</a:t>
            </a:r>
          </a:p>
        </p:txBody>
      </p:sp>
      <p:sp>
        <p:nvSpPr>
          <p:cNvPr id="19" name="TextBox 18"/>
          <p:cNvSpPr txBox="1"/>
          <p:nvPr/>
        </p:nvSpPr>
        <p:spPr>
          <a:xfrm>
            <a:off x="8686800" y="3282696"/>
            <a:ext cx="685800" cy="274320"/>
          </a:xfrm>
          <a:prstGeom prst="rect">
            <a:avLst/>
          </a:prstGeom>
          <a:noFill/>
        </p:spPr>
        <p:txBody>
          <a:bodyPr wrap="square" lIns="0" rIns="0" tIns="0" bIns="0" anchor="t">
            <a:spAutoFit/>
          </a:bodyPr>
          <a:lstStyle/>
          <a:p>
            <a:pPr algn="l">
              <a:lnSpc>
                <a:spcPct val="100000"/>
              </a:lnSpc>
              <a:spcAft>
                <a:spcPts val="0"/>
              </a:spcAft>
            </a:pPr>
            <a:r>
              <a:rPr sz="1400" b="1" i="0">
                <a:solidFill>
                  <a:srgbClr val="A63B3B"/>
                </a:solidFill>
                <a:latin typeface="Arial"/>
              </a:rPr>
              <a:t>2,15</a:t>
            </a:r>
          </a:p>
        </p:txBody>
      </p:sp>
      <p:sp>
        <p:nvSpPr>
          <p:cNvPr id="20" name="TextBox 19"/>
          <p:cNvSpPr txBox="1"/>
          <p:nvPr/>
        </p:nvSpPr>
        <p:spPr>
          <a:xfrm>
            <a:off x="9400032" y="3310128"/>
            <a:ext cx="2194560" cy="228600"/>
          </a:xfrm>
          <a:prstGeom prst="rect">
            <a:avLst/>
          </a:prstGeom>
          <a:noFill/>
        </p:spPr>
        <p:txBody>
          <a:bodyPr wrap="square" lIns="0" rIns="0" tIns="0" bIns="0" anchor="t">
            <a:spAutoFit/>
          </a:bodyPr>
          <a:lstStyle/>
          <a:p>
            <a:pPr algn="l">
              <a:lnSpc>
                <a:spcPct val="100000"/>
              </a:lnSpc>
              <a:spcAft>
                <a:spcPts val="0"/>
              </a:spcAft>
            </a:pPr>
            <a:r>
              <a:rPr sz="860" b="0" i="0">
                <a:solidFill>
                  <a:srgbClr val="6D7B8D"/>
                </a:solidFill>
                <a:latin typeface="Arial"/>
              </a:rPr>
              <a:t>script local — le plus populaire</a:t>
            </a:r>
          </a:p>
        </p:txBody>
      </p:sp>
      <p:sp>
        <p:nvSpPr>
          <p:cNvPr id="21" name="TextBox 20"/>
          <p:cNvSpPr txBox="1"/>
          <p:nvPr/>
        </p:nvSpPr>
        <p:spPr>
          <a:xfrm>
            <a:off x="8183879" y="3931920"/>
            <a:ext cx="457200" cy="228600"/>
          </a:xfrm>
          <a:prstGeom prst="rect">
            <a:avLst/>
          </a:prstGeom>
          <a:noFill/>
        </p:spPr>
        <p:txBody>
          <a:bodyPr wrap="square" lIns="0" rIns="0" tIns="0" bIns="0" anchor="t">
            <a:spAutoFit/>
          </a:bodyPr>
          <a:lstStyle/>
          <a:p>
            <a:pPr algn="l">
              <a:lnSpc>
                <a:spcPct val="100000"/>
              </a:lnSpc>
              <a:spcAft>
                <a:spcPts val="0"/>
              </a:spcAft>
            </a:pPr>
            <a:r>
              <a:rPr sz="950" b="1" i="0">
                <a:solidFill>
                  <a:srgbClr val="6D7B8D"/>
                </a:solidFill>
                <a:latin typeface="Arial"/>
              </a:rPr>
              <a:t>C2</a:t>
            </a:r>
          </a:p>
        </p:txBody>
      </p:sp>
      <p:sp>
        <p:nvSpPr>
          <p:cNvPr id="22" name="TextBox 21"/>
          <p:cNvSpPr txBox="1"/>
          <p:nvPr/>
        </p:nvSpPr>
        <p:spPr>
          <a:xfrm>
            <a:off x="8686800" y="3904487"/>
            <a:ext cx="685800" cy="274320"/>
          </a:xfrm>
          <a:prstGeom prst="rect">
            <a:avLst/>
          </a:prstGeom>
          <a:noFill/>
        </p:spPr>
        <p:txBody>
          <a:bodyPr wrap="square" lIns="0" rIns="0" tIns="0" bIns="0" anchor="t">
            <a:spAutoFit/>
          </a:bodyPr>
          <a:lstStyle/>
          <a:p>
            <a:pPr algn="l">
              <a:lnSpc>
                <a:spcPct val="100000"/>
              </a:lnSpc>
              <a:spcAft>
                <a:spcPts val="0"/>
              </a:spcAft>
            </a:pPr>
            <a:r>
              <a:rPr sz="1400" b="1" i="0">
                <a:solidFill>
                  <a:srgbClr val="6D7B8D"/>
                </a:solidFill>
                <a:latin typeface="Arial"/>
              </a:rPr>
              <a:t>2,68</a:t>
            </a:r>
          </a:p>
        </p:txBody>
      </p:sp>
      <p:sp>
        <p:nvSpPr>
          <p:cNvPr id="23" name="TextBox 22"/>
          <p:cNvSpPr txBox="1"/>
          <p:nvPr/>
        </p:nvSpPr>
        <p:spPr>
          <a:xfrm>
            <a:off x="9400032" y="3931920"/>
            <a:ext cx="2194560" cy="228600"/>
          </a:xfrm>
          <a:prstGeom prst="rect">
            <a:avLst/>
          </a:prstGeom>
          <a:noFill/>
        </p:spPr>
        <p:txBody>
          <a:bodyPr wrap="square" lIns="0" rIns="0" tIns="0" bIns="0" anchor="t">
            <a:spAutoFit/>
          </a:bodyPr>
          <a:lstStyle/>
          <a:p>
            <a:pPr algn="l">
              <a:lnSpc>
                <a:spcPct val="100000"/>
              </a:lnSpc>
              <a:spcAft>
                <a:spcPts val="0"/>
              </a:spcAft>
            </a:pPr>
            <a:r>
              <a:rPr sz="860" b="0" i="0">
                <a:solidFill>
                  <a:srgbClr val="6D7B8D"/>
                </a:solidFill>
                <a:latin typeface="Arial"/>
              </a:rPr>
              <a:t>plateforme commerciale</a:t>
            </a:r>
          </a:p>
        </p:txBody>
      </p:sp>
      <p:sp>
        <p:nvSpPr>
          <p:cNvPr id="24" name="TextBox 23"/>
          <p:cNvSpPr txBox="1"/>
          <p:nvPr/>
        </p:nvSpPr>
        <p:spPr>
          <a:xfrm>
            <a:off x="8183879" y="4553712"/>
            <a:ext cx="457200" cy="228600"/>
          </a:xfrm>
          <a:prstGeom prst="rect">
            <a:avLst/>
          </a:prstGeom>
          <a:noFill/>
        </p:spPr>
        <p:txBody>
          <a:bodyPr wrap="square" lIns="0" rIns="0" tIns="0" bIns="0" anchor="t">
            <a:spAutoFit/>
          </a:bodyPr>
          <a:lstStyle/>
          <a:p>
            <a:pPr algn="l">
              <a:lnSpc>
                <a:spcPct val="100000"/>
              </a:lnSpc>
              <a:spcAft>
                <a:spcPts val="0"/>
              </a:spcAft>
            </a:pPr>
            <a:r>
              <a:rPr sz="950" b="1" i="0">
                <a:solidFill>
                  <a:srgbClr val="1D5B94"/>
                </a:solidFill>
                <a:latin typeface="Arial"/>
              </a:rPr>
              <a:t>C3</a:t>
            </a:r>
          </a:p>
        </p:txBody>
      </p:sp>
      <p:sp>
        <p:nvSpPr>
          <p:cNvPr id="25" name="TextBox 24"/>
          <p:cNvSpPr txBox="1"/>
          <p:nvPr/>
        </p:nvSpPr>
        <p:spPr>
          <a:xfrm>
            <a:off x="8686800" y="4526280"/>
            <a:ext cx="685800" cy="274320"/>
          </a:xfrm>
          <a:prstGeom prst="rect">
            <a:avLst/>
          </a:prstGeom>
          <a:noFill/>
        </p:spPr>
        <p:txBody>
          <a:bodyPr wrap="square" lIns="0" rIns="0" tIns="0" bIns="0" anchor="t">
            <a:spAutoFit/>
          </a:bodyPr>
          <a:lstStyle/>
          <a:p>
            <a:pPr algn="l">
              <a:lnSpc>
                <a:spcPct val="100000"/>
              </a:lnSpc>
              <a:spcAft>
                <a:spcPts val="0"/>
              </a:spcAft>
            </a:pPr>
            <a:r>
              <a:rPr sz="1400" b="1" i="0">
                <a:solidFill>
                  <a:srgbClr val="1D5B94"/>
                </a:solidFill>
                <a:latin typeface="Arial"/>
              </a:rPr>
              <a:t>3,03</a:t>
            </a:r>
          </a:p>
        </p:txBody>
      </p:sp>
      <p:sp>
        <p:nvSpPr>
          <p:cNvPr id="26" name="TextBox 25"/>
          <p:cNvSpPr txBox="1"/>
          <p:nvPr/>
        </p:nvSpPr>
        <p:spPr>
          <a:xfrm>
            <a:off x="9400032" y="4553712"/>
            <a:ext cx="2194560" cy="228600"/>
          </a:xfrm>
          <a:prstGeom prst="rect">
            <a:avLst/>
          </a:prstGeom>
          <a:noFill/>
        </p:spPr>
        <p:txBody>
          <a:bodyPr wrap="square" lIns="0" rIns="0" tIns="0" bIns="0" anchor="t">
            <a:spAutoFit/>
          </a:bodyPr>
          <a:lstStyle/>
          <a:p>
            <a:pPr algn="l">
              <a:lnSpc>
                <a:spcPct val="100000"/>
              </a:lnSpc>
              <a:spcAft>
                <a:spcPts val="0"/>
              </a:spcAft>
            </a:pPr>
            <a:r>
              <a:rPr sz="860" b="0" i="0">
                <a:solidFill>
                  <a:srgbClr val="6D7B8D"/>
                </a:solidFill>
                <a:latin typeface="Arial"/>
              </a:rPr>
              <a:t>passerelle MCP générique</a:t>
            </a:r>
          </a:p>
        </p:txBody>
      </p:sp>
      <p:sp>
        <p:nvSpPr>
          <p:cNvPr id="27" name="Rounded Rectangle 26"/>
          <p:cNvSpPr/>
          <p:nvPr/>
        </p:nvSpPr>
        <p:spPr>
          <a:xfrm>
            <a:off x="8065008" y="5193792"/>
            <a:ext cx="3547872" cy="822960"/>
          </a:xfrm>
          <a:prstGeom prst="roundRect">
            <a:avLst>
              <a:gd name="adj" fmla="val 2500"/>
            </a:avLst>
          </a:prstGeom>
          <a:solidFill>
            <a:srgbClr val="F8EAEA"/>
          </a:solidFill>
          <a:ln w="10160">
            <a:solidFill>
              <a:srgbClr val="A6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5303520"/>
            <a:ext cx="3154680" cy="594360"/>
          </a:xfrm>
          <a:prstGeom prst="rect">
            <a:avLst/>
          </a:prstGeom>
          <a:noFill/>
        </p:spPr>
        <p:txBody>
          <a:bodyPr wrap="square" lIns="0" rIns="0" tIns="0" bIns="0" anchor="t">
            <a:spAutoFit/>
          </a:bodyPr>
          <a:lstStyle/>
          <a:p>
            <a:pPr algn="l">
              <a:lnSpc>
                <a:spcPct val="103000"/>
              </a:lnSpc>
              <a:spcAft>
                <a:spcPts val="0"/>
              </a:spcAft>
            </a:pPr>
            <a:r>
              <a:rPr sz="919" b="1" i="0">
                <a:solidFill>
                  <a:srgbClr val="0B1F3A"/>
                </a:solidFill>
                <a:latin typeface="Arial"/>
              </a:rPr>
              <a:t>C1 écarté : ni jeton, ni étiquette, ni journal. Immédiat ne veut pas dire sûr.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P3 · ARCHITECTURE</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150" b="1" i="0">
                <a:solidFill>
                  <a:srgbClr val="0B1F3A"/>
                </a:solidFill>
                <a:latin typeface="Arial"/>
              </a:rPr>
              <a:t>Trois zones de confiance, huit points de contrôle, un seul journal</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08 / 16</a:t>
            </a:r>
          </a:p>
        </p:txBody>
      </p:sp>
      <p:pic>
        <p:nvPicPr>
          <p:cNvPr id="11" name="Picture 10" descr="fig_architecture_zones.png"/>
          <p:cNvPicPr>
            <a:picLocks noChangeAspect="1"/>
          </p:cNvPicPr>
          <p:nvPr/>
        </p:nvPicPr>
        <p:blipFill>
          <a:blip r:embed="rId2"/>
          <a:stretch>
            <a:fillRect/>
          </a:stretch>
        </p:blipFill>
        <p:spPr>
          <a:xfrm>
            <a:off x="534351" y="1801368"/>
            <a:ext cx="7106032" cy="4315968"/>
          </a:xfrm>
          <a:prstGeom prst="rect">
            <a:avLst/>
          </a:prstGeom>
        </p:spPr>
      </p:pic>
      <p:sp>
        <p:nvSpPr>
          <p:cNvPr id="12" name="TextBox 11"/>
          <p:cNvSpPr txBox="1"/>
          <p:nvPr/>
        </p:nvSpPr>
        <p:spPr>
          <a:xfrm>
            <a:off x="502920" y="6172200"/>
            <a:ext cx="722376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conception du projet — CP1 à CP8 détaillés dans le rapport.</a:t>
            </a:r>
          </a:p>
        </p:txBody>
      </p:sp>
      <p:sp>
        <p:nvSpPr>
          <p:cNvPr id="13" name="Rounded Rectangle 12"/>
          <p:cNvSpPr/>
          <p:nvPr/>
        </p:nvSpPr>
        <p:spPr>
          <a:xfrm>
            <a:off x="8001000" y="1801368"/>
            <a:ext cx="3566160"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1801368"/>
            <a:ext cx="54864" cy="82296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1874519"/>
            <a:ext cx="640080" cy="228600"/>
          </a:xfrm>
          <a:prstGeom prst="rect">
            <a:avLst/>
          </a:prstGeom>
          <a:noFill/>
        </p:spPr>
        <p:txBody>
          <a:bodyPr wrap="square" lIns="0" rIns="0" tIns="0" bIns="0" anchor="t">
            <a:spAutoFit/>
          </a:bodyPr>
          <a:lstStyle/>
          <a:p>
            <a:pPr algn="l">
              <a:lnSpc>
                <a:spcPct val="100000"/>
              </a:lnSpc>
              <a:spcAft>
                <a:spcPts val="0"/>
              </a:spcAft>
            </a:pPr>
            <a:r>
              <a:rPr sz="850" b="1" i="0">
                <a:solidFill>
                  <a:srgbClr val="B8934E"/>
                </a:solidFill>
                <a:latin typeface="Arial"/>
              </a:rPr>
              <a:t>ZONE 0</a:t>
            </a:r>
          </a:p>
        </p:txBody>
      </p:sp>
      <p:sp>
        <p:nvSpPr>
          <p:cNvPr id="16" name="TextBox 15"/>
          <p:cNvSpPr txBox="1"/>
          <p:nvPr/>
        </p:nvSpPr>
        <p:spPr>
          <a:xfrm>
            <a:off x="8851392" y="1865376"/>
            <a:ext cx="2560320" cy="274320"/>
          </a:xfrm>
          <a:prstGeom prst="rect">
            <a:avLst/>
          </a:prstGeom>
          <a:noFill/>
        </p:spPr>
        <p:txBody>
          <a:bodyPr wrap="square" lIns="0" rIns="0" tIns="0" bIns="0" anchor="t">
            <a:spAutoFit/>
          </a:bodyPr>
          <a:lstStyle/>
          <a:p>
            <a:pPr algn="l">
              <a:lnSpc>
                <a:spcPct val="100000"/>
              </a:lnSpc>
              <a:spcAft>
                <a:spcPts val="0"/>
              </a:spcAft>
            </a:pPr>
            <a:r>
              <a:rPr sz="1150" b="1" i="0">
                <a:solidFill>
                  <a:srgbClr val="0B1F3A"/>
                </a:solidFill>
                <a:latin typeface="Arial"/>
              </a:rPr>
              <a:t>Poste analyste</a:t>
            </a:r>
          </a:p>
        </p:txBody>
      </p:sp>
      <p:sp>
        <p:nvSpPr>
          <p:cNvPr id="17" name="TextBox 16"/>
          <p:cNvSpPr txBox="1"/>
          <p:nvPr/>
        </p:nvSpPr>
        <p:spPr>
          <a:xfrm>
            <a:off x="8851392" y="2157984"/>
            <a:ext cx="2514600" cy="365760"/>
          </a:xfrm>
          <a:prstGeom prst="rect">
            <a:avLst/>
          </a:prstGeom>
          <a:noFill/>
        </p:spPr>
        <p:txBody>
          <a:bodyPr wrap="square" lIns="0" rIns="0" tIns="0" bIns="0" anchor="t">
            <a:spAutoFit/>
          </a:bodyPr>
          <a:lstStyle/>
          <a:p>
            <a:pPr algn="l">
              <a:lnSpc>
                <a:spcPct val="100000"/>
              </a:lnSpc>
              <a:spcAft>
                <a:spcPts val="0"/>
              </a:spcAft>
            </a:pPr>
            <a:r>
              <a:rPr sz="850" b="0" i="0">
                <a:solidFill>
                  <a:srgbClr val="6D7B8D"/>
                </a:solidFill>
                <a:latin typeface="Arial"/>
              </a:rPr>
              <a:t>client MCP, jeton, posture</a:t>
            </a:r>
          </a:p>
        </p:txBody>
      </p:sp>
      <p:sp>
        <p:nvSpPr>
          <p:cNvPr id="18" name="Rounded Rectangle 17"/>
          <p:cNvSpPr/>
          <p:nvPr/>
        </p:nvSpPr>
        <p:spPr>
          <a:xfrm>
            <a:off x="8001000" y="2743200"/>
            <a:ext cx="3566160"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2743200"/>
            <a:ext cx="54864" cy="822960"/>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2816352"/>
            <a:ext cx="640080" cy="228600"/>
          </a:xfrm>
          <a:prstGeom prst="rect">
            <a:avLst/>
          </a:prstGeom>
          <a:noFill/>
        </p:spPr>
        <p:txBody>
          <a:bodyPr wrap="square" lIns="0" rIns="0" tIns="0" bIns="0" anchor="t">
            <a:spAutoFit/>
          </a:bodyPr>
          <a:lstStyle/>
          <a:p>
            <a:pPr algn="l">
              <a:lnSpc>
                <a:spcPct val="100000"/>
              </a:lnSpc>
              <a:spcAft>
                <a:spcPts val="0"/>
              </a:spcAft>
            </a:pPr>
            <a:r>
              <a:rPr sz="850" b="1" i="0">
                <a:solidFill>
                  <a:srgbClr val="1D5B94"/>
                </a:solidFill>
                <a:latin typeface="Arial"/>
              </a:rPr>
              <a:t>ZONE 1</a:t>
            </a:r>
          </a:p>
        </p:txBody>
      </p:sp>
      <p:sp>
        <p:nvSpPr>
          <p:cNvPr id="21" name="TextBox 20"/>
          <p:cNvSpPr txBox="1"/>
          <p:nvPr/>
        </p:nvSpPr>
        <p:spPr>
          <a:xfrm>
            <a:off x="8851392" y="2807208"/>
            <a:ext cx="2560320" cy="274320"/>
          </a:xfrm>
          <a:prstGeom prst="rect">
            <a:avLst/>
          </a:prstGeom>
          <a:noFill/>
        </p:spPr>
        <p:txBody>
          <a:bodyPr wrap="square" lIns="0" rIns="0" tIns="0" bIns="0" anchor="t">
            <a:spAutoFit/>
          </a:bodyPr>
          <a:lstStyle/>
          <a:p>
            <a:pPr algn="l">
              <a:lnSpc>
                <a:spcPct val="100000"/>
              </a:lnSpc>
              <a:spcAft>
                <a:spcPts val="0"/>
              </a:spcAft>
            </a:pPr>
            <a:r>
              <a:rPr sz="1150" b="1" i="0">
                <a:solidFill>
                  <a:srgbClr val="0B1F3A"/>
                </a:solidFill>
                <a:latin typeface="Arial"/>
              </a:rPr>
              <a:t>Serveur non privilégié</a:t>
            </a:r>
          </a:p>
        </p:txBody>
      </p:sp>
      <p:sp>
        <p:nvSpPr>
          <p:cNvPr id="22" name="TextBox 21"/>
          <p:cNvSpPr txBox="1"/>
          <p:nvPr/>
        </p:nvSpPr>
        <p:spPr>
          <a:xfrm>
            <a:off x="8851392" y="3099816"/>
            <a:ext cx="2514600" cy="365760"/>
          </a:xfrm>
          <a:prstGeom prst="rect">
            <a:avLst/>
          </a:prstGeom>
          <a:noFill/>
        </p:spPr>
        <p:txBody>
          <a:bodyPr wrap="square" lIns="0" rIns="0" tIns="0" bIns="0" anchor="t">
            <a:spAutoFit/>
          </a:bodyPr>
          <a:lstStyle/>
          <a:p>
            <a:pPr algn="l">
              <a:lnSpc>
                <a:spcPct val="100000"/>
              </a:lnSpc>
              <a:spcAft>
                <a:spcPts val="0"/>
              </a:spcAft>
            </a:pPr>
            <a:r>
              <a:rPr sz="850" b="0" i="0">
                <a:solidFill>
                  <a:srgbClr val="6D7B8D"/>
                </a:solidFill>
                <a:latin typeface="Arial"/>
              </a:rPr>
              <a:t>CP1 à CP7, un seul journal</a:t>
            </a:r>
          </a:p>
        </p:txBody>
      </p:sp>
      <p:sp>
        <p:nvSpPr>
          <p:cNvPr id="23" name="Rounded Rectangle 22"/>
          <p:cNvSpPr/>
          <p:nvPr/>
        </p:nvSpPr>
        <p:spPr>
          <a:xfrm>
            <a:off x="8001000" y="3685032"/>
            <a:ext cx="3566160"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01000" y="3685032"/>
            <a:ext cx="54864" cy="822960"/>
          </a:xfrm>
          <a:prstGeom prst="rect">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79" y="3758184"/>
            <a:ext cx="640080" cy="228600"/>
          </a:xfrm>
          <a:prstGeom prst="rect">
            <a:avLst/>
          </a:prstGeom>
          <a:noFill/>
        </p:spPr>
        <p:txBody>
          <a:bodyPr wrap="square" lIns="0" rIns="0" tIns="0" bIns="0" anchor="t">
            <a:spAutoFit/>
          </a:bodyPr>
          <a:lstStyle/>
          <a:p>
            <a:pPr algn="l">
              <a:lnSpc>
                <a:spcPct val="100000"/>
              </a:lnSpc>
              <a:spcAft>
                <a:spcPts val="0"/>
              </a:spcAft>
            </a:pPr>
            <a:r>
              <a:rPr sz="850" b="1" i="0">
                <a:solidFill>
                  <a:srgbClr val="2D7A5B"/>
                </a:solidFill>
                <a:latin typeface="Arial"/>
              </a:rPr>
              <a:t>ZONE 2</a:t>
            </a:r>
          </a:p>
        </p:txBody>
      </p:sp>
      <p:sp>
        <p:nvSpPr>
          <p:cNvPr id="26" name="TextBox 25"/>
          <p:cNvSpPr txBox="1"/>
          <p:nvPr/>
        </p:nvSpPr>
        <p:spPr>
          <a:xfrm>
            <a:off x="8851392" y="3749040"/>
            <a:ext cx="2560320" cy="274320"/>
          </a:xfrm>
          <a:prstGeom prst="rect">
            <a:avLst/>
          </a:prstGeom>
          <a:noFill/>
        </p:spPr>
        <p:txBody>
          <a:bodyPr wrap="square" lIns="0" rIns="0" tIns="0" bIns="0" anchor="t">
            <a:spAutoFit/>
          </a:bodyPr>
          <a:lstStyle/>
          <a:p>
            <a:pPr algn="l">
              <a:lnSpc>
                <a:spcPct val="100000"/>
              </a:lnSpc>
              <a:spcAft>
                <a:spcPts val="0"/>
              </a:spcAft>
            </a:pPr>
            <a:r>
              <a:rPr sz="1150" b="1" i="0">
                <a:solidFill>
                  <a:srgbClr val="0B1F3A"/>
                </a:solidFill>
                <a:latin typeface="Arial"/>
              </a:rPr>
              <a:t>Données classifiées</a:t>
            </a:r>
          </a:p>
        </p:txBody>
      </p:sp>
      <p:sp>
        <p:nvSpPr>
          <p:cNvPr id="27" name="TextBox 26"/>
          <p:cNvSpPr txBox="1"/>
          <p:nvPr/>
        </p:nvSpPr>
        <p:spPr>
          <a:xfrm>
            <a:off x="8851392" y="4041648"/>
            <a:ext cx="2514600" cy="365760"/>
          </a:xfrm>
          <a:prstGeom prst="rect">
            <a:avLst/>
          </a:prstGeom>
          <a:noFill/>
        </p:spPr>
        <p:txBody>
          <a:bodyPr wrap="square" lIns="0" rIns="0" tIns="0" bIns="0" anchor="t">
            <a:spAutoFit/>
          </a:bodyPr>
          <a:lstStyle/>
          <a:p>
            <a:pPr algn="l">
              <a:lnSpc>
                <a:spcPct val="100000"/>
              </a:lnSpc>
              <a:spcAft>
                <a:spcPts val="0"/>
              </a:spcAft>
            </a:pPr>
            <a:r>
              <a:rPr sz="850" b="0" i="0">
                <a:solidFill>
                  <a:srgbClr val="6D7B8D"/>
                </a:solidFill>
                <a:latin typeface="Arial"/>
              </a:rPr>
              <a:t>SQLite 0440, clé 0400, audit</a:t>
            </a:r>
          </a:p>
        </p:txBody>
      </p:sp>
      <p:sp>
        <p:nvSpPr>
          <p:cNvPr id="28" name="Rounded Rectangle 27"/>
          <p:cNvSpPr/>
          <p:nvPr/>
        </p:nvSpPr>
        <p:spPr>
          <a:xfrm>
            <a:off x="8001000" y="4626864"/>
            <a:ext cx="3566160"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01000" y="4626864"/>
            <a:ext cx="54864" cy="822960"/>
          </a:xfrm>
          <a:prstGeom prst="rect">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4700016"/>
            <a:ext cx="640080" cy="228600"/>
          </a:xfrm>
          <a:prstGeom prst="rect">
            <a:avLst/>
          </a:prstGeom>
          <a:noFill/>
        </p:spPr>
        <p:txBody>
          <a:bodyPr wrap="square" lIns="0" rIns="0" tIns="0" bIns="0" anchor="t">
            <a:spAutoFit/>
          </a:bodyPr>
          <a:lstStyle/>
          <a:p>
            <a:pPr algn="l">
              <a:lnSpc>
                <a:spcPct val="100000"/>
              </a:lnSpc>
              <a:spcAft>
                <a:spcPts val="0"/>
              </a:spcAft>
            </a:pPr>
            <a:r>
              <a:rPr sz="850" b="1" i="0">
                <a:solidFill>
                  <a:srgbClr val="A63B3B"/>
                </a:solidFill>
                <a:latin typeface="Arial"/>
              </a:rPr>
              <a:t>ZONE 3</a:t>
            </a:r>
          </a:p>
        </p:txBody>
      </p:sp>
      <p:sp>
        <p:nvSpPr>
          <p:cNvPr id="31" name="TextBox 30"/>
          <p:cNvSpPr txBox="1"/>
          <p:nvPr/>
        </p:nvSpPr>
        <p:spPr>
          <a:xfrm>
            <a:off x="8851392" y="4690872"/>
            <a:ext cx="2560320" cy="274320"/>
          </a:xfrm>
          <a:prstGeom prst="rect">
            <a:avLst/>
          </a:prstGeom>
          <a:noFill/>
        </p:spPr>
        <p:txBody>
          <a:bodyPr wrap="square" lIns="0" rIns="0" tIns="0" bIns="0" anchor="t">
            <a:spAutoFit/>
          </a:bodyPr>
          <a:lstStyle/>
          <a:p>
            <a:pPr algn="l">
              <a:lnSpc>
                <a:spcPct val="100000"/>
              </a:lnSpc>
              <a:spcAft>
                <a:spcPts val="0"/>
              </a:spcAft>
            </a:pPr>
            <a:r>
              <a:rPr sz="1150" b="1" i="0">
                <a:solidFill>
                  <a:srgbClr val="0B1F3A"/>
                </a:solidFill>
                <a:latin typeface="Arial"/>
              </a:rPr>
              <a:t>Flux partenaire</a:t>
            </a:r>
          </a:p>
        </p:txBody>
      </p:sp>
      <p:sp>
        <p:nvSpPr>
          <p:cNvPr id="32" name="TextBox 31"/>
          <p:cNvSpPr txBox="1"/>
          <p:nvPr/>
        </p:nvSpPr>
        <p:spPr>
          <a:xfrm>
            <a:off x="8851392" y="4983479"/>
            <a:ext cx="2514600" cy="365760"/>
          </a:xfrm>
          <a:prstGeom prst="rect">
            <a:avLst/>
          </a:prstGeom>
          <a:noFill/>
        </p:spPr>
        <p:txBody>
          <a:bodyPr wrap="square" lIns="0" rIns="0" tIns="0" bIns="0" anchor="t">
            <a:spAutoFit/>
          </a:bodyPr>
          <a:lstStyle/>
          <a:p>
            <a:pPr algn="l">
              <a:lnSpc>
                <a:spcPct val="100000"/>
              </a:lnSpc>
              <a:spcAft>
                <a:spcPts val="0"/>
              </a:spcAft>
            </a:pPr>
            <a:r>
              <a:rPr sz="850" b="0" i="0">
                <a:solidFill>
                  <a:srgbClr val="6D7B8D"/>
                </a:solidFill>
                <a:latin typeface="Arial"/>
              </a:rPr>
              <a:t>non fiable, neutralisé à l'ingestion</a:t>
            </a:r>
          </a:p>
        </p:txBody>
      </p:sp>
      <p:sp>
        <p:nvSpPr>
          <p:cNvPr id="33" name="Rounded Rectangle 32"/>
          <p:cNvSpPr/>
          <p:nvPr/>
        </p:nvSpPr>
        <p:spPr>
          <a:xfrm>
            <a:off x="8001000" y="5577840"/>
            <a:ext cx="3566160" cy="50292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4736" y="5669280"/>
            <a:ext cx="3246120" cy="320040"/>
          </a:xfrm>
          <a:prstGeom prst="rect">
            <a:avLst/>
          </a:prstGeom>
          <a:noFill/>
        </p:spPr>
        <p:txBody>
          <a:bodyPr wrap="square" lIns="0" rIns="0" tIns="0" bIns="0" anchor="t">
            <a:spAutoFit/>
          </a:bodyPr>
          <a:lstStyle/>
          <a:p>
            <a:pPr algn="l">
              <a:lnSpc>
                <a:spcPct val="100000"/>
              </a:lnSpc>
              <a:spcAft>
                <a:spcPts val="0"/>
              </a:spcAft>
            </a:pPr>
            <a:r>
              <a:rPr sz="940" b="1" i="0">
                <a:solidFill>
                  <a:srgbClr val="0B1F3A"/>
                </a:solidFill>
                <a:latin typeface="Arial"/>
              </a:rPr>
              <a:t>Fail-closed : pas d'audit = pas de réponse.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P3 · PARCOURS</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600" b="1" i="0">
                <a:solidFill>
                  <a:srgbClr val="0B1F3A"/>
                </a:solidFill>
                <a:latin typeface="Arial"/>
              </a:rPr>
              <a:t>Huit étapes, une branche de refus, une trace</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09 / 16</a:t>
            </a:r>
          </a:p>
        </p:txBody>
      </p:sp>
      <p:pic>
        <p:nvPicPr>
          <p:cNvPr id="11" name="Picture 10" descr="fig_parcours_document.png"/>
          <p:cNvPicPr>
            <a:picLocks noChangeAspect="1"/>
          </p:cNvPicPr>
          <p:nvPr/>
        </p:nvPicPr>
        <p:blipFill>
          <a:blip r:embed="rId2"/>
          <a:stretch>
            <a:fillRect/>
          </a:stretch>
        </p:blipFill>
        <p:spPr>
          <a:xfrm>
            <a:off x="481230" y="1801368"/>
            <a:ext cx="5246314" cy="4315968"/>
          </a:xfrm>
          <a:prstGeom prst="rect">
            <a:avLst/>
          </a:prstGeom>
        </p:spPr>
      </p:pic>
      <p:sp>
        <p:nvSpPr>
          <p:cNvPr id="12" name="TextBox 11"/>
          <p:cNvSpPr txBox="1"/>
          <p:nvPr/>
        </p:nvSpPr>
        <p:spPr>
          <a:xfrm>
            <a:off x="502920" y="6172200"/>
            <a:ext cx="521208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conception du projet — chaque étape cite une exigence.</a:t>
            </a:r>
          </a:p>
        </p:txBody>
      </p:sp>
      <p:sp>
        <p:nvSpPr>
          <p:cNvPr id="13" name="Rounded Rectangle 12"/>
          <p:cNvSpPr/>
          <p:nvPr/>
        </p:nvSpPr>
        <p:spPr>
          <a:xfrm>
            <a:off x="6080760" y="1801368"/>
            <a:ext cx="2514600" cy="123444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911095"/>
            <a:ext cx="640080" cy="274320"/>
          </a:xfrm>
          <a:prstGeom prst="rect">
            <a:avLst/>
          </a:prstGeom>
          <a:noFill/>
        </p:spPr>
        <p:txBody>
          <a:bodyPr wrap="square" lIns="0" rIns="0" tIns="0" bIns="0" anchor="t">
            <a:spAutoFit/>
          </a:bodyPr>
          <a:lstStyle/>
          <a:p>
            <a:pPr algn="l">
              <a:lnSpc>
                <a:spcPct val="100000"/>
              </a:lnSpc>
              <a:spcAft>
                <a:spcPts val="0"/>
              </a:spcAft>
            </a:pPr>
            <a:r>
              <a:rPr sz="900" b="1" i="0">
                <a:solidFill>
                  <a:srgbClr val="B8934E"/>
                </a:solidFill>
                <a:latin typeface="Arial"/>
              </a:rPr>
              <a:t>1–2</a:t>
            </a:r>
          </a:p>
        </p:txBody>
      </p:sp>
      <p:sp>
        <p:nvSpPr>
          <p:cNvPr id="15" name="TextBox 14"/>
          <p:cNvSpPr txBox="1"/>
          <p:nvPr/>
        </p:nvSpPr>
        <p:spPr>
          <a:xfrm>
            <a:off x="6227064" y="2167128"/>
            <a:ext cx="2194560" cy="457200"/>
          </a:xfrm>
          <a:prstGeom prst="rect">
            <a:avLst/>
          </a:prstGeom>
          <a:noFill/>
        </p:spPr>
        <p:txBody>
          <a:bodyPr wrap="square" lIns="0" rIns="0" tIns="0" bIns="0" anchor="t">
            <a:spAutoFit/>
          </a:bodyPr>
          <a:lstStyle/>
          <a:p>
            <a:pPr algn="l">
              <a:lnSpc>
                <a:spcPct val="100000"/>
              </a:lnSpc>
              <a:spcAft>
                <a:spcPts val="0"/>
              </a:spcAft>
            </a:pPr>
            <a:r>
              <a:rPr sz="1050" b="1" i="0">
                <a:solidFill>
                  <a:srgbClr val="0B1F3A"/>
                </a:solidFill>
                <a:latin typeface="Arial"/>
              </a:rPr>
              <a:t>Réception et validation</a:t>
            </a:r>
          </a:p>
        </p:txBody>
      </p:sp>
      <p:sp>
        <p:nvSpPr>
          <p:cNvPr id="16" name="TextBox 15"/>
          <p:cNvSpPr txBox="1"/>
          <p:nvPr/>
        </p:nvSpPr>
        <p:spPr>
          <a:xfrm>
            <a:off x="6227064" y="2670048"/>
            <a:ext cx="2148840" cy="274320"/>
          </a:xfrm>
          <a:prstGeom prst="rect">
            <a:avLst/>
          </a:prstGeom>
          <a:noFill/>
        </p:spPr>
        <p:txBody>
          <a:bodyPr wrap="square" lIns="0" rIns="0" tIns="0" bIns="0" anchor="t">
            <a:spAutoFit/>
          </a:bodyPr>
          <a:lstStyle/>
          <a:p>
            <a:pPr algn="l">
              <a:lnSpc>
                <a:spcPct val="100000"/>
              </a:lnSpc>
              <a:spcAft>
                <a:spcPts val="0"/>
              </a:spcAft>
            </a:pPr>
            <a:r>
              <a:rPr sz="819" b="0" i="0">
                <a:solidFill>
                  <a:srgbClr val="6D7B8D"/>
                </a:solidFill>
                <a:latin typeface="Arial"/>
              </a:rPr>
              <a:t>contenu non exécutable</a:t>
            </a:r>
          </a:p>
        </p:txBody>
      </p:sp>
      <p:sp>
        <p:nvSpPr>
          <p:cNvPr id="17" name="Rounded Rectangle 16"/>
          <p:cNvSpPr/>
          <p:nvPr/>
        </p:nvSpPr>
        <p:spPr>
          <a:xfrm>
            <a:off x="8778240" y="1801368"/>
            <a:ext cx="2514600" cy="123444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4544" y="1911095"/>
            <a:ext cx="640080" cy="274320"/>
          </a:xfrm>
          <a:prstGeom prst="rect">
            <a:avLst/>
          </a:prstGeom>
          <a:noFill/>
        </p:spPr>
        <p:txBody>
          <a:bodyPr wrap="square" lIns="0" rIns="0" tIns="0" bIns="0" anchor="t">
            <a:spAutoFit/>
          </a:bodyPr>
          <a:lstStyle/>
          <a:p>
            <a:pPr algn="l">
              <a:lnSpc>
                <a:spcPct val="100000"/>
              </a:lnSpc>
              <a:spcAft>
                <a:spcPts val="0"/>
              </a:spcAft>
            </a:pPr>
            <a:r>
              <a:rPr sz="900" b="1" i="0">
                <a:solidFill>
                  <a:srgbClr val="1D5B94"/>
                </a:solidFill>
                <a:latin typeface="Arial"/>
              </a:rPr>
              <a:t>3–4</a:t>
            </a:r>
          </a:p>
        </p:txBody>
      </p:sp>
      <p:sp>
        <p:nvSpPr>
          <p:cNvPr id="19" name="TextBox 18"/>
          <p:cNvSpPr txBox="1"/>
          <p:nvPr/>
        </p:nvSpPr>
        <p:spPr>
          <a:xfrm>
            <a:off x="8924544" y="2167128"/>
            <a:ext cx="2194560" cy="457200"/>
          </a:xfrm>
          <a:prstGeom prst="rect">
            <a:avLst/>
          </a:prstGeom>
          <a:noFill/>
        </p:spPr>
        <p:txBody>
          <a:bodyPr wrap="square" lIns="0" rIns="0" tIns="0" bIns="0" anchor="t">
            <a:spAutoFit/>
          </a:bodyPr>
          <a:lstStyle/>
          <a:p>
            <a:pPr algn="l">
              <a:lnSpc>
                <a:spcPct val="100000"/>
              </a:lnSpc>
              <a:spcAft>
                <a:spcPts val="0"/>
              </a:spcAft>
            </a:pPr>
            <a:r>
              <a:rPr sz="1050" b="1" i="0">
                <a:solidFill>
                  <a:srgbClr val="0B1F3A"/>
                </a:solidFill>
                <a:latin typeface="Arial"/>
              </a:rPr>
              <a:t>Étiquetage et stockage</a:t>
            </a:r>
          </a:p>
        </p:txBody>
      </p:sp>
      <p:sp>
        <p:nvSpPr>
          <p:cNvPr id="20" name="TextBox 19"/>
          <p:cNvSpPr txBox="1"/>
          <p:nvPr/>
        </p:nvSpPr>
        <p:spPr>
          <a:xfrm>
            <a:off x="8924544" y="2670048"/>
            <a:ext cx="2148840" cy="274320"/>
          </a:xfrm>
          <a:prstGeom prst="rect">
            <a:avLst/>
          </a:prstGeom>
          <a:noFill/>
        </p:spPr>
        <p:txBody>
          <a:bodyPr wrap="square" lIns="0" rIns="0" tIns="0" bIns="0" anchor="t">
            <a:spAutoFit/>
          </a:bodyPr>
          <a:lstStyle/>
          <a:p>
            <a:pPr algn="l">
              <a:lnSpc>
                <a:spcPct val="100000"/>
              </a:lnSpc>
              <a:spcAft>
                <a:spcPts val="0"/>
              </a:spcAft>
            </a:pPr>
            <a:r>
              <a:rPr sz="819" b="0" i="0">
                <a:solidFill>
                  <a:srgbClr val="6D7B8D"/>
                </a:solidFill>
                <a:latin typeface="Arial"/>
              </a:rPr>
              <a:t>niveau, TLP, compartiments</a:t>
            </a:r>
          </a:p>
        </p:txBody>
      </p:sp>
      <p:sp>
        <p:nvSpPr>
          <p:cNvPr id="21" name="Rounded Rectangle 20"/>
          <p:cNvSpPr/>
          <p:nvPr/>
        </p:nvSpPr>
        <p:spPr>
          <a:xfrm>
            <a:off x="6080760" y="3218688"/>
            <a:ext cx="2514600" cy="123444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3328416"/>
            <a:ext cx="640080" cy="274320"/>
          </a:xfrm>
          <a:prstGeom prst="rect">
            <a:avLst/>
          </a:prstGeom>
          <a:noFill/>
        </p:spPr>
        <p:txBody>
          <a:bodyPr wrap="square" lIns="0" rIns="0" tIns="0" bIns="0" anchor="t">
            <a:spAutoFit/>
          </a:bodyPr>
          <a:lstStyle/>
          <a:p>
            <a:pPr algn="l">
              <a:lnSpc>
                <a:spcPct val="100000"/>
              </a:lnSpc>
              <a:spcAft>
                <a:spcPts val="0"/>
              </a:spcAft>
            </a:pPr>
            <a:r>
              <a:rPr sz="900" b="1" i="0">
                <a:solidFill>
                  <a:srgbClr val="2D7A5B"/>
                </a:solidFill>
                <a:latin typeface="Arial"/>
              </a:rPr>
              <a:t>5–6</a:t>
            </a:r>
          </a:p>
        </p:txBody>
      </p:sp>
      <p:sp>
        <p:nvSpPr>
          <p:cNvPr id="23" name="TextBox 22"/>
          <p:cNvSpPr txBox="1"/>
          <p:nvPr/>
        </p:nvSpPr>
        <p:spPr>
          <a:xfrm>
            <a:off x="6227064" y="3584448"/>
            <a:ext cx="2194560" cy="457200"/>
          </a:xfrm>
          <a:prstGeom prst="rect">
            <a:avLst/>
          </a:prstGeom>
          <a:noFill/>
        </p:spPr>
        <p:txBody>
          <a:bodyPr wrap="square" lIns="0" rIns="0" tIns="0" bIns="0" anchor="t">
            <a:spAutoFit/>
          </a:bodyPr>
          <a:lstStyle/>
          <a:p>
            <a:pPr algn="l">
              <a:lnSpc>
                <a:spcPct val="100000"/>
              </a:lnSpc>
              <a:spcAft>
                <a:spcPts val="0"/>
              </a:spcAft>
            </a:pPr>
            <a:r>
              <a:rPr sz="1050" b="1" i="0">
                <a:solidFill>
                  <a:srgbClr val="0B1F3A"/>
                </a:solidFill>
                <a:latin typeface="Arial"/>
              </a:rPr>
              <a:t>Demande et décision</a:t>
            </a:r>
          </a:p>
        </p:txBody>
      </p:sp>
      <p:sp>
        <p:nvSpPr>
          <p:cNvPr id="24" name="TextBox 23"/>
          <p:cNvSpPr txBox="1"/>
          <p:nvPr/>
        </p:nvSpPr>
        <p:spPr>
          <a:xfrm>
            <a:off x="6227064" y="4087368"/>
            <a:ext cx="2148840" cy="274320"/>
          </a:xfrm>
          <a:prstGeom prst="rect">
            <a:avLst/>
          </a:prstGeom>
          <a:noFill/>
        </p:spPr>
        <p:txBody>
          <a:bodyPr wrap="square" lIns="0" rIns="0" tIns="0" bIns="0" anchor="t">
            <a:spAutoFit/>
          </a:bodyPr>
          <a:lstStyle/>
          <a:p>
            <a:pPr algn="l">
              <a:lnSpc>
                <a:spcPct val="100000"/>
              </a:lnSpc>
              <a:spcAft>
                <a:spcPts val="0"/>
              </a:spcAft>
            </a:pPr>
            <a:r>
              <a:rPr sz="819" b="0" i="0">
                <a:solidFill>
                  <a:srgbClr val="6D7B8D"/>
                </a:solidFill>
                <a:latin typeface="Arial"/>
              </a:rPr>
              <a:t>jeton, posture, ABAC</a:t>
            </a:r>
          </a:p>
        </p:txBody>
      </p:sp>
      <p:sp>
        <p:nvSpPr>
          <p:cNvPr id="25" name="Rounded Rectangle 24"/>
          <p:cNvSpPr/>
          <p:nvPr/>
        </p:nvSpPr>
        <p:spPr>
          <a:xfrm>
            <a:off x="8778240" y="3218688"/>
            <a:ext cx="2514600" cy="123444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24544" y="3328416"/>
            <a:ext cx="640080" cy="274320"/>
          </a:xfrm>
          <a:prstGeom prst="rect">
            <a:avLst/>
          </a:prstGeom>
          <a:noFill/>
        </p:spPr>
        <p:txBody>
          <a:bodyPr wrap="square" lIns="0" rIns="0" tIns="0" bIns="0" anchor="t">
            <a:spAutoFit/>
          </a:bodyPr>
          <a:lstStyle/>
          <a:p>
            <a:pPr algn="l">
              <a:lnSpc>
                <a:spcPct val="100000"/>
              </a:lnSpc>
              <a:spcAft>
                <a:spcPts val="0"/>
              </a:spcAft>
            </a:pPr>
            <a:r>
              <a:rPr sz="900" b="1" i="0">
                <a:solidFill>
                  <a:srgbClr val="A63B3B"/>
                </a:solidFill>
                <a:latin typeface="Arial"/>
              </a:rPr>
              <a:t>7–8</a:t>
            </a:r>
          </a:p>
        </p:txBody>
      </p:sp>
      <p:sp>
        <p:nvSpPr>
          <p:cNvPr id="27" name="TextBox 26"/>
          <p:cNvSpPr txBox="1"/>
          <p:nvPr/>
        </p:nvSpPr>
        <p:spPr>
          <a:xfrm>
            <a:off x="8924544" y="3584448"/>
            <a:ext cx="2194560" cy="457200"/>
          </a:xfrm>
          <a:prstGeom prst="rect">
            <a:avLst/>
          </a:prstGeom>
          <a:noFill/>
        </p:spPr>
        <p:txBody>
          <a:bodyPr wrap="square" lIns="0" rIns="0" tIns="0" bIns="0" anchor="t">
            <a:spAutoFit/>
          </a:bodyPr>
          <a:lstStyle/>
          <a:p>
            <a:pPr algn="l">
              <a:lnSpc>
                <a:spcPct val="100000"/>
              </a:lnSpc>
              <a:spcAft>
                <a:spcPts val="0"/>
              </a:spcAft>
            </a:pPr>
            <a:r>
              <a:rPr sz="1050" b="1" i="0">
                <a:solidFill>
                  <a:srgbClr val="0B1F3A"/>
                </a:solidFill>
                <a:latin typeface="Arial"/>
              </a:rPr>
              <a:t>Enveloppe et réponse</a:t>
            </a:r>
          </a:p>
        </p:txBody>
      </p:sp>
      <p:sp>
        <p:nvSpPr>
          <p:cNvPr id="28" name="TextBox 27"/>
          <p:cNvSpPr txBox="1"/>
          <p:nvPr/>
        </p:nvSpPr>
        <p:spPr>
          <a:xfrm>
            <a:off x="8924544" y="4087368"/>
            <a:ext cx="2148840" cy="274320"/>
          </a:xfrm>
          <a:prstGeom prst="rect">
            <a:avLst/>
          </a:prstGeom>
          <a:noFill/>
        </p:spPr>
        <p:txBody>
          <a:bodyPr wrap="square" lIns="0" rIns="0" tIns="0" bIns="0" anchor="t">
            <a:spAutoFit/>
          </a:bodyPr>
          <a:lstStyle/>
          <a:p>
            <a:pPr algn="l">
              <a:lnSpc>
                <a:spcPct val="100000"/>
              </a:lnSpc>
              <a:spcAft>
                <a:spcPts val="0"/>
              </a:spcAft>
            </a:pPr>
            <a:r>
              <a:rPr sz="819" b="0" i="0">
                <a:solidFill>
                  <a:srgbClr val="6D7B8D"/>
                </a:solidFill>
                <a:latin typeface="Arial"/>
              </a:rPr>
              <a:t>masquage, fanions, audit</a:t>
            </a:r>
          </a:p>
        </p:txBody>
      </p:sp>
      <p:sp>
        <p:nvSpPr>
          <p:cNvPr id="29" name="Rounded Rectangle 28"/>
          <p:cNvSpPr/>
          <p:nvPr/>
        </p:nvSpPr>
        <p:spPr>
          <a:xfrm>
            <a:off x="6080760" y="4754880"/>
            <a:ext cx="5257800" cy="841248"/>
          </a:xfrm>
          <a:prstGeom prst="roundRect">
            <a:avLst>
              <a:gd name="adj" fmla="val 2500"/>
            </a:avLst>
          </a:prstGeom>
          <a:solidFill>
            <a:srgbClr val="F8EAEA"/>
          </a:solidFill>
          <a:ln w="10160">
            <a:solidFill>
              <a:srgbClr val="A6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2784" y="4855464"/>
            <a:ext cx="4846320" cy="640080"/>
          </a:xfrm>
          <a:prstGeom prst="rect">
            <a:avLst/>
          </a:prstGeom>
          <a:noFill/>
        </p:spPr>
        <p:txBody>
          <a:bodyPr wrap="square" lIns="0" rIns="0" tIns="0" bIns="0" anchor="t">
            <a:spAutoFit/>
          </a:bodyPr>
          <a:lstStyle/>
          <a:p>
            <a:pPr algn="l">
              <a:lnSpc>
                <a:spcPct val="103000"/>
              </a:lnSpc>
              <a:spcAft>
                <a:spcPts val="0"/>
              </a:spcAft>
            </a:pPr>
            <a:r>
              <a:rPr sz="1019" b="1" i="0">
                <a:solidFill>
                  <a:srgbClr val="0B1F3A"/>
                </a:solidFill>
                <a:latin typeface="Arial"/>
              </a:rPr>
              <a:t>Refus : message générique pour le client, motif précis dans l'audit. Aucun oracle.</a:t>
            </a:r>
          </a:p>
        </p:txBody>
      </p:sp>
      <p:sp>
        <p:nvSpPr>
          <p:cNvPr id="31" name="Rounded Rectangle 30"/>
          <p:cNvSpPr/>
          <p:nvPr/>
        </p:nvSpPr>
        <p:spPr>
          <a:xfrm>
            <a:off x="6080760" y="5715000"/>
            <a:ext cx="5257800" cy="365760"/>
          </a:xfrm>
          <a:prstGeom prst="roundRect">
            <a:avLst>
              <a:gd name="adj" fmla="val 2500"/>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36208" y="5769864"/>
            <a:ext cx="4937760" cy="228600"/>
          </a:xfrm>
          <a:prstGeom prst="rect">
            <a:avLst/>
          </a:prstGeom>
          <a:noFill/>
        </p:spPr>
        <p:txBody>
          <a:bodyPr wrap="square" lIns="0" rIns="0" tIns="0" bIns="0" anchor="t">
            <a:spAutoFit/>
          </a:bodyPr>
          <a:lstStyle/>
          <a:p>
            <a:pPr algn="l">
              <a:lnSpc>
                <a:spcPct val="100000"/>
              </a:lnSpc>
              <a:spcAft>
                <a:spcPts val="0"/>
              </a:spcAft>
            </a:pPr>
            <a:r>
              <a:rPr sz="819" b="0" i="0">
                <a:solidFill>
                  <a:srgbClr val="FFFFFF"/>
                </a:solidFill>
                <a:latin typeface="Arial"/>
              </a:rPr>
              <a:t>Source visible au niveau 3 seulement ; canari absent de tout refus.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P4 · RÉALISATION</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Neuf modules, six outils, un journal horodaté</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10 / 16</a:t>
            </a:r>
          </a:p>
        </p:txBody>
      </p:sp>
      <p:sp>
        <p:nvSpPr>
          <p:cNvPr id="11" name="Rounded Rectangle 10"/>
          <p:cNvSpPr/>
          <p:nvPr/>
        </p:nvSpPr>
        <p:spPr>
          <a:xfrm>
            <a:off x="621792" y="1801368"/>
            <a:ext cx="5486400" cy="22402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920240"/>
            <a:ext cx="5029200" cy="256032"/>
          </a:xfrm>
          <a:prstGeom prst="rect">
            <a:avLst/>
          </a:prstGeom>
          <a:noFill/>
        </p:spPr>
        <p:txBody>
          <a:bodyPr wrap="square" lIns="0" rIns="0" tIns="0" bIns="0" anchor="t">
            <a:spAutoFit/>
          </a:bodyPr>
          <a:lstStyle/>
          <a:p>
            <a:pPr algn="l">
              <a:lnSpc>
                <a:spcPct val="100000"/>
              </a:lnSpc>
              <a:spcAft>
                <a:spcPts val="0"/>
              </a:spcAft>
            </a:pPr>
            <a:r>
              <a:rPr sz="860" b="1" i="0">
                <a:solidFill>
                  <a:srgbClr val="1D5B94"/>
                </a:solidFill>
                <a:latin typeface="Arial"/>
              </a:rPr>
              <a:t>SOCLE — 9 MODULES, BIBLIOTHÈQUE STANDARD</a:t>
            </a:r>
          </a:p>
        </p:txBody>
      </p:sp>
      <p:sp>
        <p:nvSpPr>
          <p:cNvPr id="13" name="Rounded Rectangle 12"/>
          <p:cNvSpPr/>
          <p:nvPr/>
        </p:nvSpPr>
        <p:spPr>
          <a:xfrm>
            <a:off x="804672" y="2304288"/>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22576"/>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config</a:t>
            </a:r>
          </a:p>
        </p:txBody>
      </p:sp>
      <p:sp>
        <p:nvSpPr>
          <p:cNvPr id="15" name="Rounded Rectangle 14"/>
          <p:cNvSpPr/>
          <p:nvPr/>
        </p:nvSpPr>
        <p:spPr>
          <a:xfrm>
            <a:off x="2496312" y="2304288"/>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78608" y="2322576"/>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labels</a:t>
            </a:r>
          </a:p>
        </p:txBody>
      </p:sp>
      <p:sp>
        <p:nvSpPr>
          <p:cNvPr id="17" name="Rounded Rectangle 16"/>
          <p:cNvSpPr/>
          <p:nvPr/>
        </p:nvSpPr>
        <p:spPr>
          <a:xfrm>
            <a:off x="4187952" y="2304288"/>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2322576"/>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sanitize</a:t>
            </a:r>
          </a:p>
        </p:txBody>
      </p:sp>
      <p:sp>
        <p:nvSpPr>
          <p:cNvPr id="19" name="Rounded Rectangle 18"/>
          <p:cNvSpPr/>
          <p:nvPr/>
        </p:nvSpPr>
        <p:spPr>
          <a:xfrm>
            <a:off x="804672" y="2779776"/>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798064"/>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auth</a:t>
            </a:r>
          </a:p>
        </p:txBody>
      </p:sp>
      <p:sp>
        <p:nvSpPr>
          <p:cNvPr id="21" name="Rounded Rectangle 20"/>
          <p:cNvSpPr/>
          <p:nvPr/>
        </p:nvSpPr>
        <p:spPr>
          <a:xfrm>
            <a:off x="2496312" y="2779776"/>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2798064"/>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policy</a:t>
            </a:r>
          </a:p>
        </p:txBody>
      </p:sp>
      <p:sp>
        <p:nvSpPr>
          <p:cNvPr id="23" name="Rounded Rectangle 22"/>
          <p:cNvSpPr/>
          <p:nvPr/>
        </p:nvSpPr>
        <p:spPr>
          <a:xfrm>
            <a:off x="4187952" y="2779776"/>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70248" y="2798064"/>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store</a:t>
            </a:r>
          </a:p>
        </p:txBody>
      </p:sp>
      <p:sp>
        <p:nvSpPr>
          <p:cNvPr id="25" name="Rounded Rectangle 24"/>
          <p:cNvSpPr/>
          <p:nvPr/>
        </p:nvSpPr>
        <p:spPr>
          <a:xfrm>
            <a:off x="804672" y="3255264"/>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273552"/>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intel</a:t>
            </a:r>
          </a:p>
        </p:txBody>
      </p:sp>
      <p:sp>
        <p:nvSpPr>
          <p:cNvPr id="27" name="Rounded Rectangle 26"/>
          <p:cNvSpPr/>
          <p:nvPr/>
        </p:nvSpPr>
        <p:spPr>
          <a:xfrm>
            <a:off x="2496312" y="3255264"/>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78608" y="3273552"/>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tools</a:t>
            </a:r>
          </a:p>
        </p:txBody>
      </p:sp>
      <p:sp>
        <p:nvSpPr>
          <p:cNvPr id="29" name="Rounded Rectangle 28"/>
          <p:cNvSpPr/>
          <p:nvPr/>
        </p:nvSpPr>
        <p:spPr>
          <a:xfrm>
            <a:off x="4187952" y="3255264"/>
            <a:ext cx="1508760" cy="347472"/>
          </a:xfrm>
          <a:prstGeom prst="roundRect">
            <a:avLst>
              <a:gd name="adj" fmla="val 18000"/>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0248" y="3273552"/>
            <a:ext cx="1344168" cy="310896"/>
          </a:xfrm>
          <a:prstGeom prst="rect">
            <a:avLst/>
          </a:prstGeom>
          <a:noFill/>
        </p:spPr>
        <p:txBody>
          <a:bodyPr wrap="square" lIns="0" rIns="0" tIns="0" bIns="0" anchor="ctr">
            <a:spAutoFit/>
          </a:bodyPr>
          <a:lstStyle/>
          <a:p>
            <a:pPr algn="ctr">
              <a:lnSpc>
                <a:spcPct val="100000"/>
              </a:lnSpc>
              <a:spcAft>
                <a:spcPts val="0"/>
              </a:spcAft>
            </a:pPr>
            <a:r>
              <a:rPr sz="860" b="1" i="0">
                <a:solidFill>
                  <a:srgbClr val="0B1F3A"/>
                </a:solidFill>
                <a:latin typeface="Arial"/>
              </a:rPr>
              <a:t>server</a:t>
            </a:r>
          </a:p>
        </p:txBody>
      </p:sp>
      <p:sp>
        <p:nvSpPr>
          <p:cNvPr id="31" name="Rounded Rectangle 30"/>
          <p:cNvSpPr/>
          <p:nvPr/>
        </p:nvSpPr>
        <p:spPr>
          <a:xfrm>
            <a:off x="6309360" y="1801368"/>
            <a:ext cx="5239512" cy="22402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1920240"/>
            <a:ext cx="4846320" cy="256032"/>
          </a:xfrm>
          <a:prstGeom prst="rect">
            <a:avLst/>
          </a:prstGeom>
          <a:noFill/>
        </p:spPr>
        <p:txBody>
          <a:bodyPr wrap="square" lIns="0" rIns="0" tIns="0" bIns="0" anchor="t">
            <a:spAutoFit/>
          </a:bodyPr>
          <a:lstStyle/>
          <a:p>
            <a:pPr algn="l">
              <a:lnSpc>
                <a:spcPct val="100000"/>
              </a:lnSpc>
              <a:spcAft>
                <a:spcPts val="0"/>
              </a:spcAft>
            </a:pPr>
            <a:r>
              <a:rPr sz="860" b="1" i="0">
                <a:solidFill>
                  <a:srgbClr val="2D7A5B"/>
                </a:solidFill>
                <a:latin typeface="Arial"/>
              </a:rPr>
              <a:t>CONTRAT — 6 OUTILS EN LECTURE SEULE</a:t>
            </a:r>
          </a:p>
        </p:txBody>
      </p:sp>
      <p:sp>
        <p:nvSpPr>
          <p:cNvPr id="33" name="Rounded Rectangle 32"/>
          <p:cNvSpPr/>
          <p:nvPr/>
        </p:nvSpPr>
        <p:spPr>
          <a:xfrm>
            <a:off x="6492240" y="2304288"/>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74536" y="2322576"/>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ti_search</a:t>
            </a:r>
          </a:p>
        </p:txBody>
      </p:sp>
      <p:sp>
        <p:nvSpPr>
          <p:cNvPr id="35" name="Rounded Rectangle 34"/>
          <p:cNvSpPr/>
          <p:nvPr/>
        </p:nvSpPr>
        <p:spPr>
          <a:xfrm>
            <a:off x="8869680" y="2304288"/>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51976" y="2322576"/>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ti_get_advisory</a:t>
            </a:r>
          </a:p>
        </p:txBody>
      </p:sp>
      <p:sp>
        <p:nvSpPr>
          <p:cNvPr id="37" name="Rounded Rectangle 36"/>
          <p:cNvSpPr/>
          <p:nvPr/>
        </p:nvSpPr>
        <p:spPr>
          <a:xfrm>
            <a:off x="6492240" y="2798064"/>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74536" y="2816352"/>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ti_enrich_ioc</a:t>
            </a:r>
          </a:p>
        </p:txBody>
      </p:sp>
      <p:sp>
        <p:nvSpPr>
          <p:cNvPr id="39" name="Rounded Rectangle 38"/>
          <p:cNvSpPr/>
          <p:nvPr/>
        </p:nvSpPr>
        <p:spPr>
          <a:xfrm>
            <a:off x="8869680" y="2798064"/>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51976" y="2816352"/>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ti_correlate</a:t>
            </a:r>
          </a:p>
        </p:txBody>
      </p:sp>
      <p:sp>
        <p:nvSpPr>
          <p:cNvPr id="41" name="Rounded Rectangle 40"/>
          <p:cNvSpPr/>
          <p:nvPr/>
        </p:nvSpPr>
        <p:spPr>
          <a:xfrm>
            <a:off x="6492240" y="3291840"/>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74536" y="3310128"/>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ti_score_asset</a:t>
            </a:r>
          </a:p>
        </p:txBody>
      </p:sp>
      <p:sp>
        <p:nvSpPr>
          <p:cNvPr id="43" name="Rounded Rectangle 42"/>
          <p:cNvSpPr/>
          <p:nvPr/>
        </p:nvSpPr>
        <p:spPr>
          <a:xfrm>
            <a:off x="8869680" y="3291840"/>
            <a:ext cx="2194560" cy="365760"/>
          </a:xfrm>
          <a:prstGeom prst="roundRect">
            <a:avLst>
              <a:gd name="adj" fmla="val 18000"/>
            </a:avLst>
          </a:prstGeom>
          <a:solidFill>
            <a:srgbClr val="E7F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51976" y="3310128"/>
            <a:ext cx="2029967" cy="329184"/>
          </a:xfrm>
          <a:prstGeom prst="rect">
            <a:avLst/>
          </a:prstGeom>
          <a:noFill/>
        </p:spPr>
        <p:txBody>
          <a:bodyPr wrap="square" lIns="0" rIns="0" tIns="0" bIns="0" anchor="ctr">
            <a:spAutoFit/>
          </a:bodyPr>
          <a:lstStyle/>
          <a:p>
            <a:pPr algn="ctr">
              <a:lnSpc>
                <a:spcPct val="100000"/>
              </a:lnSpc>
              <a:spcAft>
                <a:spcPts val="0"/>
              </a:spcAft>
            </a:pPr>
            <a:r>
              <a:rPr sz="880" b="1" i="0">
                <a:solidFill>
                  <a:srgbClr val="2D7A5B"/>
                </a:solidFill>
                <a:latin typeface="Arial"/>
              </a:rPr>
              <a:t>ti_health</a:t>
            </a:r>
          </a:p>
        </p:txBody>
      </p:sp>
      <p:sp>
        <p:nvSpPr>
          <p:cNvPr id="45" name="TextBox 44"/>
          <p:cNvSpPr txBox="1"/>
          <p:nvPr/>
        </p:nvSpPr>
        <p:spPr>
          <a:xfrm>
            <a:off x="6492240" y="3794760"/>
            <a:ext cx="4754880" cy="228600"/>
          </a:xfrm>
          <a:prstGeom prst="rect">
            <a:avLst/>
          </a:prstGeom>
          <a:noFill/>
        </p:spPr>
        <p:txBody>
          <a:bodyPr wrap="square" lIns="0" rIns="0" tIns="0" bIns="0" anchor="t">
            <a:spAutoFit/>
          </a:bodyPr>
          <a:lstStyle/>
          <a:p>
            <a:pPr algn="l">
              <a:lnSpc>
                <a:spcPct val="100000"/>
              </a:lnSpc>
              <a:spcAft>
                <a:spcPts val="0"/>
              </a:spcAft>
            </a:pPr>
            <a:r>
              <a:rPr sz="780" b="0" i="0">
                <a:solidFill>
                  <a:srgbClr val="6D7B8D"/>
                </a:solidFill>
                <a:latin typeface="Arial"/>
              </a:rPr>
              <a:t>schémas stricts · additionalProperties:false · readOnlyHint</a:t>
            </a:r>
          </a:p>
        </p:txBody>
      </p:sp>
      <p:sp>
        <p:nvSpPr>
          <p:cNvPr id="46" name="Rectangle 45"/>
          <p:cNvSpPr/>
          <p:nvPr/>
        </p:nvSpPr>
        <p:spPr>
          <a:xfrm>
            <a:off x="621792" y="4343400"/>
            <a:ext cx="10927080"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41832"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12:40</a:t>
            </a:r>
          </a:p>
        </p:txBody>
      </p:sp>
      <p:sp>
        <p:nvSpPr>
          <p:cNvPr id="49" name="TextBox 48"/>
          <p:cNvSpPr txBox="1"/>
          <p:nvPr/>
        </p:nvSpPr>
        <p:spPr>
          <a:xfrm>
            <a:off x="923544"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socle</a:t>
            </a:r>
          </a:p>
        </p:txBody>
      </p:sp>
      <p:sp>
        <p:nvSpPr>
          <p:cNvPr id="50" name="Rectangle 49"/>
          <p:cNvSpPr/>
          <p:nvPr/>
        </p:nvSpPr>
        <p:spPr>
          <a:xfrm>
            <a:off x="987552" y="5111496"/>
            <a:ext cx="1719072"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06624"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69464"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12:52</a:t>
            </a:r>
          </a:p>
        </p:txBody>
      </p:sp>
      <p:sp>
        <p:nvSpPr>
          <p:cNvPr id="53" name="TextBox 52"/>
          <p:cNvSpPr txBox="1"/>
          <p:nvPr/>
        </p:nvSpPr>
        <p:spPr>
          <a:xfrm>
            <a:off x="2688336"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données</a:t>
            </a:r>
          </a:p>
        </p:txBody>
      </p:sp>
      <p:sp>
        <p:nvSpPr>
          <p:cNvPr id="54" name="Rectangle 53"/>
          <p:cNvSpPr/>
          <p:nvPr/>
        </p:nvSpPr>
        <p:spPr>
          <a:xfrm>
            <a:off x="2752344" y="5111496"/>
            <a:ext cx="1719072"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471416"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34255"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13:02</a:t>
            </a:r>
          </a:p>
        </p:txBody>
      </p:sp>
      <p:sp>
        <p:nvSpPr>
          <p:cNvPr id="57" name="TextBox 56"/>
          <p:cNvSpPr txBox="1"/>
          <p:nvPr/>
        </p:nvSpPr>
        <p:spPr>
          <a:xfrm>
            <a:off x="4453128"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serveur</a:t>
            </a:r>
          </a:p>
        </p:txBody>
      </p:sp>
      <p:sp>
        <p:nvSpPr>
          <p:cNvPr id="58" name="Rectangle 57"/>
          <p:cNvSpPr/>
          <p:nvPr/>
        </p:nvSpPr>
        <p:spPr>
          <a:xfrm>
            <a:off x="4517136" y="5111496"/>
            <a:ext cx="1719072"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36208"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099048"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13:08</a:t>
            </a:r>
          </a:p>
        </p:txBody>
      </p:sp>
      <p:sp>
        <p:nvSpPr>
          <p:cNvPr id="61" name="TextBox 60"/>
          <p:cNvSpPr txBox="1"/>
          <p:nvPr/>
        </p:nvSpPr>
        <p:spPr>
          <a:xfrm>
            <a:off x="6217920"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échec réel</a:t>
            </a:r>
          </a:p>
        </p:txBody>
      </p:sp>
      <p:sp>
        <p:nvSpPr>
          <p:cNvPr id="62" name="Rectangle 61"/>
          <p:cNvSpPr/>
          <p:nvPr/>
        </p:nvSpPr>
        <p:spPr>
          <a:xfrm>
            <a:off x="6281928" y="5111496"/>
            <a:ext cx="1719072"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001000"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63840"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13:14</a:t>
            </a:r>
          </a:p>
        </p:txBody>
      </p:sp>
      <p:sp>
        <p:nvSpPr>
          <p:cNvPr id="65" name="TextBox 64"/>
          <p:cNvSpPr txBox="1"/>
          <p:nvPr/>
        </p:nvSpPr>
        <p:spPr>
          <a:xfrm>
            <a:off x="7982712"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correction</a:t>
            </a:r>
          </a:p>
        </p:txBody>
      </p:sp>
      <p:sp>
        <p:nvSpPr>
          <p:cNvPr id="66" name="Rectangle 65"/>
          <p:cNvSpPr/>
          <p:nvPr/>
        </p:nvSpPr>
        <p:spPr>
          <a:xfrm>
            <a:off x="8046720" y="5111496"/>
            <a:ext cx="1719072" cy="16459"/>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765792" y="4828032"/>
            <a:ext cx="32004" cy="64008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28632" y="4599432"/>
            <a:ext cx="822960" cy="201168"/>
          </a:xfrm>
          <a:prstGeom prst="rect">
            <a:avLst/>
          </a:prstGeom>
          <a:noFill/>
        </p:spPr>
        <p:txBody>
          <a:bodyPr wrap="square" lIns="0" rIns="0" tIns="0" bIns="0" anchor="t">
            <a:spAutoFit/>
          </a:bodyPr>
          <a:lstStyle/>
          <a:p>
            <a:pPr algn="l">
              <a:lnSpc>
                <a:spcPct val="100000"/>
              </a:lnSpc>
              <a:spcAft>
                <a:spcPts val="0"/>
              </a:spcAft>
            </a:pPr>
            <a:r>
              <a:rPr sz="880" b="1" i="0">
                <a:solidFill>
                  <a:srgbClr val="B8934E"/>
                </a:solidFill>
                <a:latin typeface="Arial"/>
              </a:rPr>
              <a:t>13:16</a:t>
            </a:r>
          </a:p>
        </p:txBody>
      </p:sp>
      <p:sp>
        <p:nvSpPr>
          <p:cNvPr id="69" name="TextBox 68"/>
          <p:cNvSpPr txBox="1"/>
          <p:nvPr/>
        </p:nvSpPr>
        <p:spPr>
          <a:xfrm>
            <a:off x="9747504" y="5394960"/>
            <a:ext cx="1508760" cy="320040"/>
          </a:xfrm>
          <a:prstGeom prst="rect">
            <a:avLst/>
          </a:prstGeom>
          <a:noFill/>
        </p:spPr>
        <p:txBody>
          <a:bodyPr wrap="square" lIns="0" rIns="0" tIns="0" bIns="0" anchor="t">
            <a:spAutoFit/>
          </a:bodyPr>
          <a:lstStyle/>
          <a:p>
            <a:pPr algn="l">
              <a:lnSpc>
                <a:spcPct val="100000"/>
              </a:lnSpc>
              <a:spcAft>
                <a:spcPts val="0"/>
              </a:spcAft>
            </a:pPr>
            <a:r>
              <a:rPr sz="919" b="0" i="0">
                <a:solidFill>
                  <a:srgbClr val="18263A"/>
                </a:solidFill>
                <a:latin typeface="Arial"/>
              </a:rPr>
              <a:t>campagne verte</a:t>
            </a:r>
          </a:p>
        </p:txBody>
      </p:sp>
      <p:sp>
        <p:nvSpPr>
          <p:cNvPr id="70" name="Rounded Rectangle 69"/>
          <p:cNvSpPr/>
          <p:nvPr/>
        </p:nvSpPr>
        <p:spPr>
          <a:xfrm>
            <a:off x="621792" y="5797296"/>
            <a:ext cx="10927080" cy="45720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4672" y="5870448"/>
            <a:ext cx="10515600" cy="292608"/>
          </a:xfrm>
          <a:prstGeom prst="rect">
            <a:avLst/>
          </a:prstGeom>
          <a:noFill/>
        </p:spPr>
        <p:txBody>
          <a:bodyPr wrap="square" lIns="0" rIns="0" tIns="0" bIns="0" anchor="t">
            <a:spAutoFit/>
          </a:bodyPr>
          <a:lstStyle/>
          <a:p>
            <a:pPr algn="l">
              <a:lnSpc>
                <a:spcPct val="100000"/>
              </a:lnSpc>
              <a:spcAft>
                <a:spcPts val="0"/>
              </a:spcAft>
            </a:pPr>
            <a:r>
              <a:rPr sz="919" b="1" i="0">
                <a:solidFill>
                  <a:srgbClr val="0B1F3A"/>
                </a:solidFill>
                <a:latin typeface="Arial"/>
              </a:rPr>
              <a:t>Premier échec à 13 h 08 : décodage UTF-8 de l'audit ; corrigé à 13 h 14, rejoué, conservé.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P4 · DURCISSEMENT</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150" b="1" i="0">
                <a:solidFill>
                  <a:srgbClr val="0B1F3A"/>
                </a:solidFill>
                <a:latin typeface="Arial"/>
              </a:rPr>
              <a:t>Le durcissement se prouve par les droits, pas par les slogans</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11 / 16</a:t>
            </a:r>
          </a:p>
        </p:txBody>
      </p:sp>
      <p:pic>
        <p:nvPicPr>
          <p:cNvPr id="11" name="Picture 10" descr="07_moindre_privilege.png"/>
          <p:cNvPicPr>
            <a:picLocks noChangeAspect="1"/>
          </p:cNvPicPr>
          <p:nvPr/>
        </p:nvPicPr>
        <p:blipFill>
          <a:blip r:embed="rId2"/>
          <a:stretch>
            <a:fillRect/>
          </a:stretch>
        </p:blipFill>
        <p:spPr>
          <a:xfrm>
            <a:off x="411480" y="2401879"/>
            <a:ext cx="7955279" cy="1633617"/>
          </a:xfrm>
          <a:prstGeom prst="rect">
            <a:avLst/>
          </a:prstGeom>
        </p:spPr>
      </p:pic>
      <p:sp>
        <p:nvSpPr>
          <p:cNvPr id="12" name="TextBox 11"/>
          <p:cNvSpPr txBox="1"/>
          <p:nvPr/>
        </p:nvSpPr>
        <p:spPr>
          <a:xfrm>
            <a:off x="502920" y="4361688"/>
            <a:ext cx="777240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Capture d'écran réelle : exécution sous « nobody », écriture refusée, aucun socket.</a:t>
            </a:r>
          </a:p>
        </p:txBody>
      </p:sp>
      <p:sp>
        <p:nvSpPr>
          <p:cNvPr id="13" name="Rounded Rectangle 12"/>
          <p:cNvSpPr/>
          <p:nvPr/>
        </p:nvSpPr>
        <p:spPr>
          <a:xfrm>
            <a:off x="8641080" y="1801368"/>
            <a:ext cx="1389888" cy="1042415"/>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50807" y="1892807"/>
            <a:ext cx="1234440" cy="365760"/>
          </a:xfrm>
          <a:prstGeom prst="rect">
            <a:avLst/>
          </a:prstGeom>
          <a:noFill/>
        </p:spPr>
        <p:txBody>
          <a:bodyPr wrap="square" lIns="0" rIns="0" tIns="0" bIns="0" anchor="t">
            <a:spAutoFit/>
          </a:bodyPr>
          <a:lstStyle/>
          <a:p>
            <a:pPr algn="l">
              <a:lnSpc>
                <a:spcPct val="100000"/>
              </a:lnSpc>
              <a:spcAft>
                <a:spcPts val="0"/>
              </a:spcAft>
            </a:pPr>
            <a:r>
              <a:rPr sz="1900" b="1" i="0">
                <a:solidFill>
                  <a:srgbClr val="2D7A5B"/>
                </a:solidFill>
                <a:latin typeface="Arial"/>
              </a:rPr>
              <a:t>65534</a:t>
            </a:r>
          </a:p>
        </p:txBody>
      </p:sp>
      <p:sp>
        <p:nvSpPr>
          <p:cNvPr id="15" name="TextBox 14"/>
          <p:cNvSpPr txBox="1"/>
          <p:nvPr/>
        </p:nvSpPr>
        <p:spPr>
          <a:xfrm>
            <a:off x="8750807" y="2276856"/>
            <a:ext cx="1188720" cy="201168"/>
          </a:xfrm>
          <a:prstGeom prst="rect">
            <a:avLst/>
          </a:prstGeom>
          <a:noFill/>
        </p:spPr>
        <p:txBody>
          <a:bodyPr wrap="square" lIns="0" rIns="0" tIns="0" bIns="0" anchor="t">
            <a:spAutoFit/>
          </a:bodyPr>
          <a:lstStyle/>
          <a:p>
            <a:pPr algn="l">
              <a:lnSpc>
                <a:spcPct val="100000"/>
              </a:lnSpc>
              <a:spcAft>
                <a:spcPts val="0"/>
              </a:spcAft>
            </a:pPr>
            <a:r>
              <a:rPr sz="760" b="1" i="0">
                <a:solidFill>
                  <a:srgbClr val="18263A"/>
                </a:solidFill>
                <a:latin typeface="Arial"/>
              </a:rPr>
              <a:t>uid du service</a:t>
            </a:r>
          </a:p>
        </p:txBody>
      </p:sp>
      <p:sp>
        <p:nvSpPr>
          <p:cNvPr id="16" name="TextBox 15"/>
          <p:cNvSpPr txBox="1"/>
          <p:nvPr/>
        </p:nvSpPr>
        <p:spPr>
          <a:xfrm>
            <a:off x="8750807" y="2514600"/>
            <a:ext cx="1188720" cy="201168"/>
          </a:xfrm>
          <a:prstGeom prst="rect">
            <a:avLst/>
          </a:prstGeom>
          <a:noFill/>
        </p:spPr>
        <p:txBody>
          <a:bodyPr wrap="square" lIns="0" rIns="0" tIns="0" bIns="0" anchor="t">
            <a:spAutoFit/>
          </a:bodyPr>
          <a:lstStyle/>
          <a:p>
            <a:pPr algn="l">
              <a:lnSpc>
                <a:spcPct val="100000"/>
              </a:lnSpc>
              <a:spcAft>
                <a:spcPts val="0"/>
              </a:spcAft>
            </a:pPr>
            <a:r>
              <a:rPr sz="720" b="0" i="0">
                <a:solidFill>
                  <a:srgbClr val="6D7B8D"/>
                </a:solidFill>
                <a:latin typeface="Arial"/>
              </a:rPr>
              <a:t>nobody</a:t>
            </a:r>
          </a:p>
        </p:txBody>
      </p:sp>
      <p:sp>
        <p:nvSpPr>
          <p:cNvPr id="17" name="Rounded Rectangle 16"/>
          <p:cNvSpPr/>
          <p:nvPr/>
        </p:nvSpPr>
        <p:spPr>
          <a:xfrm>
            <a:off x="10149840" y="1801368"/>
            <a:ext cx="1389888" cy="1042415"/>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59567" y="1892807"/>
            <a:ext cx="1234440" cy="365760"/>
          </a:xfrm>
          <a:prstGeom prst="rect">
            <a:avLst/>
          </a:prstGeom>
          <a:noFill/>
        </p:spPr>
        <p:txBody>
          <a:bodyPr wrap="square" lIns="0" rIns="0" tIns="0" bIns="0" anchor="t">
            <a:spAutoFit/>
          </a:bodyPr>
          <a:lstStyle/>
          <a:p>
            <a:pPr algn="l">
              <a:lnSpc>
                <a:spcPct val="100000"/>
              </a:lnSpc>
              <a:spcAft>
                <a:spcPts val="0"/>
              </a:spcAft>
            </a:pPr>
            <a:r>
              <a:rPr sz="1900" b="1" i="0">
                <a:solidFill>
                  <a:srgbClr val="1D5B94"/>
                </a:solidFill>
                <a:latin typeface="Arial"/>
              </a:rPr>
              <a:t>0440</a:t>
            </a:r>
          </a:p>
        </p:txBody>
      </p:sp>
      <p:sp>
        <p:nvSpPr>
          <p:cNvPr id="19" name="TextBox 18"/>
          <p:cNvSpPr txBox="1"/>
          <p:nvPr/>
        </p:nvSpPr>
        <p:spPr>
          <a:xfrm>
            <a:off x="10259567" y="2276856"/>
            <a:ext cx="1188720" cy="201168"/>
          </a:xfrm>
          <a:prstGeom prst="rect">
            <a:avLst/>
          </a:prstGeom>
          <a:noFill/>
        </p:spPr>
        <p:txBody>
          <a:bodyPr wrap="square" lIns="0" rIns="0" tIns="0" bIns="0" anchor="t">
            <a:spAutoFit/>
          </a:bodyPr>
          <a:lstStyle/>
          <a:p>
            <a:pPr algn="l">
              <a:lnSpc>
                <a:spcPct val="100000"/>
              </a:lnSpc>
              <a:spcAft>
                <a:spcPts val="0"/>
              </a:spcAft>
            </a:pPr>
            <a:r>
              <a:rPr sz="760" b="1" i="0">
                <a:solidFill>
                  <a:srgbClr val="18263A"/>
                </a:solidFill>
                <a:latin typeface="Arial"/>
              </a:rPr>
              <a:t>base SQLite</a:t>
            </a:r>
          </a:p>
        </p:txBody>
      </p:sp>
      <p:sp>
        <p:nvSpPr>
          <p:cNvPr id="20" name="TextBox 19"/>
          <p:cNvSpPr txBox="1"/>
          <p:nvPr/>
        </p:nvSpPr>
        <p:spPr>
          <a:xfrm>
            <a:off x="10259567" y="2514600"/>
            <a:ext cx="1188720" cy="201168"/>
          </a:xfrm>
          <a:prstGeom prst="rect">
            <a:avLst/>
          </a:prstGeom>
          <a:noFill/>
        </p:spPr>
        <p:txBody>
          <a:bodyPr wrap="square" lIns="0" rIns="0" tIns="0" bIns="0" anchor="t">
            <a:spAutoFit/>
          </a:bodyPr>
          <a:lstStyle/>
          <a:p>
            <a:pPr algn="l">
              <a:lnSpc>
                <a:spcPct val="100000"/>
              </a:lnSpc>
              <a:spcAft>
                <a:spcPts val="0"/>
              </a:spcAft>
            </a:pPr>
            <a:r>
              <a:rPr sz="720" b="0" i="0">
                <a:solidFill>
                  <a:srgbClr val="6D7B8D"/>
                </a:solidFill>
                <a:latin typeface="Arial"/>
              </a:rPr>
              <a:t>lecture seule</a:t>
            </a:r>
          </a:p>
        </p:txBody>
      </p:sp>
      <p:sp>
        <p:nvSpPr>
          <p:cNvPr id="21" name="Rounded Rectangle 20"/>
          <p:cNvSpPr/>
          <p:nvPr/>
        </p:nvSpPr>
        <p:spPr>
          <a:xfrm>
            <a:off x="8641080" y="3008376"/>
            <a:ext cx="1389888" cy="1042415"/>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50807" y="3099816"/>
            <a:ext cx="1234440" cy="365760"/>
          </a:xfrm>
          <a:prstGeom prst="rect">
            <a:avLst/>
          </a:prstGeom>
          <a:noFill/>
        </p:spPr>
        <p:txBody>
          <a:bodyPr wrap="square" lIns="0" rIns="0" tIns="0" bIns="0" anchor="t">
            <a:spAutoFit/>
          </a:bodyPr>
          <a:lstStyle/>
          <a:p>
            <a:pPr algn="l">
              <a:lnSpc>
                <a:spcPct val="100000"/>
              </a:lnSpc>
              <a:spcAft>
                <a:spcPts val="0"/>
              </a:spcAft>
            </a:pPr>
            <a:r>
              <a:rPr sz="1900" b="1" i="0">
                <a:solidFill>
                  <a:srgbClr val="B8934E"/>
                </a:solidFill>
                <a:latin typeface="Arial"/>
              </a:rPr>
              <a:t>0400</a:t>
            </a:r>
          </a:p>
        </p:txBody>
      </p:sp>
      <p:sp>
        <p:nvSpPr>
          <p:cNvPr id="23" name="TextBox 22"/>
          <p:cNvSpPr txBox="1"/>
          <p:nvPr/>
        </p:nvSpPr>
        <p:spPr>
          <a:xfrm>
            <a:off x="8750807" y="3483864"/>
            <a:ext cx="1188720" cy="201168"/>
          </a:xfrm>
          <a:prstGeom prst="rect">
            <a:avLst/>
          </a:prstGeom>
          <a:noFill/>
        </p:spPr>
        <p:txBody>
          <a:bodyPr wrap="square" lIns="0" rIns="0" tIns="0" bIns="0" anchor="t">
            <a:spAutoFit/>
          </a:bodyPr>
          <a:lstStyle/>
          <a:p>
            <a:pPr algn="l">
              <a:lnSpc>
                <a:spcPct val="100000"/>
              </a:lnSpc>
              <a:spcAft>
                <a:spcPts val="0"/>
              </a:spcAft>
            </a:pPr>
            <a:r>
              <a:rPr sz="760" b="1" i="0">
                <a:solidFill>
                  <a:srgbClr val="18263A"/>
                </a:solidFill>
                <a:latin typeface="Arial"/>
              </a:rPr>
              <a:t>clé HMAC</a:t>
            </a:r>
          </a:p>
        </p:txBody>
      </p:sp>
      <p:sp>
        <p:nvSpPr>
          <p:cNvPr id="24" name="TextBox 23"/>
          <p:cNvSpPr txBox="1"/>
          <p:nvPr/>
        </p:nvSpPr>
        <p:spPr>
          <a:xfrm>
            <a:off x="8750807" y="3721608"/>
            <a:ext cx="1188720" cy="201168"/>
          </a:xfrm>
          <a:prstGeom prst="rect">
            <a:avLst/>
          </a:prstGeom>
          <a:noFill/>
        </p:spPr>
        <p:txBody>
          <a:bodyPr wrap="square" lIns="0" rIns="0" tIns="0" bIns="0" anchor="t">
            <a:spAutoFit/>
          </a:bodyPr>
          <a:lstStyle/>
          <a:p>
            <a:pPr algn="l">
              <a:lnSpc>
                <a:spcPct val="100000"/>
              </a:lnSpc>
              <a:spcAft>
                <a:spcPts val="0"/>
              </a:spcAft>
            </a:pPr>
            <a:r>
              <a:rPr sz="720" b="0" i="0">
                <a:solidFill>
                  <a:srgbClr val="6D7B8D"/>
                </a:solidFill>
                <a:latin typeface="Arial"/>
              </a:rPr>
              <a:t>propriétaire</a:t>
            </a:r>
          </a:p>
        </p:txBody>
      </p:sp>
      <p:sp>
        <p:nvSpPr>
          <p:cNvPr id="25" name="Rounded Rectangle 24"/>
          <p:cNvSpPr/>
          <p:nvPr/>
        </p:nvSpPr>
        <p:spPr>
          <a:xfrm>
            <a:off x="10149840" y="3008376"/>
            <a:ext cx="1389888" cy="1042415"/>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59567" y="3099816"/>
            <a:ext cx="1234440" cy="365760"/>
          </a:xfrm>
          <a:prstGeom prst="rect">
            <a:avLst/>
          </a:prstGeom>
          <a:noFill/>
        </p:spPr>
        <p:txBody>
          <a:bodyPr wrap="square" lIns="0" rIns="0" tIns="0" bIns="0" anchor="t">
            <a:spAutoFit/>
          </a:bodyPr>
          <a:lstStyle/>
          <a:p>
            <a:pPr algn="l">
              <a:lnSpc>
                <a:spcPct val="100000"/>
              </a:lnSpc>
              <a:spcAft>
                <a:spcPts val="0"/>
              </a:spcAft>
            </a:pPr>
            <a:r>
              <a:rPr sz="1900" b="1" i="0">
                <a:solidFill>
                  <a:srgbClr val="A63B3B"/>
                </a:solidFill>
                <a:latin typeface="Arial"/>
              </a:rPr>
              <a:t>0</a:t>
            </a:r>
          </a:p>
        </p:txBody>
      </p:sp>
      <p:sp>
        <p:nvSpPr>
          <p:cNvPr id="27" name="TextBox 26"/>
          <p:cNvSpPr txBox="1"/>
          <p:nvPr/>
        </p:nvSpPr>
        <p:spPr>
          <a:xfrm>
            <a:off x="10259567" y="3483864"/>
            <a:ext cx="1188720" cy="201168"/>
          </a:xfrm>
          <a:prstGeom prst="rect">
            <a:avLst/>
          </a:prstGeom>
          <a:noFill/>
        </p:spPr>
        <p:txBody>
          <a:bodyPr wrap="square" lIns="0" rIns="0" tIns="0" bIns="0" anchor="t">
            <a:spAutoFit/>
          </a:bodyPr>
          <a:lstStyle/>
          <a:p>
            <a:pPr algn="l">
              <a:lnSpc>
                <a:spcPct val="100000"/>
              </a:lnSpc>
              <a:spcAft>
                <a:spcPts val="0"/>
              </a:spcAft>
            </a:pPr>
            <a:r>
              <a:rPr sz="760" b="1" i="0">
                <a:solidFill>
                  <a:srgbClr val="18263A"/>
                </a:solidFill>
                <a:latin typeface="Arial"/>
              </a:rPr>
              <a:t>port réseau</a:t>
            </a:r>
          </a:p>
        </p:txBody>
      </p:sp>
      <p:sp>
        <p:nvSpPr>
          <p:cNvPr id="28" name="TextBox 27"/>
          <p:cNvSpPr txBox="1"/>
          <p:nvPr/>
        </p:nvSpPr>
        <p:spPr>
          <a:xfrm>
            <a:off x="10259567" y="3721608"/>
            <a:ext cx="1188720" cy="201168"/>
          </a:xfrm>
          <a:prstGeom prst="rect">
            <a:avLst/>
          </a:prstGeom>
          <a:noFill/>
        </p:spPr>
        <p:txBody>
          <a:bodyPr wrap="square" lIns="0" rIns="0" tIns="0" bIns="0" anchor="t">
            <a:spAutoFit/>
          </a:bodyPr>
          <a:lstStyle/>
          <a:p>
            <a:pPr algn="l">
              <a:lnSpc>
                <a:spcPct val="100000"/>
              </a:lnSpc>
              <a:spcAft>
                <a:spcPts val="0"/>
              </a:spcAft>
            </a:pPr>
            <a:r>
              <a:rPr sz="720" b="0" i="0">
                <a:solidFill>
                  <a:srgbClr val="6D7B8D"/>
                </a:solidFill>
                <a:latin typeface="Arial"/>
              </a:rPr>
              <a:t>stdio local</a:t>
            </a:r>
          </a:p>
        </p:txBody>
      </p:sp>
      <p:sp>
        <p:nvSpPr>
          <p:cNvPr id="29" name="Rounded Rectangle 28"/>
          <p:cNvSpPr/>
          <p:nvPr/>
        </p:nvSpPr>
        <p:spPr>
          <a:xfrm>
            <a:off x="621792" y="4754880"/>
            <a:ext cx="3429000" cy="786384"/>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8952" y="4846320"/>
            <a:ext cx="941832" cy="292608"/>
          </a:xfrm>
          <a:prstGeom prst="roundRect">
            <a:avLst>
              <a:gd name="adj" fmla="val 18000"/>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864607"/>
            <a:ext cx="777240" cy="256032"/>
          </a:xfrm>
          <a:prstGeom prst="rect">
            <a:avLst/>
          </a:prstGeom>
          <a:noFill/>
        </p:spPr>
        <p:txBody>
          <a:bodyPr wrap="square" lIns="0" rIns="0" tIns="0" bIns="0" anchor="ctr">
            <a:spAutoFit/>
          </a:bodyPr>
          <a:lstStyle/>
          <a:p>
            <a:pPr algn="ctr">
              <a:lnSpc>
                <a:spcPct val="100000"/>
              </a:lnSpc>
              <a:spcAft>
                <a:spcPts val="0"/>
              </a:spcAft>
            </a:pPr>
            <a:r>
              <a:rPr sz="740" b="1" i="0">
                <a:solidFill>
                  <a:srgbClr val="FFFFFF"/>
                </a:solidFill>
                <a:latin typeface="Arial"/>
              </a:rPr>
              <a:t>TESTÉ</a:t>
            </a:r>
          </a:p>
        </p:txBody>
      </p:sp>
      <p:sp>
        <p:nvSpPr>
          <p:cNvPr id="32" name="TextBox 31"/>
          <p:cNvSpPr txBox="1"/>
          <p:nvPr/>
        </p:nvSpPr>
        <p:spPr>
          <a:xfrm>
            <a:off x="1810512" y="4864608"/>
            <a:ext cx="2103120" cy="502920"/>
          </a:xfrm>
          <a:prstGeom prst="rect">
            <a:avLst/>
          </a:prstGeom>
          <a:noFill/>
        </p:spPr>
        <p:txBody>
          <a:bodyPr wrap="square" lIns="0" rIns="0" tIns="0" bIns="0" anchor="t">
            <a:spAutoFit/>
          </a:bodyPr>
          <a:lstStyle/>
          <a:p>
            <a:pPr algn="l">
              <a:lnSpc>
                <a:spcPct val="100000"/>
              </a:lnSpc>
              <a:spcAft>
                <a:spcPts val="0"/>
              </a:spcAft>
            </a:pPr>
            <a:r>
              <a:rPr sz="880" b="0" i="0">
                <a:solidFill>
                  <a:srgbClr val="18263A"/>
                </a:solidFill>
                <a:latin typeface="Arial"/>
              </a:rPr>
              <a:t>uid 65534 · 0440 · 0400</a:t>
            </a:r>
          </a:p>
        </p:txBody>
      </p:sp>
      <p:sp>
        <p:nvSpPr>
          <p:cNvPr id="33" name="Rounded Rectangle 32"/>
          <p:cNvSpPr/>
          <p:nvPr/>
        </p:nvSpPr>
        <p:spPr>
          <a:xfrm>
            <a:off x="4279392" y="4754880"/>
            <a:ext cx="3429000" cy="786384"/>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416552" y="4846320"/>
            <a:ext cx="941832" cy="292608"/>
          </a:xfrm>
          <a:prstGeom prst="roundRect">
            <a:avLst>
              <a:gd name="adj" fmla="val 18000"/>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8848" y="4864607"/>
            <a:ext cx="777240" cy="256032"/>
          </a:xfrm>
          <a:prstGeom prst="rect">
            <a:avLst/>
          </a:prstGeom>
          <a:noFill/>
        </p:spPr>
        <p:txBody>
          <a:bodyPr wrap="square" lIns="0" rIns="0" tIns="0" bIns="0" anchor="ctr">
            <a:spAutoFit/>
          </a:bodyPr>
          <a:lstStyle/>
          <a:p>
            <a:pPr algn="ctr">
              <a:lnSpc>
                <a:spcPct val="100000"/>
              </a:lnSpc>
              <a:spcAft>
                <a:spcPts val="0"/>
              </a:spcAft>
            </a:pPr>
            <a:r>
              <a:rPr sz="740" b="1" i="0">
                <a:solidFill>
                  <a:srgbClr val="FFFFFF"/>
                </a:solidFill>
                <a:latin typeface="Arial"/>
              </a:rPr>
              <a:t>PROPOSÉ</a:t>
            </a:r>
          </a:p>
        </p:txBody>
      </p:sp>
      <p:sp>
        <p:nvSpPr>
          <p:cNvPr id="36" name="TextBox 35"/>
          <p:cNvSpPr txBox="1"/>
          <p:nvPr/>
        </p:nvSpPr>
        <p:spPr>
          <a:xfrm>
            <a:off x="5468112" y="4864608"/>
            <a:ext cx="2103120" cy="502920"/>
          </a:xfrm>
          <a:prstGeom prst="rect">
            <a:avLst/>
          </a:prstGeom>
          <a:noFill/>
        </p:spPr>
        <p:txBody>
          <a:bodyPr wrap="square" lIns="0" rIns="0" tIns="0" bIns="0" anchor="t">
            <a:spAutoFit/>
          </a:bodyPr>
          <a:lstStyle/>
          <a:p>
            <a:pPr algn="l">
              <a:lnSpc>
                <a:spcPct val="100000"/>
              </a:lnSpc>
              <a:spcAft>
                <a:spcPts val="0"/>
              </a:spcAft>
            </a:pPr>
            <a:r>
              <a:rPr sz="880" b="0" i="0">
                <a:solidFill>
                  <a:srgbClr val="18263A"/>
                </a:solidFill>
                <a:latin typeface="Arial"/>
              </a:rPr>
              <a:t>unité systemd</a:t>
            </a:r>
          </a:p>
        </p:txBody>
      </p:sp>
      <p:sp>
        <p:nvSpPr>
          <p:cNvPr id="37" name="Rounded Rectangle 36"/>
          <p:cNvSpPr/>
          <p:nvPr/>
        </p:nvSpPr>
        <p:spPr>
          <a:xfrm>
            <a:off x="7936992" y="4754880"/>
            <a:ext cx="3429000" cy="786384"/>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074152" y="4846320"/>
            <a:ext cx="941832" cy="292608"/>
          </a:xfrm>
          <a:prstGeom prst="roundRect">
            <a:avLst>
              <a:gd name="adj" fmla="val 18000"/>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4864607"/>
            <a:ext cx="777240" cy="256032"/>
          </a:xfrm>
          <a:prstGeom prst="rect">
            <a:avLst/>
          </a:prstGeom>
          <a:noFill/>
        </p:spPr>
        <p:txBody>
          <a:bodyPr wrap="square" lIns="0" rIns="0" tIns="0" bIns="0" anchor="ctr">
            <a:spAutoFit/>
          </a:bodyPr>
          <a:lstStyle/>
          <a:p>
            <a:pPr algn="ctr">
              <a:lnSpc>
                <a:spcPct val="100000"/>
              </a:lnSpc>
              <a:spcAft>
                <a:spcPts val="0"/>
              </a:spcAft>
            </a:pPr>
            <a:r>
              <a:rPr sz="740" b="1" i="0">
                <a:solidFill>
                  <a:srgbClr val="FFFFFF"/>
                </a:solidFill>
                <a:latin typeface="Arial"/>
              </a:rPr>
              <a:t>NON TESTÉ</a:t>
            </a:r>
          </a:p>
        </p:txBody>
      </p:sp>
      <p:sp>
        <p:nvSpPr>
          <p:cNvPr id="40" name="TextBox 39"/>
          <p:cNvSpPr txBox="1"/>
          <p:nvPr/>
        </p:nvSpPr>
        <p:spPr>
          <a:xfrm>
            <a:off x="9125712" y="4864608"/>
            <a:ext cx="2103120" cy="502920"/>
          </a:xfrm>
          <a:prstGeom prst="rect">
            <a:avLst/>
          </a:prstGeom>
          <a:noFill/>
        </p:spPr>
        <p:txBody>
          <a:bodyPr wrap="square" lIns="0" rIns="0" tIns="0" bIns="0" anchor="t">
            <a:spAutoFit/>
          </a:bodyPr>
          <a:lstStyle/>
          <a:p>
            <a:pPr algn="l">
              <a:lnSpc>
                <a:spcPct val="100000"/>
              </a:lnSpc>
              <a:spcAft>
                <a:spcPts val="0"/>
              </a:spcAft>
            </a:pPr>
            <a:r>
              <a:rPr sz="880" b="0" i="0">
                <a:solidFill>
                  <a:srgbClr val="18263A"/>
                </a:solidFill>
                <a:latin typeface="Arial"/>
              </a:rPr>
              <a:t>HTTP · mTLS · EDR réel</a:t>
            </a:r>
          </a:p>
        </p:txBody>
      </p:sp>
      <p:sp>
        <p:nvSpPr>
          <p:cNvPr id="41" name="Rounded Rectangle 40"/>
          <p:cNvSpPr/>
          <p:nvPr/>
        </p:nvSpPr>
        <p:spPr>
          <a:xfrm>
            <a:off x="621792" y="5715000"/>
            <a:ext cx="10927080" cy="45720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797296"/>
            <a:ext cx="10515600" cy="292608"/>
          </a:xfrm>
          <a:prstGeom prst="rect">
            <a:avLst/>
          </a:prstGeom>
          <a:noFill/>
        </p:spPr>
        <p:txBody>
          <a:bodyPr wrap="square" lIns="0" rIns="0" tIns="0" bIns="0" anchor="t">
            <a:spAutoFit/>
          </a:bodyPr>
          <a:lstStyle/>
          <a:p>
            <a:pPr algn="l">
              <a:lnSpc>
                <a:spcPct val="100000"/>
              </a:lnSpc>
              <a:spcAft>
                <a:spcPts val="0"/>
              </a:spcAft>
            </a:pPr>
            <a:r>
              <a:rPr sz="980" b="1" i="0">
                <a:solidFill>
                  <a:srgbClr val="0B1F3A"/>
                </a:solidFill>
                <a:latin typeface="Arial"/>
              </a:rPr>
              <a:t>Le service ne peut pas écrire la base ; l'ingestion est une opération séparée.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P5 · FUITE</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600" b="1" i="0">
                <a:solidFill>
                  <a:srgbClr val="0B1F3A"/>
                </a:solidFill>
                <a:latin typeface="Arial"/>
              </a:rPr>
              <a:t>La fuite est bloquée, journalisée et visible</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12 / 16</a:t>
            </a:r>
          </a:p>
        </p:txBody>
      </p:sp>
      <p:pic>
        <p:nvPicPr>
          <p:cNvPr id="11" name="Picture 10" descr="03_fuites_bloquees.png"/>
          <p:cNvPicPr>
            <a:picLocks noChangeAspect="1"/>
          </p:cNvPicPr>
          <p:nvPr/>
        </p:nvPicPr>
        <p:blipFill>
          <a:blip r:embed="rId2"/>
          <a:stretch>
            <a:fillRect/>
          </a:stretch>
        </p:blipFill>
        <p:spPr>
          <a:xfrm>
            <a:off x="528131" y="1801368"/>
            <a:ext cx="10702920" cy="3611880"/>
          </a:xfrm>
          <a:prstGeom prst="rect">
            <a:avLst/>
          </a:prstGeom>
        </p:spPr>
      </p:pic>
      <p:sp>
        <p:nvSpPr>
          <p:cNvPr id="12" name="TextBox 11"/>
          <p:cNvSpPr txBox="1"/>
          <p:nvPr/>
        </p:nvSpPr>
        <p:spPr>
          <a:xfrm>
            <a:off x="502920" y="5532120"/>
            <a:ext cx="1060704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preuves/logs/demo_capture.json — scènes S2 et S3 ; canari absent des deux réponses.</a:t>
            </a:r>
          </a:p>
        </p:txBody>
      </p:sp>
      <p:sp>
        <p:nvSpPr>
          <p:cNvPr id="13" name="Rounded Rectangle 12"/>
          <p:cNvSpPr/>
          <p:nvPr/>
        </p:nvSpPr>
        <p:spPr>
          <a:xfrm>
            <a:off x="621792" y="5870448"/>
            <a:ext cx="3429000" cy="365760"/>
          </a:xfrm>
          <a:prstGeom prst="roundRect">
            <a:avLst>
              <a:gd name="adj" fmla="val 18000"/>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5888736"/>
            <a:ext cx="3264408" cy="329184"/>
          </a:xfrm>
          <a:prstGeom prst="rect">
            <a:avLst/>
          </a:prstGeom>
          <a:noFill/>
        </p:spPr>
        <p:txBody>
          <a:bodyPr wrap="square" lIns="0" rIns="0" tIns="0" bIns="0" anchor="ctr">
            <a:spAutoFit/>
          </a:bodyPr>
          <a:lstStyle/>
          <a:p>
            <a:pPr algn="ctr">
              <a:lnSpc>
                <a:spcPct val="100000"/>
              </a:lnSpc>
              <a:spcAft>
                <a:spcPts val="0"/>
              </a:spcAft>
            </a:pPr>
            <a:r>
              <a:rPr sz="840" b="1" i="0">
                <a:solidFill>
                  <a:srgbClr val="FFFFFF"/>
                </a:solidFill>
                <a:latin typeface="Arial"/>
              </a:rPr>
              <a:t>Confidentiel → Secret : refus</a:t>
            </a:r>
          </a:p>
        </p:txBody>
      </p:sp>
      <p:sp>
        <p:nvSpPr>
          <p:cNvPr id="15" name="Rounded Rectangle 14"/>
          <p:cNvSpPr/>
          <p:nvPr/>
        </p:nvSpPr>
        <p:spPr>
          <a:xfrm>
            <a:off x="4279392" y="5870448"/>
            <a:ext cx="3429000" cy="365760"/>
          </a:xfrm>
          <a:prstGeom prst="roundRect">
            <a:avLst>
              <a:gd name="adj" fmla="val 18000"/>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5888736"/>
            <a:ext cx="3264408" cy="329184"/>
          </a:xfrm>
          <a:prstGeom prst="rect">
            <a:avLst/>
          </a:prstGeom>
          <a:noFill/>
        </p:spPr>
        <p:txBody>
          <a:bodyPr wrap="square" lIns="0" rIns="0" tIns="0" bIns="0" anchor="ctr">
            <a:spAutoFit/>
          </a:bodyPr>
          <a:lstStyle/>
          <a:p>
            <a:pPr algn="ctr">
              <a:lnSpc>
                <a:spcPct val="100000"/>
              </a:lnSpc>
              <a:spcAft>
                <a:spcPts val="0"/>
              </a:spcAft>
            </a:pPr>
            <a:r>
              <a:rPr sz="840" b="1" i="0">
                <a:solidFill>
                  <a:srgbClr val="FFFFFF"/>
                </a:solidFill>
                <a:latin typeface="Arial"/>
              </a:rPr>
              <a:t>Secret hors compartiment : refus</a:t>
            </a:r>
          </a:p>
        </p:txBody>
      </p:sp>
      <p:sp>
        <p:nvSpPr>
          <p:cNvPr id="17" name="Rounded Rectangle 16"/>
          <p:cNvSpPr/>
          <p:nvPr/>
        </p:nvSpPr>
        <p:spPr>
          <a:xfrm>
            <a:off x="7936992" y="5870448"/>
            <a:ext cx="3429000" cy="365760"/>
          </a:xfrm>
          <a:prstGeom prst="roundRect">
            <a:avLst>
              <a:gd name="adj" fmla="val 18000"/>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9288" y="5888736"/>
            <a:ext cx="3264408" cy="329184"/>
          </a:xfrm>
          <a:prstGeom prst="rect">
            <a:avLst/>
          </a:prstGeom>
          <a:noFill/>
        </p:spPr>
        <p:txBody>
          <a:bodyPr wrap="square" lIns="0" rIns="0" tIns="0" bIns="0" anchor="ctr">
            <a:spAutoFit/>
          </a:bodyPr>
          <a:lstStyle/>
          <a:p>
            <a:pPr algn="ctr">
              <a:lnSpc>
                <a:spcPct val="100000"/>
              </a:lnSpc>
              <a:spcAft>
                <a:spcPts val="0"/>
              </a:spcAft>
            </a:pPr>
            <a:r>
              <a:rPr sz="840" b="1" i="0">
                <a:solidFill>
                  <a:srgbClr val="FFFFFF"/>
                </a:solidFill>
                <a:latin typeface="Arial"/>
              </a:rPr>
              <a:t>Deux motifs d'audit distincts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P5 · INJECTION</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Injection neutralisée, chaîne d'audit vérifiée</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13 / 16</a:t>
            </a:r>
          </a:p>
        </p:txBody>
      </p:sp>
      <p:pic>
        <p:nvPicPr>
          <p:cNvPr id="11" name="Picture 10" descr="04_acces_et_injection.png"/>
          <p:cNvPicPr>
            <a:picLocks noChangeAspect="1"/>
          </p:cNvPicPr>
          <p:nvPr/>
        </p:nvPicPr>
        <p:blipFill>
          <a:blip r:embed="rId2"/>
          <a:stretch>
            <a:fillRect/>
          </a:stretch>
        </p:blipFill>
        <p:spPr>
          <a:xfrm>
            <a:off x="457200" y="1737775"/>
            <a:ext cx="6035040" cy="2019992"/>
          </a:xfrm>
          <a:prstGeom prst="rect">
            <a:avLst/>
          </a:prstGeom>
        </p:spPr>
      </p:pic>
      <p:pic>
        <p:nvPicPr>
          <p:cNvPr id="12" name="Picture 11" descr="05_audit_falsification.png"/>
          <p:cNvPicPr>
            <a:picLocks noChangeAspect="1"/>
          </p:cNvPicPr>
          <p:nvPr/>
        </p:nvPicPr>
        <p:blipFill>
          <a:blip r:embed="rId3"/>
          <a:stretch>
            <a:fillRect/>
          </a:stretch>
        </p:blipFill>
        <p:spPr>
          <a:xfrm>
            <a:off x="458814" y="3886200"/>
            <a:ext cx="4751650" cy="1828800"/>
          </a:xfrm>
          <a:prstGeom prst="rect">
            <a:avLst/>
          </a:prstGeom>
        </p:spPr>
      </p:pic>
      <p:sp>
        <p:nvSpPr>
          <p:cNvPr id="13" name="TextBox 12"/>
          <p:cNvSpPr txBox="1"/>
          <p:nvPr/>
        </p:nvSpPr>
        <p:spPr>
          <a:xfrm>
            <a:off x="502920" y="5760720"/>
            <a:ext cx="7543800" cy="201168"/>
          </a:xfrm>
          <a:prstGeom prst="rect">
            <a:avLst/>
          </a:prstGeom>
          <a:noFill/>
        </p:spPr>
        <p:txBody>
          <a:bodyPr wrap="square" lIns="0" rIns="0" tIns="0" bIns="0" anchor="t">
            <a:spAutoFit/>
          </a:bodyPr>
          <a:lstStyle/>
          <a:p>
            <a:pPr algn="l">
              <a:lnSpc>
                <a:spcPct val="100000"/>
              </a:lnSpc>
              <a:spcAft>
                <a:spcPts val="0"/>
              </a:spcAft>
            </a:pPr>
            <a:r>
              <a:rPr sz="760" b="0" i="1">
                <a:solidFill>
                  <a:srgbClr val="6D7B8D"/>
                </a:solidFill>
                <a:latin typeface="Arial"/>
              </a:rPr>
              <a:t>Source : démonstration S5 et S6 — instruction neutralisée, chaîne vérifiée.</a:t>
            </a:r>
          </a:p>
        </p:txBody>
      </p:sp>
      <p:sp>
        <p:nvSpPr>
          <p:cNvPr id="14" name="Rounded Rectangle 13"/>
          <p:cNvSpPr/>
          <p:nvPr/>
        </p:nvSpPr>
        <p:spPr>
          <a:xfrm>
            <a:off x="8366760" y="1801368"/>
            <a:ext cx="3182112" cy="1234440"/>
          </a:xfrm>
          <a:prstGeom prst="roundRect">
            <a:avLst>
              <a:gd name="adj" fmla="val 2500"/>
            </a:avLst>
          </a:prstGeom>
          <a:solidFill>
            <a:srgbClr val="F8EAEA"/>
          </a:solidFill>
          <a:ln w="10160">
            <a:solidFill>
              <a:srgbClr val="A6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9640" y="1911095"/>
            <a:ext cx="2651760" cy="228600"/>
          </a:xfrm>
          <a:prstGeom prst="rect">
            <a:avLst/>
          </a:prstGeom>
          <a:noFill/>
        </p:spPr>
        <p:txBody>
          <a:bodyPr wrap="square" lIns="0" rIns="0" tIns="0" bIns="0" anchor="t">
            <a:spAutoFit/>
          </a:bodyPr>
          <a:lstStyle/>
          <a:p>
            <a:pPr algn="l">
              <a:lnSpc>
                <a:spcPct val="100000"/>
              </a:lnSpc>
              <a:spcAft>
                <a:spcPts val="0"/>
              </a:spcAft>
            </a:pPr>
            <a:r>
              <a:rPr sz="850" b="1" i="0">
                <a:solidFill>
                  <a:srgbClr val="A63B3B"/>
                </a:solidFill>
                <a:latin typeface="Arial"/>
              </a:rPr>
              <a:t>INJECTION</a:t>
            </a:r>
          </a:p>
        </p:txBody>
      </p:sp>
      <p:sp>
        <p:nvSpPr>
          <p:cNvPr id="16" name="TextBox 15"/>
          <p:cNvSpPr txBox="1"/>
          <p:nvPr/>
        </p:nvSpPr>
        <p:spPr>
          <a:xfrm>
            <a:off x="8549640" y="2167128"/>
            <a:ext cx="1280160" cy="548640"/>
          </a:xfrm>
          <a:prstGeom prst="rect">
            <a:avLst/>
          </a:prstGeom>
          <a:noFill/>
        </p:spPr>
        <p:txBody>
          <a:bodyPr wrap="square" lIns="0" rIns="0" tIns="0" bIns="0" anchor="t">
            <a:spAutoFit/>
          </a:bodyPr>
          <a:lstStyle/>
          <a:p>
            <a:pPr algn="l">
              <a:lnSpc>
                <a:spcPct val="100000"/>
              </a:lnSpc>
              <a:spcAft>
                <a:spcPts val="0"/>
              </a:spcAft>
            </a:pPr>
            <a:r>
              <a:rPr sz="2900" b="1" i="0">
                <a:solidFill>
                  <a:srgbClr val="A63B3B"/>
                </a:solidFill>
                <a:latin typeface="Arial"/>
              </a:rPr>
              <a:t>3 / 3</a:t>
            </a:r>
          </a:p>
        </p:txBody>
      </p:sp>
      <p:sp>
        <p:nvSpPr>
          <p:cNvPr id="17" name="TextBox 16"/>
          <p:cNvSpPr txBox="1"/>
          <p:nvPr/>
        </p:nvSpPr>
        <p:spPr>
          <a:xfrm>
            <a:off x="9692640" y="2331720"/>
            <a:ext cx="1645920" cy="274320"/>
          </a:xfrm>
          <a:prstGeom prst="rect">
            <a:avLst/>
          </a:prstGeom>
          <a:noFill/>
        </p:spPr>
        <p:txBody>
          <a:bodyPr wrap="square" lIns="0" rIns="0" tIns="0" bIns="0" anchor="t">
            <a:spAutoFit/>
          </a:bodyPr>
          <a:lstStyle/>
          <a:p>
            <a:pPr algn="l">
              <a:lnSpc>
                <a:spcPct val="100000"/>
              </a:lnSpc>
              <a:spcAft>
                <a:spcPts val="0"/>
              </a:spcAft>
            </a:pPr>
            <a:r>
              <a:rPr sz="819" b="0" i="0">
                <a:solidFill>
                  <a:srgbClr val="18263A"/>
                </a:solidFill>
                <a:latin typeface="Arial"/>
              </a:rPr>
              <a:t>charges neutralisées</a:t>
            </a:r>
          </a:p>
        </p:txBody>
      </p:sp>
      <p:sp>
        <p:nvSpPr>
          <p:cNvPr id="18" name="TextBox 17"/>
          <p:cNvSpPr txBox="1"/>
          <p:nvPr/>
        </p:nvSpPr>
        <p:spPr>
          <a:xfrm>
            <a:off x="8549640" y="2734056"/>
            <a:ext cx="2651760" cy="228600"/>
          </a:xfrm>
          <a:prstGeom prst="rect">
            <a:avLst/>
          </a:prstGeom>
          <a:noFill/>
        </p:spPr>
        <p:txBody>
          <a:bodyPr wrap="square" lIns="0" rIns="0" tIns="0" bIns="0" anchor="t">
            <a:spAutoFit/>
          </a:bodyPr>
          <a:lstStyle/>
          <a:p>
            <a:pPr algn="l">
              <a:lnSpc>
                <a:spcPct val="100000"/>
              </a:lnSpc>
              <a:spcAft>
                <a:spcPts val="0"/>
              </a:spcAft>
            </a:pPr>
            <a:r>
              <a:rPr sz="840" b="1" i="0">
                <a:solidFill>
                  <a:srgbClr val="2D7A5B"/>
                </a:solidFill>
                <a:latin typeface="Arial"/>
              </a:rPr>
              <a:t>0 faux positif sur 11 bénins</a:t>
            </a:r>
          </a:p>
        </p:txBody>
      </p:sp>
      <p:sp>
        <p:nvSpPr>
          <p:cNvPr id="19" name="Rounded Rectangle 18"/>
          <p:cNvSpPr/>
          <p:nvPr/>
        </p:nvSpPr>
        <p:spPr>
          <a:xfrm>
            <a:off x="8366760" y="3200400"/>
            <a:ext cx="3182112" cy="1280160"/>
          </a:xfrm>
          <a:prstGeom prst="roundRect">
            <a:avLst>
              <a:gd name="adj" fmla="val 2500"/>
            </a:avLst>
          </a:prstGeom>
          <a:solidFill>
            <a:srgbClr val="E7F3ED"/>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3319272"/>
            <a:ext cx="2651760" cy="228600"/>
          </a:xfrm>
          <a:prstGeom prst="rect">
            <a:avLst/>
          </a:prstGeom>
          <a:noFill/>
        </p:spPr>
        <p:txBody>
          <a:bodyPr wrap="square" lIns="0" rIns="0" tIns="0" bIns="0" anchor="t">
            <a:spAutoFit/>
          </a:bodyPr>
          <a:lstStyle/>
          <a:p>
            <a:pPr algn="l">
              <a:lnSpc>
                <a:spcPct val="100000"/>
              </a:lnSpc>
              <a:spcAft>
                <a:spcPts val="0"/>
              </a:spcAft>
            </a:pPr>
            <a:r>
              <a:rPr sz="850" b="1" i="0">
                <a:solidFill>
                  <a:srgbClr val="2D7A5B"/>
                </a:solidFill>
                <a:latin typeface="Arial"/>
              </a:rPr>
              <a:t>AUDIT</a:t>
            </a:r>
          </a:p>
        </p:txBody>
      </p:sp>
      <p:sp>
        <p:nvSpPr>
          <p:cNvPr id="21" name="TextBox 20"/>
          <p:cNvSpPr txBox="1"/>
          <p:nvPr/>
        </p:nvSpPr>
        <p:spPr>
          <a:xfrm>
            <a:off x="8549640" y="3575304"/>
            <a:ext cx="1325880" cy="548640"/>
          </a:xfrm>
          <a:prstGeom prst="rect">
            <a:avLst/>
          </a:prstGeom>
          <a:noFill/>
        </p:spPr>
        <p:txBody>
          <a:bodyPr wrap="square" lIns="0" rIns="0" tIns="0" bIns="0" anchor="t">
            <a:spAutoFit/>
          </a:bodyPr>
          <a:lstStyle/>
          <a:p>
            <a:pPr algn="l">
              <a:lnSpc>
                <a:spcPct val="100000"/>
              </a:lnSpc>
              <a:spcAft>
                <a:spcPts val="0"/>
              </a:spcAft>
            </a:pPr>
            <a:r>
              <a:rPr sz="2900" b="1" i="0">
                <a:solidFill>
                  <a:srgbClr val="2D7A5B"/>
                </a:solidFill>
                <a:latin typeface="Arial"/>
              </a:rPr>
              <a:t>116</a:t>
            </a:r>
          </a:p>
        </p:txBody>
      </p:sp>
      <p:sp>
        <p:nvSpPr>
          <p:cNvPr id="22" name="TextBox 21"/>
          <p:cNvSpPr txBox="1"/>
          <p:nvPr/>
        </p:nvSpPr>
        <p:spPr>
          <a:xfrm>
            <a:off x="9646920" y="3739896"/>
            <a:ext cx="1737360" cy="274320"/>
          </a:xfrm>
          <a:prstGeom prst="rect">
            <a:avLst/>
          </a:prstGeom>
          <a:noFill/>
        </p:spPr>
        <p:txBody>
          <a:bodyPr wrap="square" lIns="0" rIns="0" tIns="0" bIns="0" anchor="t">
            <a:spAutoFit/>
          </a:bodyPr>
          <a:lstStyle/>
          <a:p>
            <a:pPr algn="l">
              <a:lnSpc>
                <a:spcPct val="100000"/>
              </a:lnSpc>
              <a:spcAft>
                <a:spcPts val="0"/>
              </a:spcAft>
            </a:pPr>
            <a:r>
              <a:rPr sz="819" b="0" i="0">
                <a:solidFill>
                  <a:srgbClr val="18263A"/>
                </a:solidFill>
                <a:latin typeface="Arial"/>
              </a:rPr>
              <a:t>entrées chaînées</a:t>
            </a:r>
          </a:p>
        </p:txBody>
      </p:sp>
      <p:sp>
        <p:nvSpPr>
          <p:cNvPr id="23" name="TextBox 22"/>
          <p:cNvSpPr txBox="1"/>
          <p:nvPr/>
        </p:nvSpPr>
        <p:spPr>
          <a:xfrm>
            <a:off x="8549640" y="4160520"/>
            <a:ext cx="2651760" cy="228600"/>
          </a:xfrm>
          <a:prstGeom prst="rect">
            <a:avLst/>
          </a:prstGeom>
          <a:noFill/>
        </p:spPr>
        <p:txBody>
          <a:bodyPr wrap="square" lIns="0" rIns="0" tIns="0" bIns="0" anchor="t">
            <a:spAutoFit/>
          </a:bodyPr>
          <a:lstStyle/>
          <a:p>
            <a:pPr algn="l">
              <a:lnSpc>
                <a:spcPct val="100000"/>
              </a:lnSpc>
              <a:spcAft>
                <a:spcPts val="0"/>
              </a:spcAft>
            </a:pPr>
            <a:r>
              <a:rPr sz="830" b="1" i="0">
                <a:solidFill>
                  <a:srgbClr val="18263A"/>
                </a:solidFill>
                <a:latin typeface="Arial"/>
              </a:rPr>
              <a:t>115 appels + 1 erreur protocole</a:t>
            </a:r>
          </a:p>
        </p:txBody>
      </p:sp>
      <p:sp>
        <p:nvSpPr>
          <p:cNvPr id="24" name="Rounded Rectangle 23"/>
          <p:cNvSpPr/>
          <p:nvPr/>
        </p:nvSpPr>
        <p:spPr>
          <a:xfrm>
            <a:off x="8366760" y="4709160"/>
            <a:ext cx="3182112" cy="100584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31352" y="4818888"/>
            <a:ext cx="2834640" cy="731520"/>
          </a:xfrm>
          <a:prstGeom prst="rect">
            <a:avLst/>
          </a:prstGeom>
          <a:noFill/>
        </p:spPr>
        <p:txBody>
          <a:bodyPr wrap="square" lIns="0" rIns="0" tIns="0" bIns="0" anchor="t">
            <a:spAutoFit/>
          </a:bodyPr>
          <a:lstStyle/>
          <a:p>
            <a:pPr algn="l">
              <a:lnSpc>
                <a:spcPct val="105000"/>
              </a:lnSpc>
              <a:spcAft>
                <a:spcPts val="0"/>
              </a:spcAft>
            </a:pPr>
            <a:r>
              <a:rPr sz="919" b="1" i="0">
                <a:solidFill>
                  <a:srgbClr val="0B1F3A"/>
                </a:solidFill>
                <a:latin typeface="Arial"/>
              </a:rPr>
              <a:t>La chaîne SHA-256 est vérifiée en une commande ; la source est masquée.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P5 · CAMPAGNE</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600" b="1" i="0">
                <a:solidFill>
                  <a:srgbClr val="0B1F3A"/>
                </a:solidFill>
                <a:latin typeface="Arial"/>
              </a:rPr>
              <a:t>31 scénarios, 31 réussites, 12,42 ms</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14 / 16</a:t>
            </a:r>
          </a:p>
        </p:txBody>
      </p:sp>
      <p:pic>
        <p:nvPicPr>
          <p:cNvPr id="11" name="Picture 10" descr="cap_07_campagne_tests.png"/>
          <p:cNvPicPr>
            <a:picLocks noChangeAspect="1"/>
          </p:cNvPicPr>
          <p:nvPr/>
        </p:nvPicPr>
        <p:blipFill>
          <a:blip r:embed="rId2"/>
          <a:stretch>
            <a:fillRect/>
          </a:stretch>
        </p:blipFill>
        <p:spPr>
          <a:xfrm>
            <a:off x="611755" y="1801368"/>
            <a:ext cx="7097528" cy="3730752"/>
          </a:xfrm>
          <a:prstGeom prst="rect">
            <a:avLst/>
          </a:prstGeom>
        </p:spPr>
      </p:pic>
      <p:sp>
        <p:nvSpPr>
          <p:cNvPr id="12" name="TextBox 11"/>
          <p:cNvSpPr txBox="1"/>
          <p:nvPr/>
        </p:nvSpPr>
        <p:spPr>
          <a:xfrm>
            <a:off x="502920" y="5623560"/>
            <a:ext cx="7315200" cy="201168"/>
          </a:xfrm>
          <a:prstGeom prst="rect">
            <a:avLst/>
          </a:prstGeom>
          <a:noFill/>
        </p:spPr>
        <p:txBody>
          <a:bodyPr wrap="square" lIns="0" rIns="0" tIns="0" bIns="0" anchor="t">
            <a:spAutoFit/>
          </a:bodyPr>
          <a:lstStyle/>
          <a:p>
            <a:pPr algn="l">
              <a:lnSpc>
                <a:spcPct val="100000"/>
              </a:lnSpc>
              <a:spcAft>
                <a:spcPts val="0"/>
              </a:spcAft>
            </a:pPr>
            <a:r>
              <a:rPr sz="780" b="0" i="1">
                <a:solidFill>
                  <a:srgbClr val="6D7B8D"/>
                </a:solidFill>
                <a:latin typeface="Arial"/>
              </a:rPr>
              <a:t>Source : preuves/logs/tests_latest.json — campagne du 27 octobre 2026.</a:t>
            </a:r>
          </a:p>
        </p:txBody>
      </p:sp>
      <p:sp>
        <p:nvSpPr>
          <p:cNvPr id="13" name="Rounded Rectangle 12"/>
          <p:cNvSpPr/>
          <p:nvPr/>
        </p:nvSpPr>
        <p:spPr>
          <a:xfrm>
            <a:off x="8229600" y="1801368"/>
            <a:ext cx="3319272"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801368"/>
            <a:ext cx="54864" cy="822960"/>
          </a:xfrm>
          <a:prstGeom prst="rect">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901952"/>
            <a:ext cx="17373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2D7A5B"/>
                </a:solidFill>
                <a:latin typeface="Arial"/>
              </a:rPr>
              <a:t>31 / 31</a:t>
            </a:r>
          </a:p>
        </p:txBody>
      </p:sp>
      <p:sp>
        <p:nvSpPr>
          <p:cNvPr id="16" name="TextBox 15"/>
          <p:cNvSpPr txBox="1"/>
          <p:nvPr/>
        </p:nvSpPr>
        <p:spPr>
          <a:xfrm>
            <a:off x="10104120" y="2029967"/>
            <a:ext cx="1325880" cy="274320"/>
          </a:xfrm>
          <a:prstGeom prst="rect">
            <a:avLst/>
          </a:prstGeom>
          <a:noFill/>
        </p:spPr>
        <p:txBody>
          <a:bodyPr wrap="square" lIns="0" rIns="0" tIns="0" bIns="0" anchor="t">
            <a:spAutoFit/>
          </a:bodyPr>
          <a:lstStyle/>
          <a:p>
            <a:pPr algn="r">
              <a:lnSpc>
                <a:spcPct val="100000"/>
              </a:lnSpc>
              <a:spcAft>
                <a:spcPts val="0"/>
              </a:spcAft>
            </a:pPr>
            <a:r>
              <a:rPr sz="840" b="0" i="0">
                <a:solidFill>
                  <a:srgbClr val="6D7B8D"/>
                </a:solidFill>
                <a:latin typeface="Arial"/>
              </a:rPr>
              <a:t>scénarios réussis</a:t>
            </a:r>
          </a:p>
        </p:txBody>
      </p:sp>
      <p:sp>
        <p:nvSpPr>
          <p:cNvPr id="17" name="Rounded Rectangle 16"/>
          <p:cNvSpPr/>
          <p:nvPr/>
        </p:nvSpPr>
        <p:spPr>
          <a:xfrm>
            <a:off x="8229600" y="2770632"/>
            <a:ext cx="3319272"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2770632"/>
            <a:ext cx="54864" cy="822960"/>
          </a:xfrm>
          <a:prstGeom prst="rect">
            <a:avLst/>
          </a:prstGeom>
          <a:solidFill>
            <a:srgbClr val="2D7A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871216"/>
            <a:ext cx="17373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2D7A5B"/>
                </a:solidFill>
                <a:latin typeface="Arial"/>
              </a:rPr>
              <a:t>16 / 16</a:t>
            </a:r>
          </a:p>
        </p:txBody>
      </p:sp>
      <p:sp>
        <p:nvSpPr>
          <p:cNvPr id="20" name="TextBox 19"/>
          <p:cNvSpPr txBox="1"/>
          <p:nvPr/>
        </p:nvSpPr>
        <p:spPr>
          <a:xfrm>
            <a:off x="10104120" y="2999232"/>
            <a:ext cx="1325880" cy="274320"/>
          </a:xfrm>
          <a:prstGeom prst="rect">
            <a:avLst/>
          </a:prstGeom>
          <a:noFill/>
        </p:spPr>
        <p:txBody>
          <a:bodyPr wrap="square" lIns="0" rIns="0" tIns="0" bIns="0" anchor="t">
            <a:spAutoFit/>
          </a:bodyPr>
          <a:lstStyle/>
          <a:p>
            <a:pPr algn="r">
              <a:lnSpc>
                <a:spcPct val="100000"/>
              </a:lnSpc>
              <a:spcAft>
                <a:spcPts val="0"/>
              </a:spcAft>
            </a:pPr>
            <a:r>
              <a:rPr sz="840" b="0" i="0">
                <a:solidFill>
                  <a:srgbClr val="6D7B8D"/>
                </a:solidFill>
                <a:latin typeface="Arial"/>
              </a:rPr>
              <a:t>abus maîtrisés</a:t>
            </a:r>
          </a:p>
        </p:txBody>
      </p:sp>
      <p:sp>
        <p:nvSpPr>
          <p:cNvPr id="21" name="Rounded Rectangle 20"/>
          <p:cNvSpPr/>
          <p:nvPr/>
        </p:nvSpPr>
        <p:spPr>
          <a:xfrm>
            <a:off x="8229600" y="3739896"/>
            <a:ext cx="3319272"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3739896"/>
            <a:ext cx="54864" cy="822960"/>
          </a:xfrm>
          <a:prstGeom prst="rect">
            <a:avLst/>
          </a:prstGeom>
          <a:solidFill>
            <a:srgbClr val="1D5B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3840480"/>
            <a:ext cx="17373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1D5B94"/>
                </a:solidFill>
                <a:latin typeface="Arial"/>
              </a:rPr>
              <a:t>12,42 ms</a:t>
            </a:r>
          </a:p>
        </p:txBody>
      </p:sp>
      <p:sp>
        <p:nvSpPr>
          <p:cNvPr id="24" name="TextBox 23"/>
          <p:cNvSpPr txBox="1"/>
          <p:nvPr/>
        </p:nvSpPr>
        <p:spPr>
          <a:xfrm>
            <a:off x="10104120" y="3968496"/>
            <a:ext cx="1325880" cy="274320"/>
          </a:xfrm>
          <a:prstGeom prst="rect">
            <a:avLst/>
          </a:prstGeom>
          <a:noFill/>
        </p:spPr>
        <p:txBody>
          <a:bodyPr wrap="square" lIns="0" rIns="0" tIns="0" bIns="0" anchor="t">
            <a:spAutoFit/>
          </a:bodyPr>
          <a:lstStyle/>
          <a:p>
            <a:pPr algn="r">
              <a:lnSpc>
                <a:spcPct val="100000"/>
              </a:lnSpc>
              <a:spcAft>
                <a:spcPts val="0"/>
              </a:spcAft>
            </a:pPr>
            <a:r>
              <a:rPr sz="840" b="0" i="0">
                <a:solidFill>
                  <a:srgbClr val="6D7B8D"/>
                </a:solidFill>
                <a:latin typeface="Arial"/>
              </a:rPr>
              <a:t>latence p95</a:t>
            </a:r>
          </a:p>
        </p:txBody>
      </p:sp>
      <p:sp>
        <p:nvSpPr>
          <p:cNvPr id="25" name="Rounded Rectangle 24"/>
          <p:cNvSpPr/>
          <p:nvPr/>
        </p:nvSpPr>
        <p:spPr>
          <a:xfrm>
            <a:off x="8229600" y="4709160"/>
            <a:ext cx="3319272" cy="82296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4709160"/>
            <a:ext cx="54864" cy="822960"/>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4809744"/>
            <a:ext cx="17373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B8934E"/>
                </a:solidFill>
                <a:latin typeface="Arial"/>
              </a:rPr>
              <a:t>10,0 ms</a:t>
            </a:r>
          </a:p>
        </p:txBody>
      </p:sp>
      <p:sp>
        <p:nvSpPr>
          <p:cNvPr id="28" name="TextBox 27"/>
          <p:cNvSpPr txBox="1"/>
          <p:nvPr/>
        </p:nvSpPr>
        <p:spPr>
          <a:xfrm>
            <a:off x="10104120" y="4937760"/>
            <a:ext cx="1325880" cy="274320"/>
          </a:xfrm>
          <a:prstGeom prst="rect">
            <a:avLst/>
          </a:prstGeom>
          <a:noFill/>
        </p:spPr>
        <p:txBody>
          <a:bodyPr wrap="square" lIns="0" rIns="0" tIns="0" bIns="0" anchor="t">
            <a:spAutoFit/>
          </a:bodyPr>
          <a:lstStyle/>
          <a:p>
            <a:pPr algn="r">
              <a:lnSpc>
                <a:spcPct val="100000"/>
              </a:lnSpc>
              <a:spcAft>
                <a:spcPts val="0"/>
              </a:spcAft>
            </a:pPr>
            <a:r>
              <a:rPr sz="840" b="0" i="0">
                <a:solidFill>
                  <a:srgbClr val="6D7B8D"/>
                </a:solidFill>
                <a:latin typeface="Arial"/>
              </a:rPr>
              <a:t>révocation</a:t>
            </a:r>
          </a:p>
        </p:txBody>
      </p:sp>
      <p:sp>
        <p:nvSpPr>
          <p:cNvPr id="29" name="Rounded Rectangle 28"/>
          <p:cNvSpPr/>
          <p:nvPr/>
        </p:nvSpPr>
        <p:spPr>
          <a:xfrm>
            <a:off x="621792" y="5870448"/>
            <a:ext cx="10927080" cy="438912"/>
          </a:xfrm>
          <a:prstGeom prst="roundRect">
            <a:avLst>
              <a:gd name="adj" fmla="val 2500"/>
            </a:avLst>
          </a:prstGeom>
          <a:solidFill>
            <a:srgbClr val="E7F3ED"/>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952744"/>
            <a:ext cx="10515600" cy="274320"/>
          </a:xfrm>
          <a:prstGeom prst="rect">
            <a:avLst/>
          </a:prstGeom>
          <a:noFill/>
        </p:spPr>
        <p:txBody>
          <a:bodyPr wrap="square" lIns="0" rIns="0" tIns="0" bIns="0" anchor="t">
            <a:spAutoFit/>
          </a:bodyPr>
          <a:lstStyle/>
          <a:p>
            <a:pPr algn="l">
              <a:lnSpc>
                <a:spcPct val="100000"/>
              </a:lnSpc>
              <a:spcAft>
                <a:spcPts val="0"/>
              </a:spcAft>
            </a:pPr>
            <a:r>
              <a:rPr sz="950" b="1" i="0">
                <a:solidFill>
                  <a:srgbClr val="0B1F3A"/>
                </a:solidFill>
                <a:latin typeface="Arial"/>
              </a:rPr>
              <a:t>Mêmes données, mêmes outils : la maquette naïve échoue 8 / 8, le serveur durci échoue 0 / 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0292"/>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LIMITES</a:t>
            </a:r>
          </a:p>
        </p:txBody>
      </p:sp>
      <p:sp>
        <p:nvSpPr>
          <p:cNvPr id="5" name="TextBox 4"/>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0B1F3A"/>
                </a:solidFill>
                <a:latin typeface="Arial"/>
              </a:rPr>
              <a:t>Huit faiblesses neutralisées, des limites nommées</a:t>
            </a:r>
          </a:p>
        </p:txBody>
      </p:sp>
      <p:sp>
        <p:nvSpPr>
          <p:cNvPr id="6" name="TextBox 5"/>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TEK-UP · SSIR</a:t>
            </a:r>
          </a:p>
        </p:txBody>
      </p:sp>
      <p:sp>
        <p:nvSpPr>
          <p:cNvPr id="7" name="Rectangle 6"/>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6473952"/>
            <a:ext cx="1092708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6D7B8D"/>
                </a:solidFill>
                <a:latin typeface="Arial"/>
              </a:rPr>
              <a:t>Serveur MCP de renseignement sur les menaces</a:t>
            </a:r>
          </a:p>
        </p:txBody>
      </p:sp>
      <p:sp>
        <p:nvSpPr>
          <p:cNvPr id="10" name="TextBox 9"/>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6D7B8D"/>
                </a:solidFill>
                <a:latin typeface="Arial"/>
              </a:rPr>
              <a:t>15 / 16</a:t>
            </a:r>
          </a:p>
        </p:txBody>
      </p:sp>
      <p:sp>
        <p:nvSpPr>
          <p:cNvPr id="11" name="Rounded Rectangle 10"/>
          <p:cNvSpPr/>
          <p:nvPr/>
        </p:nvSpPr>
        <p:spPr>
          <a:xfrm>
            <a:off x="621792" y="1801368"/>
            <a:ext cx="4892040" cy="3611880"/>
          </a:xfrm>
          <a:prstGeom prst="roundRect">
            <a:avLst>
              <a:gd name="adj" fmla="val 2500"/>
            </a:avLst>
          </a:prstGeom>
          <a:solidFill>
            <a:srgbClr val="E7F3ED"/>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965960"/>
            <a:ext cx="4389120" cy="256032"/>
          </a:xfrm>
          <a:prstGeom prst="rect">
            <a:avLst/>
          </a:prstGeom>
          <a:noFill/>
        </p:spPr>
        <p:txBody>
          <a:bodyPr wrap="square" lIns="0" rIns="0" tIns="0" bIns="0" anchor="t">
            <a:spAutoFit/>
          </a:bodyPr>
          <a:lstStyle/>
          <a:p>
            <a:pPr algn="l">
              <a:lnSpc>
                <a:spcPct val="100000"/>
              </a:lnSpc>
              <a:spcAft>
                <a:spcPts val="0"/>
              </a:spcAft>
            </a:pPr>
            <a:r>
              <a:rPr sz="880" b="1" i="0">
                <a:solidFill>
                  <a:srgbClr val="2D7A5B"/>
                </a:solidFill>
                <a:latin typeface="Arial"/>
              </a:rPr>
              <a:t>CONTRÔLES COMPARÉS</a:t>
            </a:r>
          </a:p>
        </p:txBody>
      </p:sp>
      <p:sp>
        <p:nvSpPr>
          <p:cNvPr id="13" name="TextBox 12"/>
          <p:cNvSpPr txBox="1"/>
          <p:nvPr/>
        </p:nvSpPr>
        <p:spPr>
          <a:xfrm>
            <a:off x="850392" y="2304288"/>
            <a:ext cx="1828800" cy="914400"/>
          </a:xfrm>
          <a:prstGeom prst="rect">
            <a:avLst/>
          </a:prstGeom>
          <a:noFill/>
        </p:spPr>
        <p:txBody>
          <a:bodyPr wrap="square" lIns="0" rIns="0" tIns="0" bIns="0" anchor="t">
            <a:spAutoFit/>
          </a:bodyPr>
          <a:lstStyle/>
          <a:p>
            <a:pPr algn="l">
              <a:lnSpc>
                <a:spcPct val="100000"/>
              </a:lnSpc>
              <a:spcAft>
                <a:spcPts val="0"/>
              </a:spcAft>
            </a:pPr>
            <a:r>
              <a:rPr sz="5300" b="1" i="0">
                <a:solidFill>
                  <a:srgbClr val="2D7A5B"/>
                </a:solidFill>
                <a:latin typeface="Arial"/>
              </a:rPr>
              <a:t>8 → 0</a:t>
            </a:r>
          </a:p>
        </p:txBody>
      </p:sp>
      <p:sp>
        <p:nvSpPr>
          <p:cNvPr id="14" name="TextBox 13"/>
          <p:cNvSpPr txBox="1"/>
          <p:nvPr/>
        </p:nvSpPr>
        <p:spPr>
          <a:xfrm>
            <a:off x="2953512" y="2642616"/>
            <a:ext cx="2194560" cy="502920"/>
          </a:xfrm>
          <a:prstGeom prst="rect">
            <a:avLst/>
          </a:prstGeom>
          <a:noFill/>
        </p:spPr>
        <p:txBody>
          <a:bodyPr wrap="square" lIns="0" rIns="0" tIns="0" bIns="0" anchor="t">
            <a:spAutoFit/>
          </a:bodyPr>
          <a:lstStyle/>
          <a:p>
            <a:pPr algn="l">
              <a:lnSpc>
                <a:spcPct val="100000"/>
              </a:lnSpc>
              <a:spcAft>
                <a:spcPts val="0"/>
              </a:spcAft>
            </a:pPr>
            <a:r>
              <a:rPr sz="1300" b="1" i="0">
                <a:solidFill>
                  <a:srgbClr val="0B1F3A"/>
                </a:solidFill>
                <a:latin typeface="Arial"/>
              </a:rPr>
              <a:t>faiblesses</a:t>
            </a:r>
          </a:p>
          <a:p>
            <a:pPr algn="l">
              <a:lnSpc>
                <a:spcPct val="100000"/>
              </a:lnSpc>
              <a:spcAft>
                <a:spcPts val="0"/>
              </a:spcAft>
            </a:pPr>
            <a:r>
              <a:rPr sz="1300" b="1" i="0">
                <a:solidFill>
                  <a:srgbClr val="0B1F3A"/>
                </a:solidFill>
                <a:latin typeface="Arial"/>
              </a:rPr>
              <a:t>sur 8</a:t>
            </a:r>
          </a:p>
        </p:txBody>
      </p:sp>
      <p:sp>
        <p:nvSpPr>
          <p:cNvPr id="15" name="TextBox 14"/>
          <p:cNvSpPr txBox="1"/>
          <p:nvPr/>
        </p:nvSpPr>
        <p:spPr>
          <a:xfrm>
            <a:off x="877824" y="3493008"/>
            <a:ext cx="4389120" cy="502920"/>
          </a:xfrm>
          <a:prstGeom prst="rect">
            <a:avLst/>
          </a:prstGeom>
          <a:noFill/>
        </p:spPr>
        <p:txBody>
          <a:bodyPr wrap="square" lIns="0" rIns="0" tIns="0" bIns="0" anchor="t">
            <a:spAutoFit/>
          </a:bodyPr>
          <a:lstStyle/>
          <a:p>
            <a:pPr algn="l">
              <a:lnSpc>
                <a:spcPct val="110000"/>
              </a:lnSpc>
              <a:spcAft>
                <a:spcPts val="0"/>
              </a:spcAft>
            </a:pPr>
            <a:r>
              <a:rPr sz="980" b="0" i="0">
                <a:solidFill>
                  <a:srgbClr val="18263A"/>
                </a:solidFill>
                <a:latin typeface="Arial"/>
              </a:rPr>
              <a:t>Canari, source, injection, validation, séparation, journal, révocation, débit.</a:t>
            </a:r>
          </a:p>
        </p:txBody>
      </p:sp>
      <p:sp>
        <p:nvSpPr>
          <p:cNvPr id="16" name="TextBox 15"/>
          <p:cNvSpPr txBox="1"/>
          <p:nvPr/>
        </p:nvSpPr>
        <p:spPr>
          <a:xfrm>
            <a:off x="877824" y="4224528"/>
            <a:ext cx="4389120" cy="731520"/>
          </a:xfrm>
          <a:prstGeom prst="rect">
            <a:avLst/>
          </a:prstGeom>
          <a:noFill/>
        </p:spPr>
        <p:txBody>
          <a:bodyPr wrap="square" lIns="0" rIns="0" tIns="0" bIns="0" anchor="t">
            <a:spAutoFit/>
          </a:bodyPr>
          <a:lstStyle/>
          <a:p>
            <a:pPr algn="l">
              <a:lnSpc>
                <a:spcPct val="108000"/>
              </a:lnSpc>
              <a:spcAft>
                <a:spcPts val="0"/>
              </a:spcAft>
            </a:pPr>
            <a:r>
              <a:rPr sz="950" b="0" i="1">
                <a:solidFill>
                  <a:srgbClr val="6D7B8D"/>
                </a:solidFill>
                <a:latin typeface="Arial"/>
              </a:rPr>
              <a:t>La maquette naïve expose tout ; le serveur durci refuse, masque ou neutralise.</a:t>
            </a:r>
          </a:p>
        </p:txBody>
      </p:sp>
      <p:sp>
        <p:nvSpPr>
          <p:cNvPr id="17" name="Rounded Rectangle 16"/>
          <p:cNvSpPr/>
          <p:nvPr/>
        </p:nvSpPr>
        <p:spPr>
          <a:xfrm>
            <a:off x="5897880" y="1801368"/>
            <a:ext cx="5669280" cy="3611880"/>
          </a:xfrm>
          <a:prstGeom prst="roundRect">
            <a:avLst>
              <a:gd name="adj" fmla="val 2500"/>
            </a:avLst>
          </a:prstGeom>
          <a:solidFill>
            <a:srgbClr val="F2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1965960"/>
            <a:ext cx="5212080" cy="256032"/>
          </a:xfrm>
          <a:prstGeom prst="rect">
            <a:avLst/>
          </a:prstGeom>
          <a:noFill/>
        </p:spPr>
        <p:txBody>
          <a:bodyPr wrap="square" lIns="0" rIns="0" tIns="0" bIns="0" anchor="t">
            <a:spAutoFit/>
          </a:bodyPr>
          <a:lstStyle/>
          <a:p>
            <a:pPr algn="l">
              <a:lnSpc>
                <a:spcPct val="100000"/>
              </a:lnSpc>
              <a:spcAft>
                <a:spcPts val="0"/>
              </a:spcAft>
            </a:pPr>
            <a:r>
              <a:rPr sz="880" b="1" i="0">
                <a:solidFill>
                  <a:srgbClr val="A63B3B"/>
                </a:solidFill>
                <a:latin typeface="Arial"/>
              </a:rPr>
              <a:t>CE QUI N'EST PAS TESTÉ</a:t>
            </a:r>
          </a:p>
        </p:txBody>
      </p:sp>
      <p:sp>
        <p:nvSpPr>
          <p:cNvPr id="19" name="TextBox 18"/>
          <p:cNvSpPr txBox="1"/>
          <p:nvPr/>
        </p:nvSpPr>
        <p:spPr>
          <a:xfrm>
            <a:off x="6108192" y="2350008"/>
            <a:ext cx="3383280" cy="228600"/>
          </a:xfrm>
          <a:prstGeom prst="rect">
            <a:avLst/>
          </a:prstGeom>
          <a:noFill/>
        </p:spPr>
        <p:txBody>
          <a:bodyPr wrap="square" lIns="0" rIns="0" tIns="0" bIns="0" anchor="t">
            <a:spAutoFit/>
          </a:bodyPr>
          <a:lstStyle/>
          <a:p>
            <a:pPr algn="l">
              <a:lnSpc>
                <a:spcPct val="100000"/>
              </a:lnSpc>
              <a:spcAft>
                <a:spcPts val="0"/>
              </a:spcAft>
            </a:pPr>
            <a:r>
              <a:rPr sz="1019" b="1" i="0">
                <a:solidFill>
                  <a:srgbClr val="18263A"/>
                </a:solidFill>
                <a:latin typeface="Arial"/>
              </a:rPr>
              <a:t>Isolation réseau</a:t>
            </a:r>
          </a:p>
        </p:txBody>
      </p:sp>
      <p:sp>
        <p:nvSpPr>
          <p:cNvPr id="20" name="Rounded Rectangle 19"/>
          <p:cNvSpPr/>
          <p:nvPr/>
        </p:nvSpPr>
        <p:spPr>
          <a:xfrm>
            <a:off x="9464040" y="2313432"/>
            <a:ext cx="1234440" cy="265176"/>
          </a:xfrm>
          <a:prstGeom prst="roundRect">
            <a:avLst>
              <a:gd name="adj" fmla="val 18000"/>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46336" y="2331720"/>
            <a:ext cx="1069848" cy="228599"/>
          </a:xfrm>
          <a:prstGeom prst="rect">
            <a:avLst/>
          </a:prstGeom>
          <a:noFill/>
        </p:spPr>
        <p:txBody>
          <a:bodyPr wrap="square" lIns="0" rIns="0" tIns="0" bIns="0" anchor="ctr">
            <a:spAutoFit/>
          </a:bodyPr>
          <a:lstStyle/>
          <a:p>
            <a:pPr algn="ctr">
              <a:lnSpc>
                <a:spcPct val="100000"/>
              </a:lnSpc>
              <a:spcAft>
                <a:spcPts val="0"/>
              </a:spcAft>
            </a:pPr>
            <a:r>
              <a:rPr sz="690" b="1" i="0">
                <a:solidFill>
                  <a:srgbClr val="FFFFFF"/>
                </a:solidFill>
                <a:latin typeface="Arial"/>
              </a:rPr>
              <a:t>PROPOSÉE</a:t>
            </a:r>
          </a:p>
        </p:txBody>
      </p:sp>
      <p:sp>
        <p:nvSpPr>
          <p:cNvPr id="22" name="TextBox 21"/>
          <p:cNvSpPr txBox="1"/>
          <p:nvPr/>
        </p:nvSpPr>
        <p:spPr>
          <a:xfrm>
            <a:off x="6108192" y="2898648"/>
            <a:ext cx="3383280" cy="228600"/>
          </a:xfrm>
          <a:prstGeom prst="rect">
            <a:avLst/>
          </a:prstGeom>
          <a:noFill/>
        </p:spPr>
        <p:txBody>
          <a:bodyPr wrap="square" lIns="0" rIns="0" tIns="0" bIns="0" anchor="t">
            <a:spAutoFit/>
          </a:bodyPr>
          <a:lstStyle/>
          <a:p>
            <a:pPr algn="l">
              <a:lnSpc>
                <a:spcPct val="100000"/>
              </a:lnSpc>
              <a:spcAft>
                <a:spcPts val="0"/>
              </a:spcAft>
            </a:pPr>
            <a:r>
              <a:rPr sz="1019" b="1" i="0">
                <a:solidFill>
                  <a:srgbClr val="18263A"/>
                </a:solidFill>
                <a:latin typeface="Arial"/>
              </a:rPr>
              <a:t>Agent EDR réel</a:t>
            </a:r>
          </a:p>
        </p:txBody>
      </p:sp>
      <p:sp>
        <p:nvSpPr>
          <p:cNvPr id="23" name="Rounded Rectangle 22"/>
          <p:cNvSpPr/>
          <p:nvPr/>
        </p:nvSpPr>
        <p:spPr>
          <a:xfrm>
            <a:off x="9464040" y="2862072"/>
            <a:ext cx="1234440" cy="265176"/>
          </a:xfrm>
          <a:prstGeom prst="roundRect">
            <a:avLst>
              <a:gd name="adj" fmla="val 18000"/>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46336" y="2880360"/>
            <a:ext cx="1069848" cy="228599"/>
          </a:xfrm>
          <a:prstGeom prst="rect">
            <a:avLst/>
          </a:prstGeom>
          <a:noFill/>
        </p:spPr>
        <p:txBody>
          <a:bodyPr wrap="square" lIns="0" rIns="0" tIns="0" bIns="0" anchor="ctr">
            <a:spAutoFit/>
          </a:bodyPr>
          <a:lstStyle/>
          <a:p>
            <a:pPr algn="ctr">
              <a:lnSpc>
                <a:spcPct val="100000"/>
              </a:lnSpc>
              <a:spcAft>
                <a:spcPts val="0"/>
              </a:spcAft>
            </a:pPr>
            <a:r>
              <a:rPr sz="690" b="1" i="0">
                <a:solidFill>
                  <a:srgbClr val="FFFFFF"/>
                </a:solidFill>
                <a:latin typeface="Arial"/>
              </a:rPr>
              <a:t>DÉCLARATIF</a:t>
            </a:r>
          </a:p>
        </p:txBody>
      </p:sp>
      <p:sp>
        <p:nvSpPr>
          <p:cNvPr id="25" name="TextBox 24"/>
          <p:cNvSpPr txBox="1"/>
          <p:nvPr/>
        </p:nvSpPr>
        <p:spPr>
          <a:xfrm>
            <a:off x="6108192" y="3447288"/>
            <a:ext cx="3383280" cy="228600"/>
          </a:xfrm>
          <a:prstGeom prst="rect">
            <a:avLst/>
          </a:prstGeom>
          <a:noFill/>
        </p:spPr>
        <p:txBody>
          <a:bodyPr wrap="square" lIns="0" rIns="0" tIns="0" bIns="0" anchor="t">
            <a:spAutoFit/>
          </a:bodyPr>
          <a:lstStyle/>
          <a:p>
            <a:pPr algn="l">
              <a:lnSpc>
                <a:spcPct val="100000"/>
              </a:lnSpc>
              <a:spcAft>
                <a:spcPts val="0"/>
              </a:spcAft>
            </a:pPr>
            <a:r>
              <a:rPr sz="1019" b="1" i="0">
                <a:solidFill>
                  <a:srgbClr val="18263A"/>
                </a:solidFill>
                <a:latin typeface="Arial"/>
              </a:rPr>
              <a:t>Ancrage externe audit</a:t>
            </a:r>
          </a:p>
        </p:txBody>
      </p:sp>
      <p:sp>
        <p:nvSpPr>
          <p:cNvPr id="26" name="Rounded Rectangle 25"/>
          <p:cNvSpPr/>
          <p:nvPr/>
        </p:nvSpPr>
        <p:spPr>
          <a:xfrm>
            <a:off x="9464040" y="3410712"/>
            <a:ext cx="1234440" cy="265176"/>
          </a:xfrm>
          <a:prstGeom prst="roundRect">
            <a:avLst>
              <a:gd name="adj" fmla="val 18000"/>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46336" y="3429000"/>
            <a:ext cx="1069848" cy="228599"/>
          </a:xfrm>
          <a:prstGeom prst="rect">
            <a:avLst/>
          </a:prstGeom>
          <a:noFill/>
        </p:spPr>
        <p:txBody>
          <a:bodyPr wrap="square" lIns="0" rIns="0" tIns="0" bIns="0" anchor="ctr">
            <a:spAutoFit/>
          </a:bodyPr>
          <a:lstStyle/>
          <a:p>
            <a:pPr algn="ctr">
              <a:lnSpc>
                <a:spcPct val="100000"/>
              </a:lnSpc>
              <a:spcAft>
                <a:spcPts val="0"/>
              </a:spcAft>
            </a:pPr>
            <a:r>
              <a:rPr sz="690" b="1" i="0">
                <a:solidFill>
                  <a:srgbClr val="FFFFFF"/>
                </a:solidFill>
                <a:latin typeface="Arial"/>
              </a:rPr>
              <a:t>ABSENT</a:t>
            </a:r>
          </a:p>
        </p:txBody>
      </p:sp>
      <p:sp>
        <p:nvSpPr>
          <p:cNvPr id="28" name="TextBox 27"/>
          <p:cNvSpPr txBox="1"/>
          <p:nvPr/>
        </p:nvSpPr>
        <p:spPr>
          <a:xfrm>
            <a:off x="6108192" y="3995928"/>
            <a:ext cx="3383280" cy="228600"/>
          </a:xfrm>
          <a:prstGeom prst="rect">
            <a:avLst/>
          </a:prstGeom>
          <a:noFill/>
        </p:spPr>
        <p:txBody>
          <a:bodyPr wrap="square" lIns="0" rIns="0" tIns="0" bIns="0" anchor="t">
            <a:spAutoFit/>
          </a:bodyPr>
          <a:lstStyle/>
          <a:p>
            <a:pPr algn="l">
              <a:lnSpc>
                <a:spcPct val="100000"/>
              </a:lnSpc>
              <a:spcAft>
                <a:spcPts val="0"/>
              </a:spcAft>
            </a:pPr>
            <a:r>
              <a:rPr sz="1019" b="1" i="0">
                <a:solidFill>
                  <a:srgbClr val="18263A"/>
                </a:solidFill>
                <a:latin typeface="Arial"/>
              </a:rPr>
              <a:t>HTTP · OAuth 2.1 · mTLS</a:t>
            </a:r>
          </a:p>
        </p:txBody>
      </p:sp>
      <p:sp>
        <p:nvSpPr>
          <p:cNvPr id="29" name="Rounded Rectangle 28"/>
          <p:cNvSpPr/>
          <p:nvPr/>
        </p:nvSpPr>
        <p:spPr>
          <a:xfrm>
            <a:off x="9464040" y="3959352"/>
            <a:ext cx="1234440" cy="265176"/>
          </a:xfrm>
          <a:prstGeom prst="roundRect">
            <a:avLst>
              <a:gd name="adj" fmla="val 18000"/>
            </a:avLst>
          </a:prstGeom>
          <a:solidFill>
            <a:srgbClr val="A6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46336" y="3977639"/>
            <a:ext cx="1069848" cy="228599"/>
          </a:xfrm>
          <a:prstGeom prst="rect">
            <a:avLst/>
          </a:prstGeom>
          <a:noFill/>
        </p:spPr>
        <p:txBody>
          <a:bodyPr wrap="square" lIns="0" rIns="0" tIns="0" bIns="0" anchor="ctr">
            <a:spAutoFit/>
          </a:bodyPr>
          <a:lstStyle/>
          <a:p>
            <a:pPr algn="ctr">
              <a:lnSpc>
                <a:spcPct val="100000"/>
              </a:lnSpc>
              <a:spcAft>
                <a:spcPts val="0"/>
              </a:spcAft>
            </a:pPr>
            <a:r>
              <a:rPr sz="690" b="1" i="0">
                <a:solidFill>
                  <a:srgbClr val="FFFFFF"/>
                </a:solidFill>
                <a:latin typeface="Arial"/>
              </a:rPr>
              <a:t>NON TESTÉ</a:t>
            </a:r>
          </a:p>
        </p:txBody>
      </p:sp>
      <p:sp>
        <p:nvSpPr>
          <p:cNvPr id="31" name="TextBox 30"/>
          <p:cNvSpPr txBox="1"/>
          <p:nvPr/>
        </p:nvSpPr>
        <p:spPr>
          <a:xfrm>
            <a:off x="6108192" y="4544568"/>
            <a:ext cx="3383280" cy="228600"/>
          </a:xfrm>
          <a:prstGeom prst="rect">
            <a:avLst/>
          </a:prstGeom>
          <a:noFill/>
        </p:spPr>
        <p:txBody>
          <a:bodyPr wrap="square" lIns="0" rIns="0" tIns="0" bIns="0" anchor="t">
            <a:spAutoFit/>
          </a:bodyPr>
          <a:lstStyle/>
          <a:p>
            <a:pPr algn="l">
              <a:lnSpc>
                <a:spcPct val="100000"/>
              </a:lnSpc>
              <a:spcAft>
                <a:spcPts val="0"/>
              </a:spcAft>
            </a:pPr>
            <a:r>
              <a:rPr sz="1019" b="1" i="0">
                <a:solidFill>
                  <a:srgbClr val="18263A"/>
                </a:solidFill>
                <a:latin typeface="Arial"/>
              </a:rPr>
              <a:t>Charge réelle</a:t>
            </a:r>
          </a:p>
        </p:txBody>
      </p:sp>
      <p:sp>
        <p:nvSpPr>
          <p:cNvPr id="32" name="Rounded Rectangle 31"/>
          <p:cNvSpPr/>
          <p:nvPr/>
        </p:nvSpPr>
        <p:spPr>
          <a:xfrm>
            <a:off x="9464040" y="4507992"/>
            <a:ext cx="1234440" cy="265176"/>
          </a:xfrm>
          <a:prstGeom prst="roundRect">
            <a:avLst>
              <a:gd name="adj" fmla="val 18000"/>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46336" y="4526279"/>
            <a:ext cx="1069848" cy="228599"/>
          </a:xfrm>
          <a:prstGeom prst="rect">
            <a:avLst/>
          </a:prstGeom>
          <a:noFill/>
        </p:spPr>
        <p:txBody>
          <a:bodyPr wrap="square" lIns="0" rIns="0" tIns="0" bIns="0" anchor="ctr">
            <a:spAutoFit/>
          </a:bodyPr>
          <a:lstStyle/>
          <a:p>
            <a:pPr algn="ctr">
              <a:lnSpc>
                <a:spcPct val="100000"/>
              </a:lnSpc>
              <a:spcAft>
                <a:spcPts val="0"/>
              </a:spcAft>
            </a:pPr>
            <a:r>
              <a:rPr sz="690" b="1" i="0">
                <a:solidFill>
                  <a:srgbClr val="FFFFFF"/>
                </a:solidFill>
                <a:latin typeface="Arial"/>
              </a:rPr>
              <a:t>NON TESTÉE</a:t>
            </a:r>
          </a:p>
        </p:txBody>
      </p:sp>
      <p:sp>
        <p:nvSpPr>
          <p:cNvPr id="34" name="Rounded Rectangle 33"/>
          <p:cNvSpPr/>
          <p:nvPr/>
        </p:nvSpPr>
        <p:spPr>
          <a:xfrm>
            <a:off x="621792" y="5596128"/>
            <a:ext cx="10927080" cy="502920"/>
          </a:xfrm>
          <a:prstGeom prst="roundRect">
            <a:avLst>
              <a:gd name="adj" fmla="val 2500"/>
            </a:avLst>
          </a:prstGeom>
          <a:solidFill>
            <a:srgbClr val="F7F1E3"/>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87568"/>
            <a:ext cx="10515600" cy="310896"/>
          </a:xfrm>
          <a:prstGeom prst="rect">
            <a:avLst/>
          </a:prstGeom>
          <a:noFill/>
        </p:spPr>
        <p:txBody>
          <a:bodyPr wrap="square" lIns="0" rIns="0" tIns="0" bIns="0" anchor="t">
            <a:spAutoFit/>
          </a:bodyPr>
          <a:lstStyle/>
          <a:p>
            <a:pPr algn="l">
              <a:lnSpc>
                <a:spcPct val="100000"/>
              </a:lnSpc>
              <a:spcAft>
                <a:spcPts val="0"/>
              </a:spcAft>
            </a:pPr>
            <a:r>
              <a:rPr sz="1019" b="1" i="0">
                <a:solidFill>
                  <a:srgbClr val="0B1F3A"/>
                </a:solidFill>
                <a:latin typeface="Arial"/>
              </a:rPr>
              <a:t>Une limite nommée n'est pas un échec caché : c'est un travail futur priorisé.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347472"/>
            <a:ext cx="9784080" cy="274320"/>
          </a:xfrm>
          <a:prstGeom prst="rect">
            <a:avLst/>
          </a:prstGeom>
          <a:noFill/>
        </p:spPr>
        <p:txBody>
          <a:bodyPr wrap="square" lIns="0" rIns="0" tIns="0" bIns="0" anchor="t">
            <a:spAutoFit/>
          </a:bodyPr>
          <a:lstStyle/>
          <a:p>
            <a:pPr algn="l">
              <a:lnSpc>
                <a:spcPct val="100000"/>
              </a:lnSpc>
              <a:spcAft>
                <a:spcPts val="0"/>
              </a:spcAft>
            </a:pPr>
            <a:r>
              <a:rPr sz="1000" b="1" i="0">
                <a:solidFill>
                  <a:srgbClr val="B8934E"/>
                </a:solidFill>
                <a:latin typeface="Arial"/>
              </a:rPr>
              <a:t>CONCLUSION</a:t>
            </a:r>
          </a:p>
        </p:txBody>
      </p:sp>
      <p:sp>
        <p:nvSpPr>
          <p:cNvPr id="4" name="TextBox 3"/>
          <p:cNvSpPr txBox="1"/>
          <p:nvPr/>
        </p:nvSpPr>
        <p:spPr>
          <a:xfrm>
            <a:off x="621792" y="640080"/>
            <a:ext cx="10698480" cy="868680"/>
          </a:xfrm>
          <a:prstGeom prst="rect">
            <a:avLst/>
          </a:prstGeom>
          <a:noFill/>
        </p:spPr>
        <p:txBody>
          <a:bodyPr wrap="square" lIns="0" rIns="0" tIns="0" bIns="0" anchor="t">
            <a:spAutoFit/>
          </a:bodyPr>
          <a:lstStyle/>
          <a:p>
            <a:pPr algn="l">
              <a:lnSpc>
                <a:spcPct val="102000"/>
              </a:lnSpc>
              <a:spcAft>
                <a:spcPts val="0"/>
              </a:spcAft>
            </a:pPr>
            <a:r>
              <a:rPr sz="2400" b="1" i="0">
                <a:solidFill>
                  <a:srgbClr val="FFFFFF"/>
                </a:solidFill>
                <a:latin typeface="Arial"/>
              </a:rPr>
              <a:t>Une politique de secret devenue comportement observable</a:t>
            </a:r>
          </a:p>
        </p:txBody>
      </p:sp>
      <p:sp>
        <p:nvSpPr>
          <p:cNvPr id="5" name="TextBox 4"/>
          <p:cNvSpPr txBox="1"/>
          <p:nvPr/>
        </p:nvSpPr>
        <p:spPr>
          <a:xfrm>
            <a:off x="9235440" y="347472"/>
            <a:ext cx="2331720" cy="274320"/>
          </a:xfrm>
          <a:prstGeom prst="rect">
            <a:avLst/>
          </a:prstGeom>
          <a:noFill/>
        </p:spPr>
        <p:txBody>
          <a:bodyPr wrap="square" lIns="0" rIns="0" tIns="0" bIns="0" anchor="t">
            <a:spAutoFit/>
          </a:bodyPr>
          <a:lstStyle/>
          <a:p>
            <a:pPr algn="r">
              <a:lnSpc>
                <a:spcPct val="100000"/>
              </a:lnSpc>
              <a:spcAft>
                <a:spcPts val="0"/>
              </a:spcAft>
            </a:pPr>
            <a:r>
              <a:rPr sz="850" b="1" i="0">
                <a:solidFill>
                  <a:srgbClr val="B9C7D8"/>
                </a:solidFill>
                <a:latin typeface="Arial"/>
              </a:rPr>
              <a:t>TEK-UP · SSIR</a:t>
            </a:r>
          </a:p>
        </p:txBody>
      </p:sp>
      <p:sp>
        <p:nvSpPr>
          <p:cNvPr id="6" name="Rectangle 5"/>
          <p:cNvSpPr/>
          <p:nvPr/>
        </p:nvSpPr>
        <p:spPr>
          <a:xfrm>
            <a:off x="621792" y="1581912"/>
            <a:ext cx="10927080" cy="16459"/>
          </a:xfrm>
          <a:prstGeom prst="rect">
            <a:avLst/>
          </a:prstGeom>
          <a:solidFill>
            <a:srgbClr val="B893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6473952"/>
            <a:ext cx="10927080" cy="10972"/>
          </a:xfrm>
          <a:prstGeom prst="rect">
            <a:avLst/>
          </a:prstGeom>
          <a:solidFill>
            <a:srgbClr val="3B5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56248"/>
            <a:ext cx="7680960" cy="201168"/>
          </a:xfrm>
          <a:prstGeom prst="rect">
            <a:avLst/>
          </a:prstGeom>
          <a:noFill/>
        </p:spPr>
        <p:txBody>
          <a:bodyPr wrap="square" lIns="0" rIns="0" tIns="0" bIns="0" anchor="t">
            <a:spAutoFit/>
          </a:bodyPr>
          <a:lstStyle/>
          <a:p>
            <a:pPr algn="l">
              <a:lnSpc>
                <a:spcPct val="100000"/>
              </a:lnSpc>
              <a:spcAft>
                <a:spcPts val="0"/>
              </a:spcAft>
            </a:pPr>
            <a:r>
              <a:rPr sz="800" b="0" i="0">
                <a:solidFill>
                  <a:srgbClr val="9FB0C4"/>
                </a:solidFill>
                <a:latin typeface="Arial"/>
              </a:rPr>
              <a:t>Serveur MCP de renseignement sur les menaces</a:t>
            </a:r>
          </a:p>
        </p:txBody>
      </p:sp>
      <p:sp>
        <p:nvSpPr>
          <p:cNvPr id="9" name="TextBox 8"/>
          <p:cNvSpPr txBox="1"/>
          <p:nvPr/>
        </p:nvSpPr>
        <p:spPr>
          <a:xfrm>
            <a:off x="9601200" y="6556248"/>
            <a:ext cx="1920240" cy="201168"/>
          </a:xfrm>
          <a:prstGeom prst="rect">
            <a:avLst/>
          </a:prstGeom>
          <a:noFill/>
        </p:spPr>
        <p:txBody>
          <a:bodyPr wrap="square" lIns="0" rIns="0" tIns="0" bIns="0" anchor="t">
            <a:spAutoFit/>
          </a:bodyPr>
          <a:lstStyle/>
          <a:p>
            <a:pPr algn="r">
              <a:lnSpc>
                <a:spcPct val="100000"/>
              </a:lnSpc>
              <a:spcAft>
                <a:spcPts val="0"/>
              </a:spcAft>
            </a:pPr>
            <a:r>
              <a:rPr sz="850" b="1" i="0">
                <a:solidFill>
                  <a:srgbClr val="9FB0C4"/>
                </a:solidFill>
                <a:latin typeface="Arial"/>
              </a:rPr>
              <a:t>16 / 16</a:t>
            </a:r>
          </a:p>
        </p:txBody>
      </p:sp>
      <p:sp>
        <p:nvSpPr>
          <p:cNvPr id="10" name="TextBox 9"/>
          <p:cNvSpPr txBox="1"/>
          <p:nvPr/>
        </p:nvSpPr>
        <p:spPr>
          <a:xfrm>
            <a:off x="621792" y="1783080"/>
            <a:ext cx="10881360" cy="320040"/>
          </a:xfrm>
          <a:prstGeom prst="rect">
            <a:avLst/>
          </a:prstGeom>
          <a:noFill/>
        </p:spPr>
        <p:txBody>
          <a:bodyPr wrap="square" lIns="0" rIns="0" tIns="0" bIns="0" anchor="t">
            <a:spAutoFit/>
          </a:bodyPr>
          <a:lstStyle/>
          <a:p>
            <a:pPr algn="l">
              <a:lnSpc>
                <a:spcPct val="100000"/>
              </a:lnSpc>
              <a:spcAft>
                <a:spcPts val="0"/>
              </a:spcAft>
            </a:pPr>
            <a:r>
              <a:rPr sz="950" b="1" i="0">
                <a:solidFill>
                  <a:srgbClr val="B8934E"/>
                </a:solidFill>
                <a:latin typeface="Arial"/>
              </a:rPr>
              <a:t>LA THÈSE, EN UNE PHRASE</a:t>
            </a:r>
          </a:p>
        </p:txBody>
      </p:sp>
      <p:sp>
        <p:nvSpPr>
          <p:cNvPr id="11" name="TextBox 10"/>
          <p:cNvSpPr txBox="1"/>
          <p:nvPr/>
        </p:nvSpPr>
        <p:spPr>
          <a:xfrm>
            <a:off x="621792" y="2176272"/>
            <a:ext cx="10789920" cy="1234440"/>
          </a:xfrm>
          <a:prstGeom prst="rect">
            <a:avLst/>
          </a:prstGeom>
          <a:noFill/>
        </p:spPr>
        <p:txBody>
          <a:bodyPr wrap="square" lIns="0" rIns="0" tIns="0" bIns="0" anchor="t">
            <a:spAutoFit/>
          </a:bodyPr>
          <a:lstStyle/>
          <a:p>
            <a:pPr algn="l">
              <a:lnSpc>
                <a:spcPct val="108000"/>
              </a:lnSpc>
              <a:spcAft>
                <a:spcPts val="0"/>
              </a:spcAft>
            </a:pPr>
            <a:r>
              <a:rPr sz="2600" b="1" i="0">
                <a:solidFill>
                  <a:srgbClr val="FFFFFF"/>
                </a:solidFill>
                <a:latin typeface="Arial"/>
              </a:rPr>
              <a:t>Un serveur MCP peut rester simple, local et honnête</a:t>
            </a:r>
          </a:p>
          <a:p>
            <a:pPr algn="l">
              <a:lnSpc>
                <a:spcPct val="108000"/>
              </a:lnSpc>
              <a:spcAft>
                <a:spcPts val="0"/>
              </a:spcAft>
            </a:pPr>
            <a:r>
              <a:rPr sz="2600" b="1" i="0">
                <a:solidFill>
                  <a:srgbClr val="FFFFFF"/>
                </a:solidFill>
                <a:latin typeface="Arial"/>
              </a:rPr>
              <a:t>en rendant la protection du secret démontrable.</a:t>
            </a:r>
          </a:p>
        </p:txBody>
      </p:sp>
      <p:sp>
        <p:nvSpPr>
          <p:cNvPr id="12" name="Rounded Rectangle 11"/>
          <p:cNvSpPr/>
          <p:nvPr/>
        </p:nvSpPr>
        <p:spPr>
          <a:xfrm>
            <a:off x="621792" y="3767328"/>
            <a:ext cx="3429000" cy="1417320"/>
          </a:xfrm>
          <a:prstGeom prst="roundRect">
            <a:avLst>
              <a:gd name="adj" fmla="val 2500"/>
            </a:avLst>
          </a:prstGeom>
          <a:solidFill>
            <a:srgbClr val="122A4A"/>
          </a:solidFill>
          <a:ln w="10160">
            <a:solidFill>
              <a:srgbClr val="B893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3913632"/>
            <a:ext cx="3017520" cy="274320"/>
          </a:xfrm>
          <a:prstGeom prst="rect">
            <a:avLst/>
          </a:prstGeom>
          <a:noFill/>
        </p:spPr>
        <p:txBody>
          <a:bodyPr wrap="square" lIns="0" rIns="0" tIns="0" bIns="0" anchor="t">
            <a:spAutoFit/>
          </a:bodyPr>
          <a:lstStyle/>
          <a:p>
            <a:pPr algn="l">
              <a:lnSpc>
                <a:spcPct val="100000"/>
              </a:lnSpc>
              <a:spcAft>
                <a:spcPts val="0"/>
              </a:spcAft>
            </a:pPr>
            <a:r>
              <a:rPr sz="950" b="1" i="0">
                <a:solidFill>
                  <a:srgbClr val="B8934E"/>
                </a:solidFill>
                <a:latin typeface="Arial"/>
              </a:rPr>
              <a:t>DÉCIDER</a:t>
            </a:r>
          </a:p>
        </p:txBody>
      </p:sp>
      <p:sp>
        <p:nvSpPr>
          <p:cNvPr id="14" name="TextBox 13"/>
          <p:cNvSpPr txBox="1"/>
          <p:nvPr/>
        </p:nvSpPr>
        <p:spPr>
          <a:xfrm>
            <a:off x="804672" y="4224528"/>
            <a:ext cx="3017520" cy="731520"/>
          </a:xfrm>
          <a:prstGeom prst="rect">
            <a:avLst/>
          </a:prstGeom>
          <a:noFill/>
        </p:spPr>
        <p:txBody>
          <a:bodyPr wrap="square" lIns="0" rIns="0" tIns="0" bIns="0" anchor="t">
            <a:spAutoFit/>
          </a:bodyPr>
          <a:lstStyle/>
          <a:p>
            <a:pPr algn="l">
              <a:lnSpc>
                <a:spcPct val="108000"/>
              </a:lnSpc>
              <a:spcAft>
                <a:spcPts val="0"/>
              </a:spcAft>
            </a:pPr>
            <a:r>
              <a:rPr sz="1019" b="0" i="0">
                <a:solidFill>
                  <a:srgbClr val="FFFFFF"/>
                </a:solidFill>
                <a:latin typeface="Arial"/>
              </a:rPr>
              <a:t>ABAC, habilitation,</a:t>
            </a:r>
          </a:p>
          <a:p>
            <a:pPr algn="l">
              <a:lnSpc>
                <a:spcPct val="108000"/>
              </a:lnSpc>
              <a:spcAft>
                <a:spcPts val="0"/>
              </a:spcAft>
            </a:pPr>
            <a:r>
              <a:rPr sz="1019" b="0" i="0">
                <a:solidFill>
                  <a:srgbClr val="FFFFFF"/>
                </a:solidFill>
                <a:latin typeface="Arial"/>
              </a:rPr>
              <a:t>compartiments</a:t>
            </a:r>
          </a:p>
        </p:txBody>
      </p:sp>
      <p:sp>
        <p:nvSpPr>
          <p:cNvPr id="15" name="Rounded Rectangle 14"/>
          <p:cNvSpPr/>
          <p:nvPr/>
        </p:nvSpPr>
        <p:spPr>
          <a:xfrm>
            <a:off x="4279392" y="3767328"/>
            <a:ext cx="3429000" cy="1417320"/>
          </a:xfrm>
          <a:prstGeom prst="roundRect">
            <a:avLst>
              <a:gd name="adj" fmla="val 2500"/>
            </a:avLst>
          </a:prstGeom>
          <a:solidFill>
            <a:srgbClr val="122A4A"/>
          </a:solidFill>
          <a:ln w="10160">
            <a:solidFill>
              <a:srgbClr val="1D5B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3913632"/>
            <a:ext cx="3017520" cy="274320"/>
          </a:xfrm>
          <a:prstGeom prst="rect">
            <a:avLst/>
          </a:prstGeom>
          <a:noFill/>
        </p:spPr>
        <p:txBody>
          <a:bodyPr wrap="square" lIns="0" rIns="0" tIns="0" bIns="0" anchor="t">
            <a:spAutoFit/>
          </a:bodyPr>
          <a:lstStyle/>
          <a:p>
            <a:pPr algn="l">
              <a:lnSpc>
                <a:spcPct val="100000"/>
              </a:lnSpc>
              <a:spcAft>
                <a:spcPts val="0"/>
              </a:spcAft>
            </a:pPr>
            <a:r>
              <a:rPr sz="950" b="1" i="0">
                <a:solidFill>
                  <a:srgbClr val="1D5B94"/>
                </a:solidFill>
                <a:latin typeface="Arial"/>
              </a:rPr>
              <a:t>ÉTIQUETER</a:t>
            </a:r>
          </a:p>
        </p:txBody>
      </p:sp>
      <p:sp>
        <p:nvSpPr>
          <p:cNvPr id="17" name="TextBox 16"/>
          <p:cNvSpPr txBox="1"/>
          <p:nvPr/>
        </p:nvSpPr>
        <p:spPr>
          <a:xfrm>
            <a:off x="4462272" y="4224528"/>
            <a:ext cx="3017520" cy="731520"/>
          </a:xfrm>
          <a:prstGeom prst="rect">
            <a:avLst/>
          </a:prstGeom>
          <a:noFill/>
        </p:spPr>
        <p:txBody>
          <a:bodyPr wrap="square" lIns="0" rIns="0" tIns="0" bIns="0" anchor="t">
            <a:spAutoFit/>
          </a:bodyPr>
          <a:lstStyle/>
          <a:p>
            <a:pPr algn="l">
              <a:lnSpc>
                <a:spcPct val="108000"/>
              </a:lnSpc>
              <a:spcAft>
                <a:spcPts val="0"/>
              </a:spcAft>
            </a:pPr>
            <a:r>
              <a:rPr sz="1019" b="0" i="0">
                <a:solidFill>
                  <a:srgbClr val="FFFFFF"/>
                </a:solidFill>
                <a:latin typeface="Arial"/>
              </a:rPr>
              <a:t>niveau, TLP, masquage,</a:t>
            </a:r>
          </a:p>
          <a:p>
            <a:pPr algn="l">
              <a:lnSpc>
                <a:spcPct val="108000"/>
              </a:lnSpc>
              <a:spcAft>
                <a:spcPts val="0"/>
              </a:spcAft>
            </a:pPr>
            <a:r>
              <a:rPr sz="1019" b="0" i="0">
                <a:solidFill>
                  <a:srgbClr val="FFFFFF"/>
                </a:solidFill>
                <a:latin typeface="Arial"/>
              </a:rPr>
              <a:t>fanions d'injection</a:t>
            </a:r>
          </a:p>
        </p:txBody>
      </p:sp>
      <p:sp>
        <p:nvSpPr>
          <p:cNvPr id="18" name="Rounded Rectangle 17"/>
          <p:cNvSpPr/>
          <p:nvPr/>
        </p:nvSpPr>
        <p:spPr>
          <a:xfrm>
            <a:off x="7936992" y="3767328"/>
            <a:ext cx="3429000" cy="1417320"/>
          </a:xfrm>
          <a:prstGeom prst="roundRect">
            <a:avLst>
              <a:gd name="adj" fmla="val 2500"/>
            </a:avLst>
          </a:prstGeom>
          <a:solidFill>
            <a:srgbClr val="122A4A"/>
          </a:solidFill>
          <a:ln w="10160">
            <a:solidFill>
              <a:srgbClr val="2D7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1" y="3913632"/>
            <a:ext cx="3017520" cy="274320"/>
          </a:xfrm>
          <a:prstGeom prst="rect">
            <a:avLst/>
          </a:prstGeom>
          <a:noFill/>
        </p:spPr>
        <p:txBody>
          <a:bodyPr wrap="square" lIns="0" rIns="0" tIns="0" bIns="0" anchor="t">
            <a:spAutoFit/>
          </a:bodyPr>
          <a:lstStyle/>
          <a:p>
            <a:pPr algn="l">
              <a:lnSpc>
                <a:spcPct val="100000"/>
              </a:lnSpc>
              <a:spcAft>
                <a:spcPts val="0"/>
              </a:spcAft>
            </a:pPr>
            <a:r>
              <a:rPr sz="950" b="1" i="0">
                <a:solidFill>
                  <a:srgbClr val="2D7A5B"/>
                </a:solidFill>
                <a:latin typeface="Arial"/>
              </a:rPr>
              <a:t>TRACER</a:t>
            </a:r>
          </a:p>
        </p:txBody>
      </p:sp>
      <p:sp>
        <p:nvSpPr>
          <p:cNvPr id="20" name="TextBox 19"/>
          <p:cNvSpPr txBox="1"/>
          <p:nvPr/>
        </p:nvSpPr>
        <p:spPr>
          <a:xfrm>
            <a:off x="8119871" y="4224528"/>
            <a:ext cx="3017520" cy="731520"/>
          </a:xfrm>
          <a:prstGeom prst="rect">
            <a:avLst/>
          </a:prstGeom>
          <a:noFill/>
        </p:spPr>
        <p:txBody>
          <a:bodyPr wrap="square" lIns="0" rIns="0" tIns="0" bIns="0" anchor="t">
            <a:spAutoFit/>
          </a:bodyPr>
          <a:lstStyle/>
          <a:p>
            <a:pPr algn="l">
              <a:lnSpc>
                <a:spcPct val="108000"/>
              </a:lnSpc>
              <a:spcAft>
                <a:spcPts val="0"/>
              </a:spcAft>
            </a:pPr>
            <a:r>
              <a:rPr sz="1019" b="0" i="0">
                <a:solidFill>
                  <a:srgbClr val="FFFFFF"/>
                </a:solidFill>
                <a:latin typeface="Arial"/>
              </a:rPr>
              <a:t>journal chaîné,</a:t>
            </a:r>
          </a:p>
          <a:p>
            <a:pPr algn="l">
              <a:lnSpc>
                <a:spcPct val="108000"/>
              </a:lnSpc>
              <a:spcAft>
                <a:spcPts val="0"/>
              </a:spcAft>
            </a:pPr>
            <a:r>
              <a:rPr sz="1019" b="0" i="0">
                <a:solidFill>
                  <a:srgbClr val="FFFFFF"/>
                </a:solidFill>
                <a:latin typeface="Arial"/>
              </a:rPr>
              <a:t>revue et révocation</a:t>
            </a:r>
          </a:p>
        </p:txBody>
      </p:sp>
      <p:sp>
        <p:nvSpPr>
          <p:cNvPr id="21" name="TextBox 20"/>
          <p:cNvSpPr txBox="1"/>
          <p:nvPr/>
        </p:nvSpPr>
        <p:spPr>
          <a:xfrm>
            <a:off x="621792" y="5486400"/>
            <a:ext cx="5303520" cy="320040"/>
          </a:xfrm>
          <a:prstGeom prst="rect">
            <a:avLst/>
          </a:prstGeom>
          <a:noFill/>
        </p:spPr>
        <p:txBody>
          <a:bodyPr wrap="square" lIns="0" rIns="0" tIns="0" bIns="0" anchor="t">
            <a:spAutoFit/>
          </a:bodyPr>
          <a:lstStyle/>
          <a:p>
            <a:pPr algn="l">
              <a:lnSpc>
                <a:spcPct val="100000"/>
              </a:lnSpc>
              <a:spcAft>
                <a:spcPts val="0"/>
              </a:spcAft>
            </a:pPr>
            <a:r>
              <a:rPr sz="1500" b="1" i="0">
                <a:solidFill>
                  <a:srgbClr val="B8934E"/>
                </a:solidFill>
                <a:latin typeface="Arial"/>
              </a:rPr>
              <a:t>31 / 31 · 16 / 16 · 12,42 ms · 8 → 0</a:t>
            </a:r>
          </a:p>
        </p:txBody>
      </p:sp>
      <p:sp>
        <p:nvSpPr>
          <p:cNvPr id="22" name="TextBox 21"/>
          <p:cNvSpPr txBox="1"/>
          <p:nvPr/>
        </p:nvSpPr>
        <p:spPr>
          <a:xfrm>
            <a:off x="7315200" y="5468112"/>
            <a:ext cx="4206240" cy="320040"/>
          </a:xfrm>
          <a:prstGeom prst="rect">
            <a:avLst/>
          </a:prstGeom>
          <a:noFill/>
        </p:spPr>
        <p:txBody>
          <a:bodyPr wrap="square" lIns="0" rIns="0" tIns="0" bIns="0" anchor="t">
            <a:spAutoFit/>
          </a:bodyPr>
          <a:lstStyle/>
          <a:p>
            <a:pPr algn="r">
              <a:lnSpc>
                <a:spcPct val="100000"/>
              </a:lnSpc>
              <a:spcAft>
                <a:spcPts val="0"/>
              </a:spcAft>
            </a:pPr>
            <a:r>
              <a:rPr sz="1200" b="0" i="0">
                <a:solidFill>
                  <a:srgbClr val="FFFFFF"/>
                </a:solidFill>
                <a:latin typeface="Arial"/>
              </a:rPr>
              <a:t>Merci — questions bienvenues.</a:t>
            </a:r>
          </a:p>
        </p:txBody>
      </p:sp>
      <p:sp>
        <p:nvSpPr>
          <p:cNvPr id="23" name="Rectangle 22"/>
          <p:cNvSpPr/>
          <p:nvPr/>
        </p:nvSpPr>
        <p:spPr>
          <a:xfrm>
            <a:off x="621792" y="5989320"/>
            <a:ext cx="10927080" cy="13716"/>
          </a:xfrm>
          <a:prstGeom prst="rect">
            <a:avLst/>
          </a:prstGeom>
          <a:solidFill>
            <a:srgbClr val="3B5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6126480"/>
            <a:ext cx="10881360" cy="256032"/>
          </a:xfrm>
          <a:prstGeom prst="rect">
            <a:avLst/>
          </a:prstGeom>
          <a:noFill/>
        </p:spPr>
        <p:txBody>
          <a:bodyPr wrap="square" lIns="0" rIns="0" tIns="0" bIns="0" anchor="t">
            <a:spAutoFit/>
          </a:bodyPr>
          <a:lstStyle/>
          <a:p>
            <a:pPr algn="l">
              <a:lnSpc>
                <a:spcPct val="100000"/>
              </a:lnSpc>
              <a:spcAft>
                <a:spcPts val="0"/>
              </a:spcAft>
            </a:pPr>
            <a:r>
              <a:rPr sz="819" b="0" i="0">
                <a:solidFill>
                  <a:srgbClr val="AFBED0"/>
                </a:solidFill>
                <a:latin typeface="Arial"/>
              </a:rPr>
              <a:t>Rapport, preuves, captures et commandes de reproduction : dossier du projet.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Serveur MCP intelligent de renseignement sur les menaces</dc:title>
  <dc:subject>Soutenance TEK-UP SSIR — Art de protection du secret &amp; Cyber OPS</dc:subject>
  <dc:creator>Mzabi Sirine · Khaled Ellif</dc:creator>
  <cp:keywords/>
  <dc:description>Deck 16:9, 16 slides, notes orales et questions jury.</dc:description>
  <cp:lastModifiedBy>Steve Canny</cp:lastModifiedBy>
  <cp:revision>1</cp:revision>
  <dcterms:created xsi:type="dcterms:W3CDTF">2013-01-27T09:14:16Z</dcterms:created>
  <dcterms:modified xsi:type="dcterms:W3CDTF">2013-01-27T09:15:58Z</dcterms:modified>
  <cp:category/>
</cp:coreProperties>
</file>